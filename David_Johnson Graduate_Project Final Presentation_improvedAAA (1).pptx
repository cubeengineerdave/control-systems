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5143500" cx="9144000"/>
  <p:notesSz cx="6858000" cy="9144000"/>
  <p:embeddedFontLst>
    <p:embeddedFont>
      <p:font typeface="Raleway"/>
      <p:regular r:id="rId68"/>
      <p:bold r:id="rId69"/>
      <p:italic r:id="rId70"/>
      <p:boldItalic r:id="rId71"/>
    </p:embeddedFont>
    <p:embeddedFont>
      <p:font typeface="Quattrocento Sans"/>
      <p:regular r:id="rId72"/>
      <p:bold r:id="rId73"/>
      <p:italic r:id="rId74"/>
      <p:boldItalic r:id="rId75"/>
    </p:embeddedFont>
    <p:embeddedFont>
      <p:font typeface="Bell MT"/>
      <p:regular r:id="rId76"/>
      <p:bold r:id="rId77"/>
      <p:italic r:id="rId78"/>
      <p:boldItalic r:id="rId79"/>
    </p:embeddedFont>
    <p:embeddedFont>
      <p:font typeface="Cambria Math"/>
      <p:regular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75">
          <p15:clr>
            <a:srgbClr val="000000"/>
          </p15:clr>
        </p15:guide>
        <p15:guide id="2" pos="2878">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81" roundtripDataSignature="AMtx7mjKHJPNaDWhjLAuIU4CgJmSIaw8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75" orient="horz"/>
        <p:guide pos="2878"/>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CambriaMath-regular.fntdata"/><Relationship Id="rId81"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QuattrocentoSans-bold.fntdata"/><Relationship Id="rId72" Type="http://schemas.openxmlformats.org/officeDocument/2006/relationships/font" Target="fonts/QuattrocentoSans-regular.fntdata"/><Relationship Id="rId31" Type="http://schemas.openxmlformats.org/officeDocument/2006/relationships/slide" Target="slides/slide26.xml"/><Relationship Id="rId75" Type="http://schemas.openxmlformats.org/officeDocument/2006/relationships/font" Target="fonts/QuattrocentoSans-boldItalic.fntdata"/><Relationship Id="rId30" Type="http://schemas.openxmlformats.org/officeDocument/2006/relationships/slide" Target="slides/slide25.xml"/><Relationship Id="rId74" Type="http://schemas.openxmlformats.org/officeDocument/2006/relationships/font" Target="fonts/QuattrocentoSans-italic.fntdata"/><Relationship Id="rId33" Type="http://schemas.openxmlformats.org/officeDocument/2006/relationships/slide" Target="slides/slide28.xml"/><Relationship Id="rId77" Type="http://schemas.openxmlformats.org/officeDocument/2006/relationships/font" Target="fonts/BellMT-bold.fntdata"/><Relationship Id="rId32" Type="http://schemas.openxmlformats.org/officeDocument/2006/relationships/slide" Target="slides/slide27.xml"/><Relationship Id="rId76" Type="http://schemas.openxmlformats.org/officeDocument/2006/relationships/font" Target="fonts/BellMT-regular.fntdata"/><Relationship Id="rId35" Type="http://schemas.openxmlformats.org/officeDocument/2006/relationships/slide" Target="slides/slide30.xml"/><Relationship Id="rId79" Type="http://schemas.openxmlformats.org/officeDocument/2006/relationships/font" Target="fonts/BellMT-boldItalic.fntdata"/><Relationship Id="rId34" Type="http://schemas.openxmlformats.org/officeDocument/2006/relationships/slide" Target="slides/slide29.xml"/><Relationship Id="rId78" Type="http://schemas.openxmlformats.org/officeDocument/2006/relationships/font" Target="fonts/BellMT-italic.fntdata"/><Relationship Id="rId71" Type="http://schemas.openxmlformats.org/officeDocument/2006/relationships/font" Target="fonts/Raleway-boldItalic.fntdata"/><Relationship Id="rId70" Type="http://schemas.openxmlformats.org/officeDocument/2006/relationships/font" Target="fonts/Raleway-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Raleway-regular.fntdata"/><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aleway-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5" name="Google Shape;105;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250f1d3c68_1_1: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6" name="Google Shape;116;g1250f1d3c68_1_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g1250f1d3c68_1_1: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6" name="Google Shape;126;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3: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4" name="Google Shape;134;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1: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250f1d3c68_1_22: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2" name="Google Shape;142;g1250f1d3c68_1_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g1250f1d3c68_1_2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5: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59" name="Google Shape;159;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6: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250f1d3c68_1_104: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9" name="Google Shape;169;g1250f1d3c68_1_1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g1250f1d3c68_1_104: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dcbb773cbe_1_3: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2" name="Google Shape;182;g3dcbb773cbe_1_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g3dcbb773cbe_1_3: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d333a04153_0_4:notes"/>
          <p:cNvSpPr/>
          <p:nvPr>
            <p:ph idx="2" type="sldImg"/>
          </p:nvPr>
        </p:nvSpPr>
        <p:spPr>
          <a:xfrm>
            <a:off x="382587"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2" name="Google Shape;192;g3d333a04153_0_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3" name="Google Shape;193;g3d333a04153_0_4: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333a04153_0_37:notes"/>
          <p:cNvSpPr/>
          <p:nvPr>
            <p:ph idx="2" type="sldImg"/>
          </p:nvPr>
        </p:nvSpPr>
        <p:spPr>
          <a:xfrm>
            <a:off x="382587"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02" name="Google Shape;202;g3d333a04153_0_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g3d333a04153_0_37: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250f1d3c68_1_34: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1" name="Google Shape;211;g1250f1d3c68_1_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There is no Controller as of yet!</a:t>
            </a:r>
            <a:endParaRPr/>
          </a:p>
        </p:txBody>
      </p:sp>
      <p:sp>
        <p:nvSpPr>
          <p:cNvPr id="212" name="Google Shape;212;g1250f1d3c68_1_34: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d333a04153_0_20: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4" name="Google Shape;224;g3d333a04153_0_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g3d333a04153_0_20: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8: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2" name="Google Shape;23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p8: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250f1d3c68_1_57: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2" name="Google Shape;242;g1250f1d3c68_1_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energy‑balance model is “better” because it contains the actual physics of heat transfer, while the FOPDT model is only a behavioral approximation fitted to one specific step test.</a:t>
            </a:r>
            <a:endParaRPr/>
          </a:p>
        </p:txBody>
      </p:sp>
      <p:sp>
        <p:nvSpPr>
          <p:cNvPr id="243" name="Google Shape;243;g1250f1d3c68_1_57: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7: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1" name="Google Shape;251;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7: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d333a04153_0_27:notes"/>
          <p:cNvSpPr/>
          <p:nvPr>
            <p:ph idx="2" type="sldImg"/>
          </p:nvPr>
        </p:nvSpPr>
        <p:spPr>
          <a:xfrm>
            <a:off x="382587"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0" name="Google Shape;260;g3d333a04153_0_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Once the open‑loop model is identified, we use it to design and tune the PID controller. The open‑loop parameters determine how aggressively the controller can act without destabilizing the system.</a:t>
            </a:r>
            <a:endParaRPr/>
          </a:p>
        </p:txBody>
      </p:sp>
      <p:sp>
        <p:nvSpPr>
          <p:cNvPr id="261" name="Google Shape;261;g3d333a04153_0_27: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 name="Google Shape;268;p9: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10: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d333a04153_0_58:notes"/>
          <p:cNvSpPr/>
          <p:nvPr>
            <p:ph idx="2" type="sldImg"/>
          </p:nvPr>
        </p:nvSpPr>
        <p:spPr>
          <a:xfrm>
            <a:off x="382587"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4" name="Google Shape;284;g3d333a04153_0_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 name="Google Shape;285;g3d333a04153_0_58: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p11: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p21: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d333a04153_0_68: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3" name="Google Shape;313;g3d333a04153_0_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 name="Google Shape;314;g3d333a04153_0_68: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23: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p24: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2" name="Google Shape;342;p25: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0" name="Google Shape;350;p26: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27: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4: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7" name="Google Shape;377;p28: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29: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0: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6" name="Google Shape;396;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7" name="Google Shape;397;p30: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 name="Google Shape;404;p31: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2: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17" name="Google Shape;417;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p3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33: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8" name="Google Shape;438;p34: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4" name="Google Shape;444;p35: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p58: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3" name="Google Shape;463;p36: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p59: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37: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81" name="Google Shape;481;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“Once the pendulum is near upright, a logical condition enables the balance controller, which uses state feedback to keep it balanced.”</a:t>
            </a:r>
            <a:endParaRPr/>
          </a:p>
        </p:txBody>
      </p:sp>
      <p:sp>
        <p:nvSpPr>
          <p:cNvPr id="482" name="Google Shape;482;p37: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38: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2" name="Google Shape;502;p60: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3" name="Google Shape;513;p40: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9" name="Google Shape;519;p41: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42: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43: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34" name="Google Shape;534;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5" name="Google Shape;535;p43: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22:notes"/>
          <p:cNvSpPr/>
          <p:nvPr>
            <p:ph idx="2" type="sldImg"/>
          </p:nvPr>
        </p:nvSpPr>
        <p:spPr>
          <a:xfrm>
            <a:off x="382588"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41" name="Google Shape;541;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2" name="Google Shape;542;p2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9" name="Google Shape;549;p44: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5" name="Google Shape;555;p45: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46: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7" name="Google Shape;567;p47: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3" name="Google Shape;573;p48: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9" name="Google Shape;579;p49: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50: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2" name="Google Shape;592;p51: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9" name="Google Shape;599;p52: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53: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3" name="Google Shape;613;p54: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5" name="Google Shape;625;p55: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2" name="Google Shape;632;p56: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8" name="Google Shape;638;p57:notes"/>
          <p:cNvSpPr/>
          <p:nvPr>
            <p:ph idx="2" type="sldImg"/>
          </p:nvPr>
        </p:nvSpPr>
        <p:spPr>
          <a:xfrm>
            <a:off x="382587" y="685800"/>
            <a:ext cx="6094412"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A50000"/>
        </a:solidFill>
      </p:bgPr>
    </p:bg>
    <p:spTree>
      <p:nvGrpSpPr>
        <p:cNvPr id="13" name="Shape 13"/>
        <p:cNvGrpSpPr/>
        <p:nvPr/>
      </p:nvGrpSpPr>
      <p:grpSpPr>
        <a:xfrm>
          <a:off x="0" y="0"/>
          <a:ext cx="0" cy="0"/>
          <a:chOff x="0" y="0"/>
          <a:chExt cx="0" cy="0"/>
        </a:xfrm>
      </p:grpSpPr>
      <p:grpSp>
        <p:nvGrpSpPr>
          <p:cNvPr id="14" name="Google Shape;14;p13"/>
          <p:cNvGrpSpPr/>
          <p:nvPr/>
        </p:nvGrpSpPr>
        <p:grpSpPr>
          <a:xfrm>
            <a:off x="6098378" y="-10925"/>
            <a:ext cx="3045633" cy="2041500"/>
            <a:chOff x="6098378" y="-10925"/>
            <a:chExt cx="3045633" cy="2041500"/>
          </a:xfrm>
        </p:grpSpPr>
        <p:sp>
          <p:nvSpPr>
            <p:cNvPr id="15" name="Google Shape;15;p13"/>
            <p:cNvSpPr/>
            <p:nvPr/>
          </p:nvSpPr>
          <p:spPr>
            <a:xfrm rot="10800000">
              <a:off x="6098378" y="97"/>
              <a:ext cx="1015200" cy="1015200"/>
            </a:xfrm>
            <a:prstGeom prst="rtTriangle">
              <a:avLst/>
            </a:prstGeom>
            <a:solidFill>
              <a:srgbClr val="F3232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3"/>
            <p:cNvSpPr/>
            <p:nvPr/>
          </p:nvSpPr>
          <p:spPr>
            <a:xfrm rot="10800000">
              <a:off x="7102211" y="-10925"/>
              <a:ext cx="2041800" cy="2041500"/>
            </a:xfrm>
            <a:prstGeom prst="rtTriangle">
              <a:avLst/>
            </a:prstGeom>
            <a:solidFill>
              <a:srgbClr val="C0B8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 name="Google Shape;17;p13"/>
          <p:cNvSpPr txBox="1"/>
          <p:nvPr>
            <p:ph type="ctrTitle"/>
          </p:nvPr>
        </p:nvSpPr>
        <p:spPr>
          <a:xfrm>
            <a:off x="598100" y="1775222"/>
            <a:ext cx="8222100" cy="838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200"/>
              <a:buFont typeface="Raleway"/>
              <a:buNone/>
              <a:defRPr sz="4200">
                <a:solidFill>
                  <a:schemeClr val="lt1"/>
                </a:solidFill>
                <a:latin typeface="Raleway"/>
                <a:ea typeface="Raleway"/>
                <a:cs typeface="Raleway"/>
                <a:sym typeface="Raleway"/>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18" name="Google Shape;18;p13"/>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Font typeface="Raleway"/>
              <a:buNone/>
              <a:defRPr sz="2100">
                <a:solidFill>
                  <a:schemeClr val="lt1"/>
                </a:solidFill>
                <a:latin typeface="Raleway"/>
                <a:ea typeface="Raleway"/>
                <a:cs typeface="Raleway"/>
                <a:sym typeface="Raleway"/>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19" name="Google Shape;19;p1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20" name="Google Shape;20;p13"/>
          <p:cNvPicPr preferRelativeResize="0"/>
          <p:nvPr/>
        </p:nvPicPr>
        <p:blipFill rotWithShape="1">
          <a:blip r:embed="rId2">
            <a:alphaModFix/>
          </a:blip>
          <a:srcRect b="0" l="0" r="0" t="0"/>
          <a:stretch/>
        </p:blipFill>
        <p:spPr>
          <a:xfrm>
            <a:off x="8131050" y="4490500"/>
            <a:ext cx="409649" cy="4904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1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A50000"/>
              </a:buClr>
              <a:buSzPts val="3000"/>
              <a:buNone/>
              <a:defRPr>
                <a:solidFill>
                  <a:srgbClr val="A50000"/>
                </a:solidFill>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3" name="Google Shape;23;p15"/>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5"/>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1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26" name="Google Shape;26;p15"/>
          <p:cNvGrpSpPr/>
          <p:nvPr/>
        </p:nvGrpSpPr>
        <p:grpSpPr>
          <a:xfrm>
            <a:off x="0" y="3903669"/>
            <a:ext cx="9144000" cy="1239925"/>
            <a:chOff x="0" y="3903669"/>
            <a:chExt cx="9144000" cy="1239925"/>
          </a:xfrm>
        </p:grpSpPr>
        <p:sp>
          <p:nvSpPr>
            <p:cNvPr id="27" name="Google Shape;27;p15"/>
            <p:cNvSpPr/>
            <p:nvPr/>
          </p:nvSpPr>
          <p:spPr>
            <a:xfrm>
              <a:off x="8154895" y="3903669"/>
              <a:ext cx="989100" cy="987900"/>
            </a:xfrm>
            <a:prstGeom prst="rtTriangle">
              <a:avLst/>
            </a:prstGeom>
            <a:solidFill>
              <a:srgbClr val="F3232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15"/>
            <p:cNvSpPr/>
            <p:nvPr/>
          </p:nvSpPr>
          <p:spPr>
            <a:xfrm flipH="1">
              <a:off x="6181163" y="3903669"/>
              <a:ext cx="989100" cy="987900"/>
            </a:xfrm>
            <a:prstGeom prst="rtTriangle">
              <a:avLst/>
            </a:prstGeom>
            <a:solidFill>
              <a:srgbClr val="F3232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15"/>
            <p:cNvSpPr/>
            <p:nvPr/>
          </p:nvSpPr>
          <p:spPr>
            <a:xfrm>
              <a:off x="7170274" y="3903669"/>
              <a:ext cx="989100" cy="987900"/>
            </a:xfrm>
            <a:prstGeom prst="rect">
              <a:avLst/>
            </a:prstGeom>
            <a:solidFill>
              <a:srgbClr val="CE20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15"/>
            <p:cNvSpPr/>
            <p:nvPr/>
          </p:nvSpPr>
          <p:spPr>
            <a:xfrm rot="10800000">
              <a:off x="8154757" y="3903682"/>
              <a:ext cx="989100" cy="987900"/>
            </a:xfrm>
            <a:prstGeom prst="rtTriangle">
              <a:avLst/>
            </a:prstGeom>
            <a:solidFill>
              <a:srgbClr val="A5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15"/>
            <p:cNvSpPr/>
            <p:nvPr/>
          </p:nvSpPr>
          <p:spPr>
            <a:xfrm>
              <a:off x="0" y="4891594"/>
              <a:ext cx="9144000" cy="252000"/>
            </a:xfrm>
            <a:prstGeom prst="rect">
              <a:avLst/>
            </a:prstGeom>
            <a:solidFill>
              <a:srgbClr val="A5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32" name="Google Shape;32;p15"/>
          <p:cNvPicPr preferRelativeResize="0"/>
          <p:nvPr/>
        </p:nvPicPr>
        <p:blipFill rotWithShape="1">
          <a:blip r:embed="rId2">
            <a:alphaModFix/>
          </a:blip>
          <a:srcRect b="0" l="0" r="0" t="0"/>
          <a:stretch/>
        </p:blipFill>
        <p:spPr>
          <a:xfrm>
            <a:off x="7391900" y="4045650"/>
            <a:ext cx="548699" cy="65689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16"/>
          <p:cNvSpPr txBox="1"/>
          <p:nvPr>
            <p:ph type="title"/>
          </p:nvPr>
        </p:nvSpPr>
        <p:spPr>
          <a:xfrm>
            <a:off x="457200" y="206375"/>
            <a:ext cx="8229600" cy="8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A50000"/>
              </a:buClr>
              <a:buSzPts val="3000"/>
              <a:buNone/>
              <a:defRPr>
                <a:solidFill>
                  <a:srgbClr val="A50000"/>
                </a:solidFill>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35" name="Google Shape;35;p16"/>
          <p:cNvSpPr txBox="1"/>
          <p:nvPr>
            <p:ph idx="1" type="body"/>
          </p:nvPr>
        </p:nvSpPr>
        <p:spPr>
          <a:xfrm>
            <a:off x="457200" y="1200150"/>
            <a:ext cx="8229600" cy="3394200"/>
          </a:xfrm>
          <a:prstGeom prst="rect">
            <a:avLst/>
          </a:prstGeom>
          <a:noFill/>
          <a:ln>
            <a:noFill/>
          </a:ln>
        </p:spPr>
        <p:txBody>
          <a:bodyPr anchorCtr="0" anchor="t" bIns="45700" lIns="91425" spcFirstLastPara="1" rIns="91425" wrap="square" tIns="45700">
            <a:noAutofit/>
          </a:bodyPr>
          <a:lstStyle>
            <a:lvl1pPr indent="-342900" lvl="0" marL="457200" algn="l">
              <a:lnSpc>
                <a:spcPct val="115000"/>
              </a:lnSpc>
              <a:spcBef>
                <a:spcPts val="360"/>
              </a:spcBef>
              <a:spcAft>
                <a:spcPts val="0"/>
              </a:spcAft>
              <a:buClr>
                <a:schemeClr val="dk1"/>
              </a:buClr>
              <a:buSzPts val="1800"/>
              <a:buChar char="●"/>
              <a:defRPr/>
            </a:lvl1pPr>
            <a:lvl2pPr indent="-342900" lvl="1" marL="914400" algn="l">
              <a:lnSpc>
                <a:spcPct val="115000"/>
              </a:lnSpc>
              <a:spcBef>
                <a:spcPts val="360"/>
              </a:spcBef>
              <a:spcAft>
                <a:spcPts val="0"/>
              </a:spcAft>
              <a:buClr>
                <a:schemeClr val="dk1"/>
              </a:buClr>
              <a:buSzPts val="1800"/>
              <a:buChar char="○"/>
              <a:defRPr/>
            </a:lvl2pPr>
            <a:lvl3pPr indent="-342900" lvl="2" marL="1371600" algn="l">
              <a:lnSpc>
                <a:spcPct val="115000"/>
              </a:lnSpc>
              <a:spcBef>
                <a:spcPts val="360"/>
              </a:spcBef>
              <a:spcAft>
                <a:spcPts val="0"/>
              </a:spcAft>
              <a:buClr>
                <a:schemeClr val="dk1"/>
              </a:buClr>
              <a:buSzPts val="1800"/>
              <a:buChar char="■"/>
              <a:defRPr/>
            </a:lvl3pPr>
            <a:lvl4pPr indent="-342900" lvl="3" marL="1828800" algn="l">
              <a:lnSpc>
                <a:spcPct val="115000"/>
              </a:lnSpc>
              <a:spcBef>
                <a:spcPts val="360"/>
              </a:spcBef>
              <a:spcAft>
                <a:spcPts val="0"/>
              </a:spcAft>
              <a:buClr>
                <a:schemeClr val="dk1"/>
              </a:buClr>
              <a:buSzPts val="1800"/>
              <a:buChar char="●"/>
              <a:defRPr/>
            </a:lvl4pPr>
            <a:lvl5pPr indent="-342900" lvl="4" marL="2286000" algn="l">
              <a:lnSpc>
                <a:spcPct val="115000"/>
              </a:lnSpc>
              <a:spcBef>
                <a:spcPts val="360"/>
              </a:spcBef>
              <a:spcAft>
                <a:spcPts val="0"/>
              </a:spcAft>
              <a:buClr>
                <a:schemeClr val="dk1"/>
              </a:buClr>
              <a:buSzPts val="1800"/>
              <a:buChar char="○"/>
              <a:defRPr/>
            </a:lvl5pPr>
            <a:lvl6pPr indent="-342900" lvl="5" marL="2743200" algn="l">
              <a:lnSpc>
                <a:spcPct val="115000"/>
              </a:lnSpc>
              <a:spcBef>
                <a:spcPts val="360"/>
              </a:spcBef>
              <a:spcAft>
                <a:spcPts val="0"/>
              </a:spcAft>
              <a:buClr>
                <a:schemeClr val="dk1"/>
              </a:buClr>
              <a:buSzPts val="1800"/>
              <a:buChar char="■"/>
              <a:defRPr/>
            </a:lvl6pPr>
            <a:lvl7pPr indent="-342900" lvl="6" marL="3200400" algn="l">
              <a:lnSpc>
                <a:spcPct val="115000"/>
              </a:lnSpc>
              <a:spcBef>
                <a:spcPts val="1200"/>
              </a:spcBef>
              <a:spcAft>
                <a:spcPts val="0"/>
              </a:spcAft>
              <a:buClr>
                <a:schemeClr val="dk1"/>
              </a:buClr>
              <a:buSzPts val="1800"/>
              <a:buChar char="●"/>
              <a:defRPr/>
            </a:lvl7pPr>
            <a:lvl8pPr indent="-342900" lvl="7" marL="3657600" algn="l">
              <a:lnSpc>
                <a:spcPct val="115000"/>
              </a:lnSpc>
              <a:spcBef>
                <a:spcPts val="1200"/>
              </a:spcBef>
              <a:spcAft>
                <a:spcPts val="0"/>
              </a:spcAft>
              <a:buClr>
                <a:schemeClr val="dk1"/>
              </a:buClr>
              <a:buSzPts val="1800"/>
              <a:buChar char="○"/>
              <a:defRPr/>
            </a:lvl8pPr>
            <a:lvl9pPr indent="-342900" lvl="8" marL="4114800" algn="l">
              <a:lnSpc>
                <a:spcPct val="115000"/>
              </a:lnSpc>
              <a:spcBef>
                <a:spcPts val="1200"/>
              </a:spcBef>
              <a:spcAft>
                <a:spcPts val="1200"/>
              </a:spcAft>
              <a:buClr>
                <a:schemeClr val="dk1"/>
              </a:buClr>
              <a:buSzPts val="1800"/>
              <a:buChar char="■"/>
              <a:defRPr/>
            </a:lvl9pPr>
          </a:lstStyle>
          <a:p/>
        </p:txBody>
      </p:sp>
      <p:sp>
        <p:nvSpPr>
          <p:cNvPr id="36" name="Google Shape;36;p16"/>
          <p:cNvSpPr txBox="1"/>
          <p:nvPr>
            <p:ph idx="10" type="dt"/>
          </p:nvPr>
        </p:nvSpPr>
        <p:spPr>
          <a:xfrm>
            <a:off x="457200" y="4767262"/>
            <a:ext cx="2133600" cy="2745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7" name="Google Shape;37;p16"/>
          <p:cNvSpPr txBox="1"/>
          <p:nvPr>
            <p:ph idx="11" type="ftr"/>
          </p:nvPr>
        </p:nvSpPr>
        <p:spPr>
          <a:xfrm>
            <a:off x="3124200" y="4767262"/>
            <a:ext cx="2895600" cy="2745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8" name="Google Shape;38;p16"/>
          <p:cNvSpPr txBox="1"/>
          <p:nvPr>
            <p:ph idx="12" type="sldNum"/>
          </p:nvPr>
        </p:nvSpPr>
        <p:spPr>
          <a:xfrm>
            <a:off x="6553200" y="4767262"/>
            <a:ext cx="2133600" cy="2745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898989"/>
              </a:buClr>
              <a:buSzPts val="1800"/>
              <a:buFont typeface="Arial"/>
              <a:buNone/>
              <a:defRPr b="0" i="0" sz="1800" u="none" cap="none" strike="noStrike">
                <a:solidFill>
                  <a:srgbClr val="898989"/>
                </a:solidFill>
                <a:latin typeface="Arial"/>
                <a:ea typeface="Arial"/>
                <a:cs typeface="Arial"/>
                <a:sym typeface="Arial"/>
              </a:defRPr>
            </a:lvl1pPr>
            <a:lvl2pPr indent="0" lvl="1" marL="0" marR="0" algn="l">
              <a:lnSpc>
                <a:spcPct val="100000"/>
              </a:lnSpc>
              <a:spcBef>
                <a:spcPts val="0"/>
              </a:spcBef>
              <a:spcAft>
                <a:spcPts val="0"/>
              </a:spcAft>
              <a:buClr>
                <a:srgbClr val="898989"/>
              </a:buClr>
              <a:buSzPts val="1800"/>
              <a:buFont typeface="Arial"/>
              <a:buNone/>
              <a:defRPr b="0" i="0" sz="1800" u="none" cap="none" strike="noStrike">
                <a:solidFill>
                  <a:srgbClr val="898989"/>
                </a:solidFill>
                <a:latin typeface="Arial"/>
                <a:ea typeface="Arial"/>
                <a:cs typeface="Arial"/>
                <a:sym typeface="Arial"/>
              </a:defRPr>
            </a:lvl2pPr>
            <a:lvl3pPr indent="0" lvl="2" marL="0" marR="0" algn="l">
              <a:lnSpc>
                <a:spcPct val="100000"/>
              </a:lnSpc>
              <a:spcBef>
                <a:spcPts val="0"/>
              </a:spcBef>
              <a:spcAft>
                <a:spcPts val="0"/>
              </a:spcAft>
              <a:buClr>
                <a:srgbClr val="898989"/>
              </a:buClr>
              <a:buSzPts val="1800"/>
              <a:buFont typeface="Arial"/>
              <a:buNone/>
              <a:defRPr b="0" i="0" sz="1800" u="none" cap="none" strike="noStrike">
                <a:solidFill>
                  <a:srgbClr val="898989"/>
                </a:solidFill>
                <a:latin typeface="Arial"/>
                <a:ea typeface="Arial"/>
                <a:cs typeface="Arial"/>
                <a:sym typeface="Arial"/>
              </a:defRPr>
            </a:lvl3pPr>
            <a:lvl4pPr indent="0" lvl="3" marL="0" marR="0" algn="l">
              <a:lnSpc>
                <a:spcPct val="100000"/>
              </a:lnSpc>
              <a:spcBef>
                <a:spcPts val="0"/>
              </a:spcBef>
              <a:spcAft>
                <a:spcPts val="0"/>
              </a:spcAft>
              <a:buClr>
                <a:srgbClr val="898989"/>
              </a:buClr>
              <a:buSzPts val="1800"/>
              <a:buFont typeface="Arial"/>
              <a:buNone/>
              <a:defRPr b="0" i="0" sz="1800" u="none" cap="none" strike="noStrike">
                <a:solidFill>
                  <a:srgbClr val="898989"/>
                </a:solidFill>
                <a:latin typeface="Arial"/>
                <a:ea typeface="Arial"/>
                <a:cs typeface="Arial"/>
                <a:sym typeface="Arial"/>
              </a:defRPr>
            </a:lvl4pPr>
            <a:lvl5pPr indent="0" lvl="4" marL="0" marR="0" algn="l">
              <a:lnSpc>
                <a:spcPct val="100000"/>
              </a:lnSpc>
              <a:spcBef>
                <a:spcPts val="0"/>
              </a:spcBef>
              <a:spcAft>
                <a:spcPts val="0"/>
              </a:spcAft>
              <a:buClr>
                <a:srgbClr val="898989"/>
              </a:buClr>
              <a:buSzPts val="1800"/>
              <a:buFont typeface="Arial"/>
              <a:buNone/>
              <a:defRPr b="0" i="0" sz="1800" u="none" cap="none" strike="noStrike">
                <a:solidFill>
                  <a:srgbClr val="898989"/>
                </a:solidFill>
                <a:latin typeface="Arial"/>
                <a:ea typeface="Arial"/>
                <a:cs typeface="Arial"/>
                <a:sym typeface="Arial"/>
              </a:defRPr>
            </a:lvl5pPr>
            <a:lvl6pPr indent="0" lvl="5" marL="0" marR="0" algn="l">
              <a:lnSpc>
                <a:spcPct val="100000"/>
              </a:lnSpc>
              <a:spcBef>
                <a:spcPts val="0"/>
              </a:spcBef>
              <a:spcAft>
                <a:spcPts val="0"/>
              </a:spcAft>
              <a:buClr>
                <a:srgbClr val="898989"/>
              </a:buClr>
              <a:buSzPts val="1800"/>
              <a:buFont typeface="Arial"/>
              <a:buNone/>
              <a:defRPr b="0" i="0" sz="1800" u="none" cap="none" strike="noStrike">
                <a:solidFill>
                  <a:srgbClr val="898989"/>
                </a:solidFill>
                <a:latin typeface="Arial"/>
                <a:ea typeface="Arial"/>
                <a:cs typeface="Arial"/>
                <a:sym typeface="Arial"/>
              </a:defRPr>
            </a:lvl6pPr>
            <a:lvl7pPr indent="0" lvl="6" marL="0" marR="0" algn="l">
              <a:lnSpc>
                <a:spcPct val="100000"/>
              </a:lnSpc>
              <a:spcBef>
                <a:spcPts val="0"/>
              </a:spcBef>
              <a:spcAft>
                <a:spcPts val="0"/>
              </a:spcAft>
              <a:buClr>
                <a:srgbClr val="898989"/>
              </a:buClr>
              <a:buSzPts val="1800"/>
              <a:buFont typeface="Arial"/>
              <a:buNone/>
              <a:defRPr b="0" i="0" sz="1800" u="none" cap="none" strike="noStrike">
                <a:solidFill>
                  <a:srgbClr val="898989"/>
                </a:solidFill>
                <a:latin typeface="Arial"/>
                <a:ea typeface="Arial"/>
                <a:cs typeface="Arial"/>
                <a:sym typeface="Arial"/>
              </a:defRPr>
            </a:lvl7pPr>
            <a:lvl8pPr indent="0" lvl="7" marL="0" marR="0" algn="l">
              <a:lnSpc>
                <a:spcPct val="100000"/>
              </a:lnSpc>
              <a:spcBef>
                <a:spcPts val="0"/>
              </a:spcBef>
              <a:spcAft>
                <a:spcPts val="0"/>
              </a:spcAft>
              <a:buClr>
                <a:srgbClr val="898989"/>
              </a:buClr>
              <a:buSzPts val="1800"/>
              <a:buFont typeface="Arial"/>
              <a:buNone/>
              <a:defRPr b="0" i="0" sz="1800" u="none" cap="none" strike="noStrike">
                <a:solidFill>
                  <a:srgbClr val="898989"/>
                </a:solidFill>
                <a:latin typeface="Arial"/>
                <a:ea typeface="Arial"/>
                <a:cs typeface="Arial"/>
                <a:sym typeface="Arial"/>
              </a:defRPr>
            </a:lvl8pPr>
            <a:lvl9pPr indent="0" lvl="8" marL="0" marR="0" algn="l">
              <a:lnSpc>
                <a:spcPct val="100000"/>
              </a:lnSpc>
              <a:spcBef>
                <a:spcPts val="0"/>
              </a:spcBef>
              <a:spcAft>
                <a:spcPts val="0"/>
              </a:spcAft>
              <a:buClr>
                <a:srgbClr val="898989"/>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000">
              <a:solidFill>
                <a:schemeClr val="lt1"/>
              </a:solidFill>
            </a:endParaRPr>
          </a:p>
        </p:txBody>
      </p:sp>
      <p:grpSp>
        <p:nvGrpSpPr>
          <p:cNvPr id="39" name="Google Shape;39;p16"/>
          <p:cNvGrpSpPr/>
          <p:nvPr/>
        </p:nvGrpSpPr>
        <p:grpSpPr>
          <a:xfrm>
            <a:off x="0" y="3903669"/>
            <a:ext cx="9144000" cy="1239925"/>
            <a:chOff x="0" y="3903669"/>
            <a:chExt cx="9144000" cy="1239925"/>
          </a:xfrm>
        </p:grpSpPr>
        <p:sp>
          <p:nvSpPr>
            <p:cNvPr id="40" name="Google Shape;40;p16"/>
            <p:cNvSpPr/>
            <p:nvPr/>
          </p:nvSpPr>
          <p:spPr>
            <a:xfrm>
              <a:off x="8154895" y="3903669"/>
              <a:ext cx="989100" cy="987900"/>
            </a:xfrm>
            <a:prstGeom prst="rtTriangle">
              <a:avLst/>
            </a:prstGeom>
            <a:solidFill>
              <a:srgbClr val="F3232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6"/>
            <p:cNvSpPr/>
            <p:nvPr/>
          </p:nvSpPr>
          <p:spPr>
            <a:xfrm flipH="1">
              <a:off x="6181163" y="3903669"/>
              <a:ext cx="989100" cy="987900"/>
            </a:xfrm>
            <a:prstGeom prst="rtTriangle">
              <a:avLst/>
            </a:prstGeom>
            <a:solidFill>
              <a:srgbClr val="F3232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16"/>
            <p:cNvSpPr/>
            <p:nvPr/>
          </p:nvSpPr>
          <p:spPr>
            <a:xfrm>
              <a:off x="7170274" y="3903669"/>
              <a:ext cx="989100" cy="987900"/>
            </a:xfrm>
            <a:prstGeom prst="rect">
              <a:avLst/>
            </a:prstGeom>
            <a:solidFill>
              <a:srgbClr val="CE20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16"/>
            <p:cNvSpPr/>
            <p:nvPr/>
          </p:nvSpPr>
          <p:spPr>
            <a:xfrm rot="10800000">
              <a:off x="8154757" y="3903682"/>
              <a:ext cx="989100" cy="987900"/>
            </a:xfrm>
            <a:prstGeom prst="rtTriangle">
              <a:avLst/>
            </a:prstGeom>
            <a:solidFill>
              <a:srgbClr val="A5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6"/>
            <p:cNvSpPr/>
            <p:nvPr/>
          </p:nvSpPr>
          <p:spPr>
            <a:xfrm>
              <a:off x="0" y="4891594"/>
              <a:ext cx="9144000" cy="252000"/>
            </a:xfrm>
            <a:prstGeom prst="rect">
              <a:avLst/>
            </a:prstGeom>
            <a:solidFill>
              <a:srgbClr val="A5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45" name="Google Shape;45;p16"/>
          <p:cNvPicPr preferRelativeResize="0"/>
          <p:nvPr/>
        </p:nvPicPr>
        <p:blipFill rotWithShape="1">
          <a:blip r:embed="rId2">
            <a:alphaModFix/>
          </a:blip>
          <a:srcRect b="0" l="0" r="0" t="0"/>
          <a:stretch/>
        </p:blipFill>
        <p:spPr>
          <a:xfrm>
            <a:off x="7391900" y="4045650"/>
            <a:ext cx="548699" cy="65689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6" name="Shape 46"/>
        <p:cNvGrpSpPr/>
        <p:nvPr/>
      </p:nvGrpSpPr>
      <p:grpSpPr>
        <a:xfrm>
          <a:off x="0" y="0"/>
          <a:ext cx="0" cy="0"/>
          <a:chOff x="0" y="0"/>
          <a:chExt cx="0" cy="0"/>
        </a:xfrm>
      </p:grpSpPr>
      <p:grpSp>
        <p:nvGrpSpPr>
          <p:cNvPr id="47" name="Google Shape;47;p14"/>
          <p:cNvGrpSpPr/>
          <p:nvPr/>
        </p:nvGrpSpPr>
        <p:grpSpPr>
          <a:xfrm>
            <a:off x="0" y="3903669"/>
            <a:ext cx="9144000" cy="1239925"/>
            <a:chOff x="0" y="3903669"/>
            <a:chExt cx="9144000" cy="1239925"/>
          </a:xfrm>
        </p:grpSpPr>
        <p:sp>
          <p:nvSpPr>
            <p:cNvPr id="48" name="Google Shape;48;p14"/>
            <p:cNvSpPr/>
            <p:nvPr/>
          </p:nvSpPr>
          <p:spPr>
            <a:xfrm>
              <a:off x="8154895" y="3903669"/>
              <a:ext cx="989100" cy="987900"/>
            </a:xfrm>
            <a:prstGeom prst="rtTriangle">
              <a:avLst/>
            </a:prstGeom>
            <a:solidFill>
              <a:srgbClr val="F3232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4"/>
            <p:cNvSpPr/>
            <p:nvPr/>
          </p:nvSpPr>
          <p:spPr>
            <a:xfrm flipH="1">
              <a:off x="6181163" y="3903669"/>
              <a:ext cx="989100" cy="987900"/>
            </a:xfrm>
            <a:prstGeom prst="rtTriangle">
              <a:avLst/>
            </a:prstGeom>
            <a:solidFill>
              <a:srgbClr val="F3232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14"/>
            <p:cNvSpPr/>
            <p:nvPr/>
          </p:nvSpPr>
          <p:spPr>
            <a:xfrm>
              <a:off x="7170274" y="3903669"/>
              <a:ext cx="989100" cy="987900"/>
            </a:xfrm>
            <a:prstGeom prst="rect">
              <a:avLst/>
            </a:prstGeom>
            <a:solidFill>
              <a:srgbClr val="CE20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4"/>
            <p:cNvSpPr/>
            <p:nvPr/>
          </p:nvSpPr>
          <p:spPr>
            <a:xfrm rot="10800000">
              <a:off x="8154757" y="3903682"/>
              <a:ext cx="989100" cy="987900"/>
            </a:xfrm>
            <a:prstGeom prst="rtTriangle">
              <a:avLst/>
            </a:prstGeom>
            <a:solidFill>
              <a:srgbClr val="A5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4"/>
            <p:cNvSpPr/>
            <p:nvPr/>
          </p:nvSpPr>
          <p:spPr>
            <a:xfrm>
              <a:off x="0" y="4891594"/>
              <a:ext cx="9144000" cy="252000"/>
            </a:xfrm>
            <a:prstGeom prst="rect">
              <a:avLst/>
            </a:prstGeom>
            <a:solidFill>
              <a:srgbClr val="A5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 name="Google Shape;53;p1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A50000"/>
              </a:buClr>
              <a:buSzPts val="3000"/>
              <a:buNone/>
              <a:defRPr>
                <a:solidFill>
                  <a:srgbClr val="A50000"/>
                </a:solidFill>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4" name="Google Shape;54;p14"/>
          <p:cNvSpPr txBox="1"/>
          <p:nvPr>
            <p:ph idx="1" type="body"/>
          </p:nvPr>
        </p:nvSpPr>
        <p:spPr>
          <a:xfrm>
            <a:off x="311700" y="1229875"/>
            <a:ext cx="8520600" cy="2603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5" name="Google Shape;55;p1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56" name="Google Shape;56;p14"/>
          <p:cNvPicPr preferRelativeResize="0"/>
          <p:nvPr/>
        </p:nvPicPr>
        <p:blipFill rotWithShape="1">
          <a:blip r:embed="rId2">
            <a:alphaModFix/>
          </a:blip>
          <a:srcRect b="0" l="0" r="0" t="0"/>
          <a:stretch/>
        </p:blipFill>
        <p:spPr>
          <a:xfrm>
            <a:off x="7391900" y="4045650"/>
            <a:ext cx="548699" cy="65689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7" name="Shape 57"/>
        <p:cNvGrpSpPr/>
        <p:nvPr/>
      </p:nvGrpSpPr>
      <p:grpSpPr>
        <a:xfrm>
          <a:off x="0" y="0"/>
          <a:ext cx="0" cy="0"/>
          <a:chOff x="0" y="0"/>
          <a:chExt cx="0" cy="0"/>
        </a:xfrm>
      </p:grpSpPr>
      <p:sp>
        <p:nvSpPr>
          <p:cNvPr id="58" name="Google Shape;58;p17"/>
          <p:cNvSpPr txBox="1"/>
          <p:nvPr>
            <p:ph type="title"/>
          </p:nvPr>
        </p:nvSpPr>
        <p:spPr>
          <a:xfrm>
            <a:off x="628650" y="274637"/>
            <a:ext cx="7886700" cy="9939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rgbClr val="A50000"/>
              </a:buClr>
              <a:buSzPts val="3000"/>
              <a:buNone/>
              <a:defRPr>
                <a:solidFill>
                  <a:srgbClr val="A50000"/>
                </a:solidFill>
              </a:defRPr>
            </a:lvl1pPr>
            <a:lvl2pPr lvl="1" algn="l">
              <a:lnSpc>
                <a:spcPct val="90000"/>
              </a:lnSpc>
              <a:spcBef>
                <a:spcPts val="0"/>
              </a:spcBef>
              <a:spcAft>
                <a:spcPts val="0"/>
              </a:spcAft>
              <a:buSzPts val="3000"/>
              <a:buNone/>
              <a:defRPr/>
            </a:lvl2pPr>
            <a:lvl3pPr lvl="2" algn="l">
              <a:lnSpc>
                <a:spcPct val="90000"/>
              </a:lnSpc>
              <a:spcBef>
                <a:spcPts val="0"/>
              </a:spcBef>
              <a:spcAft>
                <a:spcPts val="0"/>
              </a:spcAft>
              <a:buSzPts val="3000"/>
              <a:buNone/>
              <a:defRPr/>
            </a:lvl3pPr>
            <a:lvl4pPr lvl="3" algn="l">
              <a:lnSpc>
                <a:spcPct val="90000"/>
              </a:lnSpc>
              <a:spcBef>
                <a:spcPts val="0"/>
              </a:spcBef>
              <a:spcAft>
                <a:spcPts val="0"/>
              </a:spcAft>
              <a:buSzPts val="3000"/>
              <a:buNone/>
              <a:defRPr/>
            </a:lvl4pPr>
            <a:lvl5pPr lvl="4" algn="l">
              <a:lnSpc>
                <a:spcPct val="90000"/>
              </a:lnSpc>
              <a:spcBef>
                <a:spcPts val="0"/>
              </a:spcBef>
              <a:spcAft>
                <a:spcPts val="0"/>
              </a:spcAft>
              <a:buSzPts val="3000"/>
              <a:buNone/>
              <a:defRPr/>
            </a:lvl5pPr>
            <a:lvl6pPr lvl="5" algn="l">
              <a:lnSpc>
                <a:spcPct val="90000"/>
              </a:lnSpc>
              <a:spcBef>
                <a:spcPts val="0"/>
              </a:spcBef>
              <a:spcAft>
                <a:spcPts val="0"/>
              </a:spcAft>
              <a:buSzPts val="3000"/>
              <a:buNone/>
              <a:defRPr/>
            </a:lvl6pPr>
            <a:lvl7pPr lvl="6" algn="l">
              <a:lnSpc>
                <a:spcPct val="90000"/>
              </a:lnSpc>
              <a:spcBef>
                <a:spcPts val="0"/>
              </a:spcBef>
              <a:spcAft>
                <a:spcPts val="0"/>
              </a:spcAft>
              <a:buSzPts val="3000"/>
              <a:buNone/>
              <a:defRPr/>
            </a:lvl7pPr>
            <a:lvl8pPr lvl="7" algn="l">
              <a:lnSpc>
                <a:spcPct val="90000"/>
              </a:lnSpc>
              <a:spcBef>
                <a:spcPts val="0"/>
              </a:spcBef>
              <a:spcAft>
                <a:spcPts val="0"/>
              </a:spcAft>
              <a:buSzPts val="3000"/>
              <a:buNone/>
              <a:defRPr/>
            </a:lvl8pPr>
            <a:lvl9pPr lvl="8" algn="l">
              <a:lnSpc>
                <a:spcPct val="90000"/>
              </a:lnSpc>
              <a:spcBef>
                <a:spcPts val="0"/>
              </a:spcBef>
              <a:spcAft>
                <a:spcPts val="0"/>
              </a:spcAft>
              <a:buSzPts val="3000"/>
              <a:buNone/>
              <a:defRPr/>
            </a:lvl9pPr>
          </a:lstStyle>
          <a:p/>
        </p:txBody>
      </p:sp>
      <p:sp>
        <p:nvSpPr>
          <p:cNvPr id="59" name="Google Shape;59;p17"/>
          <p:cNvSpPr txBox="1"/>
          <p:nvPr>
            <p:ph idx="1" type="body"/>
          </p:nvPr>
        </p:nvSpPr>
        <p:spPr>
          <a:xfrm>
            <a:off x="628650" y="1369218"/>
            <a:ext cx="3886200" cy="3263400"/>
          </a:xfrm>
          <a:prstGeom prst="rect">
            <a:avLst/>
          </a:prstGeom>
          <a:noFill/>
          <a:ln>
            <a:noFill/>
          </a:ln>
        </p:spPr>
        <p:txBody>
          <a:bodyPr anchorCtr="0" anchor="t" bIns="34275" lIns="68575" spcFirstLastPara="1" rIns="68575" wrap="square" tIns="34275">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1200"/>
              </a:spcAft>
              <a:buClr>
                <a:schemeClr val="dk1"/>
              </a:buClr>
              <a:buSzPts val="1800"/>
              <a:buChar char="■"/>
              <a:defRPr/>
            </a:lvl9pPr>
          </a:lstStyle>
          <a:p/>
        </p:txBody>
      </p:sp>
      <p:sp>
        <p:nvSpPr>
          <p:cNvPr id="60" name="Google Shape;60;p17"/>
          <p:cNvSpPr txBox="1"/>
          <p:nvPr>
            <p:ph idx="2" type="body"/>
          </p:nvPr>
        </p:nvSpPr>
        <p:spPr>
          <a:xfrm>
            <a:off x="4629150" y="1369218"/>
            <a:ext cx="3886200" cy="3263400"/>
          </a:xfrm>
          <a:prstGeom prst="rect">
            <a:avLst/>
          </a:prstGeom>
          <a:noFill/>
          <a:ln>
            <a:noFill/>
          </a:ln>
        </p:spPr>
        <p:txBody>
          <a:bodyPr anchorCtr="0" anchor="t" bIns="34275" lIns="68575" spcFirstLastPara="1" rIns="68575" wrap="square" tIns="34275">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1200"/>
              </a:spcBef>
              <a:spcAft>
                <a:spcPts val="0"/>
              </a:spcAft>
              <a:buClr>
                <a:schemeClr val="dk1"/>
              </a:buClr>
              <a:buSzPts val="1800"/>
              <a:buChar char="●"/>
              <a:defRPr/>
            </a:lvl7pPr>
            <a:lvl8pPr indent="-342900" lvl="7" marL="3657600" algn="l">
              <a:lnSpc>
                <a:spcPct val="90000"/>
              </a:lnSpc>
              <a:spcBef>
                <a:spcPts val="1200"/>
              </a:spcBef>
              <a:spcAft>
                <a:spcPts val="0"/>
              </a:spcAft>
              <a:buClr>
                <a:schemeClr val="dk1"/>
              </a:buClr>
              <a:buSzPts val="1800"/>
              <a:buChar char="○"/>
              <a:defRPr/>
            </a:lvl8pPr>
            <a:lvl9pPr indent="-342900" lvl="8" marL="4114800" algn="l">
              <a:lnSpc>
                <a:spcPct val="90000"/>
              </a:lnSpc>
              <a:spcBef>
                <a:spcPts val="1200"/>
              </a:spcBef>
              <a:spcAft>
                <a:spcPts val="1200"/>
              </a:spcAft>
              <a:buClr>
                <a:schemeClr val="dk1"/>
              </a:buClr>
              <a:buSzPts val="1800"/>
              <a:buChar char="■"/>
              <a:defRPr/>
            </a:lvl9pPr>
          </a:lstStyle>
          <a:p/>
        </p:txBody>
      </p:sp>
      <p:sp>
        <p:nvSpPr>
          <p:cNvPr id="61" name="Google Shape;61;p17"/>
          <p:cNvSpPr txBox="1"/>
          <p:nvPr>
            <p:ph idx="10" type="dt"/>
          </p:nvPr>
        </p:nvSpPr>
        <p:spPr>
          <a:xfrm>
            <a:off x="628650" y="4767262"/>
            <a:ext cx="2057400" cy="2745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2" name="Google Shape;62;p17"/>
          <p:cNvSpPr txBox="1"/>
          <p:nvPr>
            <p:ph idx="11" type="ftr"/>
          </p:nvPr>
        </p:nvSpPr>
        <p:spPr>
          <a:xfrm>
            <a:off x="3028950" y="4767262"/>
            <a:ext cx="3086100" cy="2745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3" name="Google Shape;63;p17"/>
          <p:cNvSpPr txBox="1"/>
          <p:nvPr>
            <p:ph idx="12" type="sldNum"/>
          </p:nvPr>
        </p:nvSpPr>
        <p:spPr>
          <a:xfrm>
            <a:off x="6457950" y="4767262"/>
            <a:ext cx="2057400" cy="2745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000">
              <a:solidFill>
                <a:schemeClr val="lt1"/>
              </a:solidFill>
            </a:endParaRPr>
          </a:p>
        </p:txBody>
      </p:sp>
      <p:grpSp>
        <p:nvGrpSpPr>
          <p:cNvPr id="64" name="Google Shape;64;p17"/>
          <p:cNvGrpSpPr/>
          <p:nvPr/>
        </p:nvGrpSpPr>
        <p:grpSpPr>
          <a:xfrm>
            <a:off x="0" y="3903669"/>
            <a:ext cx="9144000" cy="1239925"/>
            <a:chOff x="0" y="3903669"/>
            <a:chExt cx="9144000" cy="1239925"/>
          </a:xfrm>
        </p:grpSpPr>
        <p:sp>
          <p:nvSpPr>
            <p:cNvPr id="65" name="Google Shape;65;p17"/>
            <p:cNvSpPr/>
            <p:nvPr/>
          </p:nvSpPr>
          <p:spPr>
            <a:xfrm>
              <a:off x="8154895" y="3903669"/>
              <a:ext cx="989100" cy="987900"/>
            </a:xfrm>
            <a:prstGeom prst="rtTriangle">
              <a:avLst/>
            </a:prstGeom>
            <a:solidFill>
              <a:srgbClr val="F3232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7"/>
            <p:cNvSpPr/>
            <p:nvPr/>
          </p:nvSpPr>
          <p:spPr>
            <a:xfrm flipH="1">
              <a:off x="6181163" y="3903669"/>
              <a:ext cx="989100" cy="987900"/>
            </a:xfrm>
            <a:prstGeom prst="rtTriangle">
              <a:avLst/>
            </a:prstGeom>
            <a:solidFill>
              <a:srgbClr val="F3232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7"/>
            <p:cNvSpPr/>
            <p:nvPr/>
          </p:nvSpPr>
          <p:spPr>
            <a:xfrm>
              <a:off x="7170274" y="3903669"/>
              <a:ext cx="989100" cy="987900"/>
            </a:xfrm>
            <a:prstGeom prst="rect">
              <a:avLst/>
            </a:prstGeom>
            <a:solidFill>
              <a:srgbClr val="CE20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7"/>
            <p:cNvSpPr/>
            <p:nvPr/>
          </p:nvSpPr>
          <p:spPr>
            <a:xfrm rot="10800000">
              <a:off x="8154757" y="3903682"/>
              <a:ext cx="989100" cy="987900"/>
            </a:xfrm>
            <a:prstGeom prst="rtTriangle">
              <a:avLst/>
            </a:prstGeom>
            <a:solidFill>
              <a:srgbClr val="A5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7"/>
            <p:cNvSpPr/>
            <p:nvPr/>
          </p:nvSpPr>
          <p:spPr>
            <a:xfrm>
              <a:off x="0" y="4891594"/>
              <a:ext cx="9144000" cy="252000"/>
            </a:xfrm>
            <a:prstGeom prst="rect">
              <a:avLst/>
            </a:prstGeom>
            <a:solidFill>
              <a:srgbClr val="A5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70" name="Google Shape;70;p17"/>
          <p:cNvPicPr preferRelativeResize="0"/>
          <p:nvPr/>
        </p:nvPicPr>
        <p:blipFill rotWithShape="1">
          <a:blip r:embed="rId2">
            <a:alphaModFix/>
          </a:blip>
          <a:srcRect b="0" l="0" r="0" t="0"/>
          <a:stretch/>
        </p:blipFill>
        <p:spPr>
          <a:xfrm>
            <a:off x="7391900" y="4045650"/>
            <a:ext cx="548699" cy="65689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18"/>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A50000"/>
              </a:buClr>
              <a:buSzPts val="3000"/>
              <a:buNone/>
              <a:defRPr>
                <a:solidFill>
                  <a:srgbClr val="A50000"/>
                </a:solidFill>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73" name="Google Shape;73;p1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74" name="Google Shape;74;p18"/>
          <p:cNvGrpSpPr/>
          <p:nvPr/>
        </p:nvGrpSpPr>
        <p:grpSpPr>
          <a:xfrm>
            <a:off x="0" y="3903669"/>
            <a:ext cx="9144000" cy="1239925"/>
            <a:chOff x="0" y="3903669"/>
            <a:chExt cx="9144000" cy="1239925"/>
          </a:xfrm>
        </p:grpSpPr>
        <p:sp>
          <p:nvSpPr>
            <p:cNvPr id="75" name="Google Shape;75;p18"/>
            <p:cNvSpPr/>
            <p:nvPr/>
          </p:nvSpPr>
          <p:spPr>
            <a:xfrm>
              <a:off x="8154895" y="3903669"/>
              <a:ext cx="989100" cy="987900"/>
            </a:xfrm>
            <a:prstGeom prst="rtTriangle">
              <a:avLst/>
            </a:prstGeom>
            <a:solidFill>
              <a:srgbClr val="F3232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8"/>
            <p:cNvSpPr/>
            <p:nvPr/>
          </p:nvSpPr>
          <p:spPr>
            <a:xfrm flipH="1">
              <a:off x="6181163" y="3903669"/>
              <a:ext cx="989100" cy="987900"/>
            </a:xfrm>
            <a:prstGeom prst="rtTriangle">
              <a:avLst/>
            </a:prstGeom>
            <a:solidFill>
              <a:srgbClr val="F3232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8"/>
            <p:cNvSpPr/>
            <p:nvPr/>
          </p:nvSpPr>
          <p:spPr>
            <a:xfrm>
              <a:off x="7170274" y="3903669"/>
              <a:ext cx="989100" cy="987900"/>
            </a:xfrm>
            <a:prstGeom prst="rect">
              <a:avLst/>
            </a:prstGeom>
            <a:solidFill>
              <a:srgbClr val="CE20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8"/>
            <p:cNvSpPr/>
            <p:nvPr/>
          </p:nvSpPr>
          <p:spPr>
            <a:xfrm rot="10800000">
              <a:off x="8154757" y="3903682"/>
              <a:ext cx="989100" cy="987900"/>
            </a:xfrm>
            <a:prstGeom prst="rtTriangle">
              <a:avLst/>
            </a:prstGeom>
            <a:solidFill>
              <a:srgbClr val="A5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8"/>
            <p:cNvSpPr/>
            <p:nvPr/>
          </p:nvSpPr>
          <p:spPr>
            <a:xfrm>
              <a:off x="0" y="4891594"/>
              <a:ext cx="9144000" cy="252000"/>
            </a:xfrm>
            <a:prstGeom prst="rect">
              <a:avLst/>
            </a:prstGeom>
            <a:solidFill>
              <a:srgbClr val="A5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80" name="Google Shape;80;p18"/>
          <p:cNvPicPr preferRelativeResize="0"/>
          <p:nvPr/>
        </p:nvPicPr>
        <p:blipFill rotWithShape="1">
          <a:blip r:embed="rId2">
            <a:alphaModFix/>
          </a:blip>
          <a:srcRect b="0" l="0" r="0" t="0"/>
          <a:stretch/>
        </p:blipFill>
        <p:spPr>
          <a:xfrm>
            <a:off x="7391900" y="4045650"/>
            <a:ext cx="548699" cy="65689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1" name="Shape 81"/>
        <p:cNvGrpSpPr/>
        <p:nvPr/>
      </p:nvGrpSpPr>
      <p:grpSpPr>
        <a:xfrm>
          <a:off x="0" y="0"/>
          <a:ext cx="0" cy="0"/>
          <a:chOff x="0" y="0"/>
          <a:chExt cx="0" cy="0"/>
        </a:xfrm>
      </p:grpSpPr>
      <p:sp>
        <p:nvSpPr>
          <p:cNvPr id="82" name="Google Shape;82;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rgbClr val="A50000"/>
              </a:buClr>
              <a:buSzPts val="2400"/>
              <a:buNone/>
              <a:defRPr sz="2400">
                <a:solidFill>
                  <a:srgbClr val="A50000"/>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3" name="Google Shape;83;p19"/>
          <p:cNvSpPr txBox="1"/>
          <p:nvPr>
            <p:ph idx="1" type="body"/>
          </p:nvPr>
        </p:nvSpPr>
        <p:spPr>
          <a:xfrm>
            <a:off x="311700" y="1465804"/>
            <a:ext cx="2808000" cy="31032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4" name="Google Shape;84;p1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grpSp>
        <p:nvGrpSpPr>
          <p:cNvPr id="85" name="Google Shape;85;p19"/>
          <p:cNvGrpSpPr/>
          <p:nvPr/>
        </p:nvGrpSpPr>
        <p:grpSpPr>
          <a:xfrm>
            <a:off x="0" y="3903669"/>
            <a:ext cx="9144000" cy="1239925"/>
            <a:chOff x="0" y="3903669"/>
            <a:chExt cx="9144000" cy="1239925"/>
          </a:xfrm>
        </p:grpSpPr>
        <p:sp>
          <p:nvSpPr>
            <p:cNvPr id="86" name="Google Shape;86;p19"/>
            <p:cNvSpPr/>
            <p:nvPr/>
          </p:nvSpPr>
          <p:spPr>
            <a:xfrm>
              <a:off x="8154895" y="3903669"/>
              <a:ext cx="989100" cy="987900"/>
            </a:xfrm>
            <a:prstGeom prst="rtTriangle">
              <a:avLst/>
            </a:prstGeom>
            <a:solidFill>
              <a:srgbClr val="F3232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9"/>
            <p:cNvSpPr/>
            <p:nvPr/>
          </p:nvSpPr>
          <p:spPr>
            <a:xfrm flipH="1">
              <a:off x="6181163" y="3903669"/>
              <a:ext cx="989100" cy="987900"/>
            </a:xfrm>
            <a:prstGeom prst="rtTriangle">
              <a:avLst/>
            </a:prstGeom>
            <a:solidFill>
              <a:srgbClr val="F3232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9"/>
            <p:cNvSpPr/>
            <p:nvPr/>
          </p:nvSpPr>
          <p:spPr>
            <a:xfrm>
              <a:off x="7170274" y="3903669"/>
              <a:ext cx="989100" cy="987900"/>
            </a:xfrm>
            <a:prstGeom prst="rect">
              <a:avLst/>
            </a:prstGeom>
            <a:solidFill>
              <a:srgbClr val="CE20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19"/>
            <p:cNvSpPr/>
            <p:nvPr/>
          </p:nvSpPr>
          <p:spPr>
            <a:xfrm rot="10800000">
              <a:off x="8154757" y="3903682"/>
              <a:ext cx="989100" cy="987900"/>
            </a:xfrm>
            <a:prstGeom prst="rtTriangle">
              <a:avLst/>
            </a:prstGeom>
            <a:solidFill>
              <a:srgbClr val="A5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9"/>
            <p:cNvSpPr/>
            <p:nvPr/>
          </p:nvSpPr>
          <p:spPr>
            <a:xfrm>
              <a:off x="0" y="4891594"/>
              <a:ext cx="9144000" cy="252000"/>
            </a:xfrm>
            <a:prstGeom prst="rect">
              <a:avLst/>
            </a:prstGeom>
            <a:solidFill>
              <a:srgbClr val="A5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91" name="Google Shape;91;p19"/>
          <p:cNvPicPr preferRelativeResize="0"/>
          <p:nvPr/>
        </p:nvPicPr>
        <p:blipFill rotWithShape="1">
          <a:blip r:embed="rId2">
            <a:alphaModFix/>
          </a:blip>
          <a:srcRect b="0" l="0" r="0" t="0"/>
          <a:stretch/>
        </p:blipFill>
        <p:spPr>
          <a:xfrm>
            <a:off x="7391900" y="4045650"/>
            <a:ext cx="548699" cy="65689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Graph slide">
  <p:cSld name="Chart/Graph slide">
    <p:spTree>
      <p:nvGrpSpPr>
        <p:cNvPr id="92" name="Shape 92"/>
        <p:cNvGrpSpPr/>
        <p:nvPr/>
      </p:nvGrpSpPr>
      <p:grpSpPr>
        <a:xfrm>
          <a:off x="0" y="0"/>
          <a:ext cx="0" cy="0"/>
          <a:chOff x="0" y="0"/>
          <a:chExt cx="0" cy="0"/>
        </a:xfrm>
      </p:grpSpPr>
      <p:sp>
        <p:nvSpPr>
          <p:cNvPr id="93" name="Google Shape;93;p20"/>
          <p:cNvSpPr txBox="1"/>
          <p:nvPr>
            <p:ph type="title"/>
          </p:nvPr>
        </p:nvSpPr>
        <p:spPr>
          <a:xfrm>
            <a:off x="533400" y="683309"/>
            <a:ext cx="8153400" cy="28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SzPts val="3000"/>
              <a:buNone/>
              <a:defRPr>
                <a:solidFill>
                  <a:schemeClr val="dk2"/>
                </a:solidFill>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94" name="Google Shape;94;p20"/>
          <p:cNvSpPr txBox="1"/>
          <p:nvPr>
            <p:ph idx="1" type="body"/>
          </p:nvPr>
        </p:nvSpPr>
        <p:spPr>
          <a:xfrm>
            <a:off x="533400" y="977360"/>
            <a:ext cx="8153400" cy="279300"/>
          </a:xfrm>
          <a:prstGeom prst="rect">
            <a:avLst/>
          </a:prstGeom>
          <a:noFill/>
          <a:ln>
            <a:noFill/>
          </a:ln>
        </p:spPr>
        <p:txBody>
          <a:bodyPr anchorCtr="0" anchor="t" bIns="45700" lIns="91425" spcFirstLastPara="1" rIns="91425" wrap="square" tIns="45700">
            <a:noAutofit/>
          </a:bodyPr>
          <a:lstStyle>
            <a:lvl1pPr indent="-228600" lvl="0" marL="457200" algn="l">
              <a:lnSpc>
                <a:spcPct val="115000"/>
              </a:lnSpc>
              <a:spcBef>
                <a:spcPts val="360"/>
              </a:spcBef>
              <a:spcAft>
                <a:spcPts val="0"/>
              </a:spcAft>
              <a:buClr>
                <a:srgbClr val="A50000"/>
              </a:buClr>
              <a:buSzPts val="1800"/>
              <a:buNone/>
              <a:defRPr b="1" sz="1800">
                <a:solidFill>
                  <a:srgbClr val="A50000"/>
                </a:solidFill>
                <a:latin typeface="Arial"/>
                <a:ea typeface="Arial"/>
                <a:cs typeface="Arial"/>
                <a:sym typeface="Arial"/>
              </a:defRPr>
            </a:lvl1pPr>
            <a:lvl2pPr indent="-342900" lvl="1" marL="914400" algn="l">
              <a:lnSpc>
                <a:spcPct val="115000"/>
              </a:lnSpc>
              <a:spcBef>
                <a:spcPts val="360"/>
              </a:spcBef>
              <a:spcAft>
                <a:spcPts val="0"/>
              </a:spcAft>
              <a:buClr>
                <a:schemeClr val="dk1"/>
              </a:buClr>
              <a:buSzPts val="1800"/>
              <a:buChar char="○"/>
              <a:defRPr/>
            </a:lvl2pPr>
            <a:lvl3pPr indent="-342900" lvl="2" marL="1371600" algn="l">
              <a:lnSpc>
                <a:spcPct val="115000"/>
              </a:lnSpc>
              <a:spcBef>
                <a:spcPts val="360"/>
              </a:spcBef>
              <a:spcAft>
                <a:spcPts val="0"/>
              </a:spcAft>
              <a:buClr>
                <a:schemeClr val="dk1"/>
              </a:buClr>
              <a:buSzPts val="1800"/>
              <a:buChar char="■"/>
              <a:defRPr/>
            </a:lvl3pPr>
            <a:lvl4pPr indent="-342900" lvl="3" marL="1828800" algn="l">
              <a:lnSpc>
                <a:spcPct val="115000"/>
              </a:lnSpc>
              <a:spcBef>
                <a:spcPts val="360"/>
              </a:spcBef>
              <a:spcAft>
                <a:spcPts val="0"/>
              </a:spcAft>
              <a:buClr>
                <a:schemeClr val="dk1"/>
              </a:buClr>
              <a:buSzPts val="1800"/>
              <a:buChar char="●"/>
              <a:defRPr/>
            </a:lvl4pPr>
            <a:lvl5pPr indent="-342900" lvl="4" marL="2286000" algn="l">
              <a:lnSpc>
                <a:spcPct val="115000"/>
              </a:lnSpc>
              <a:spcBef>
                <a:spcPts val="360"/>
              </a:spcBef>
              <a:spcAft>
                <a:spcPts val="0"/>
              </a:spcAft>
              <a:buClr>
                <a:schemeClr val="dk1"/>
              </a:buClr>
              <a:buSzPts val="1800"/>
              <a:buChar char="○"/>
              <a:defRPr/>
            </a:lvl5pPr>
            <a:lvl6pPr indent="-342900" lvl="5" marL="2743200" algn="l">
              <a:lnSpc>
                <a:spcPct val="115000"/>
              </a:lnSpc>
              <a:spcBef>
                <a:spcPts val="360"/>
              </a:spcBef>
              <a:spcAft>
                <a:spcPts val="0"/>
              </a:spcAft>
              <a:buClr>
                <a:schemeClr val="dk1"/>
              </a:buClr>
              <a:buSzPts val="1800"/>
              <a:buChar char="■"/>
              <a:defRPr/>
            </a:lvl6pPr>
            <a:lvl7pPr indent="-342900" lvl="6" marL="3200400" algn="l">
              <a:lnSpc>
                <a:spcPct val="115000"/>
              </a:lnSpc>
              <a:spcBef>
                <a:spcPts val="1200"/>
              </a:spcBef>
              <a:spcAft>
                <a:spcPts val="0"/>
              </a:spcAft>
              <a:buClr>
                <a:schemeClr val="dk1"/>
              </a:buClr>
              <a:buSzPts val="1800"/>
              <a:buChar char="●"/>
              <a:defRPr/>
            </a:lvl7pPr>
            <a:lvl8pPr indent="-342900" lvl="7" marL="3657600" algn="l">
              <a:lnSpc>
                <a:spcPct val="115000"/>
              </a:lnSpc>
              <a:spcBef>
                <a:spcPts val="1200"/>
              </a:spcBef>
              <a:spcAft>
                <a:spcPts val="0"/>
              </a:spcAft>
              <a:buClr>
                <a:schemeClr val="dk1"/>
              </a:buClr>
              <a:buSzPts val="1800"/>
              <a:buChar char="○"/>
              <a:defRPr/>
            </a:lvl8pPr>
            <a:lvl9pPr indent="-342900" lvl="8" marL="4114800" algn="l">
              <a:lnSpc>
                <a:spcPct val="115000"/>
              </a:lnSpc>
              <a:spcBef>
                <a:spcPts val="1200"/>
              </a:spcBef>
              <a:spcAft>
                <a:spcPts val="1200"/>
              </a:spcAft>
              <a:buClr>
                <a:schemeClr val="dk1"/>
              </a:buClr>
              <a:buSzPts val="1800"/>
              <a:buChar char="■"/>
              <a:defRPr/>
            </a:lvl9pPr>
          </a:lstStyle>
          <a:p/>
        </p:txBody>
      </p:sp>
      <p:grpSp>
        <p:nvGrpSpPr>
          <p:cNvPr id="95" name="Google Shape;95;p20"/>
          <p:cNvGrpSpPr/>
          <p:nvPr/>
        </p:nvGrpSpPr>
        <p:grpSpPr>
          <a:xfrm>
            <a:off x="0" y="3903669"/>
            <a:ext cx="9144000" cy="1239925"/>
            <a:chOff x="0" y="3903669"/>
            <a:chExt cx="9144000" cy="1239925"/>
          </a:xfrm>
        </p:grpSpPr>
        <p:sp>
          <p:nvSpPr>
            <p:cNvPr id="96" name="Google Shape;96;p20"/>
            <p:cNvSpPr/>
            <p:nvPr/>
          </p:nvSpPr>
          <p:spPr>
            <a:xfrm>
              <a:off x="8154895" y="3903669"/>
              <a:ext cx="989100" cy="987900"/>
            </a:xfrm>
            <a:prstGeom prst="rtTriangle">
              <a:avLst/>
            </a:prstGeom>
            <a:solidFill>
              <a:srgbClr val="F3232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0"/>
            <p:cNvSpPr/>
            <p:nvPr/>
          </p:nvSpPr>
          <p:spPr>
            <a:xfrm flipH="1">
              <a:off x="6181163" y="3903669"/>
              <a:ext cx="989100" cy="987900"/>
            </a:xfrm>
            <a:prstGeom prst="rtTriangle">
              <a:avLst/>
            </a:prstGeom>
            <a:solidFill>
              <a:srgbClr val="F3232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0"/>
            <p:cNvSpPr/>
            <p:nvPr/>
          </p:nvSpPr>
          <p:spPr>
            <a:xfrm>
              <a:off x="7170274" y="3903669"/>
              <a:ext cx="989100" cy="987900"/>
            </a:xfrm>
            <a:prstGeom prst="rect">
              <a:avLst/>
            </a:prstGeom>
            <a:solidFill>
              <a:srgbClr val="CE20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20"/>
            <p:cNvSpPr/>
            <p:nvPr/>
          </p:nvSpPr>
          <p:spPr>
            <a:xfrm rot="10800000">
              <a:off x="8154757" y="3903682"/>
              <a:ext cx="989100" cy="987900"/>
            </a:xfrm>
            <a:prstGeom prst="rtTriangle">
              <a:avLst/>
            </a:prstGeom>
            <a:solidFill>
              <a:srgbClr val="A5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20"/>
            <p:cNvSpPr/>
            <p:nvPr/>
          </p:nvSpPr>
          <p:spPr>
            <a:xfrm>
              <a:off x="0" y="4891594"/>
              <a:ext cx="9144000" cy="252000"/>
            </a:xfrm>
            <a:prstGeom prst="rect">
              <a:avLst/>
            </a:prstGeom>
            <a:solidFill>
              <a:srgbClr val="A5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01" name="Google Shape;101;p20"/>
          <p:cNvPicPr preferRelativeResize="0"/>
          <p:nvPr/>
        </p:nvPicPr>
        <p:blipFill rotWithShape="1">
          <a:blip r:embed="rId2">
            <a:alphaModFix/>
          </a:blip>
          <a:srcRect b="0" l="0" r="0" t="0"/>
          <a:stretch/>
        </p:blipFill>
        <p:spPr>
          <a:xfrm>
            <a:off x="7391900" y="4045650"/>
            <a:ext cx="548699" cy="656892"/>
          </a:xfrm>
          <a:prstGeom prst="rect">
            <a:avLst/>
          </a:prstGeom>
          <a:noFill/>
          <a:ln>
            <a:noFill/>
          </a:ln>
        </p:spPr>
      </p:pic>
      <p:sp>
        <p:nvSpPr>
          <p:cNvPr id="102" name="Google Shape;102;p2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300" u="none" cap="none" strike="noStrike">
                <a:solidFill>
                  <a:srgbClr val="A5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300" u="none" cap="none" strike="noStrike">
                <a:solidFill>
                  <a:srgbClr val="A5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300" u="none" cap="none" strike="noStrike">
                <a:solidFill>
                  <a:srgbClr val="A5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300" u="none" cap="none" strike="noStrike">
                <a:solidFill>
                  <a:srgbClr val="A5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300" u="none" cap="none" strike="noStrike">
                <a:solidFill>
                  <a:srgbClr val="A5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300" u="none" cap="none" strike="noStrike">
                <a:solidFill>
                  <a:srgbClr val="A5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300" u="none" cap="none" strike="noStrike">
                <a:solidFill>
                  <a:srgbClr val="A5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300" u="none" cap="none" strike="noStrike">
                <a:solidFill>
                  <a:srgbClr val="A5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300" u="none" cap="none" strike="noStrike">
                <a:solidFill>
                  <a:srgbClr val="A5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A50000"/>
              </a:buClr>
              <a:buSzPts val="3000"/>
              <a:buFont typeface="Raleway"/>
              <a:buNone/>
              <a:defRPr b="0" i="0" sz="3000" u="none" cap="none" strike="noStrike">
                <a:solidFill>
                  <a:srgbClr val="A50000"/>
                </a:solidFill>
                <a:latin typeface="Raleway"/>
                <a:ea typeface="Raleway"/>
                <a:cs typeface="Raleway"/>
                <a:sym typeface="Raleway"/>
              </a:defRPr>
            </a:lvl1pPr>
            <a:lvl2pPr lvl="1" marR="0" rtl="0" algn="l">
              <a:lnSpc>
                <a:spcPct val="100000"/>
              </a:lnSpc>
              <a:spcBef>
                <a:spcPts val="0"/>
              </a:spcBef>
              <a:spcAft>
                <a:spcPts val="0"/>
              </a:spcAft>
              <a:buClr>
                <a:schemeClr val="dk1"/>
              </a:buClr>
              <a:buSzPts val="3000"/>
              <a:buFont typeface="Arial"/>
              <a:buNone/>
              <a:defRPr b="0" i="0" sz="30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000"/>
              <a:buFont typeface="Arial"/>
              <a:buNone/>
              <a:defRPr b="0" i="0" sz="30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000"/>
              <a:buFont typeface="Arial"/>
              <a:buNone/>
              <a:defRPr b="0" i="0" sz="30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000"/>
              <a:buFont typeface="Arial"/>
              <a:buNone/>
              <a:defRPr b="0" i="0" sz="30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000"/>
              <a:buFont typeface="Arial"/>
              <a:buNone/>
              <a:defRPr b="0" i="0" sz="30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000"/>
              <a:buFont typeface="Arial"/>
              <a:buNone/>
              <a:defRPr b="0" i="0" sz="30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000"/>
              <a:buFont typeface="Arial"/>
              <a:buNone/>
              <a:defRPr b="0" i="0" sz="30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000"/>
              <a:buFont typeface="Arial"/>
              <a:buNone/>
              <a:defRPr b="0" i="0" sz="3000" u="none" cap="none" strike="noStrike">
                <a:solidFill>
                  <a:schemeClr val="dk1"/>
                </a:solidFill>
                <a:latin typeface="Arial"/>
                <a:ea typeface="Arial"/>
                <a:cs typeface="Arial"/>
                <a:sym typeface="Arial"/>
              </a:defRPr>
            </a:lvl9pPr>
          </a:lstStyle>
          <a:p/>
        </p:txBody>
      </p:sp>
      <p:sp>
        <p:nvSpPr>
          <p:cNvPr id="11" name="Google Shape;11;p12"/>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aleway"/>
              <a:buChar char="●"/>
              <a:defRPr b="0" i="0" sz="1800" u="none" cap="none" strike="noStrike">
                <a:solidFill>
                  <a:schemeClr val="dk2"/>
                </a:solidFill>
                <a:latin typeface="Raleway"/>
                <a:ea typeface="Raleway"/>
                <a:cs typeface="Raleway"/>
                <a:sym typeface="Raleway"/>
              </a:defRPr>
            </a:lvl1pPr>
            <a:lvl2pPr indent="-317500" lvl="1" marL="914400" marR="0" rtl="0" algn="l">
              <a:lnSpc>
                <a:spcPct val="115000"/>
              </a:lnSpc>
              <a:spcBef>
                <a:spcPts val="0"/>
              </a:spcBef>
              <a:spcAft>
                <a:spcPts val="0"/>
              </a:spcAft>
              <a:buClr>
                <a:schemeClr val="dk2"/>
              </a:buClr>
              <a:buSzPts val="1400"/>
              <a:buFont typeface="Raleway"/>
              <a:buChar char="○"/>
              <a:defRPr b="0" i="0" sz="1400" u="none" cap="none" strike="noStrike">
                <a:solidFill>
                  <a:schemeClr val="dk2"/>
                </a:solidFill>
                <a:latin typeface="Raleway"/>
                <a:ea typeface="Raleway"/>
                <a:cs typeface="Raleway"/>
                <a:sym typeface="Raleway"/>
              </a:defRPr>
            </a:lvl2pPr>
            <a:lvl3pPr indent="-317500" lvl="2" marL="1371600" marR="0" rtl="0" algn="l">
              <a:lnSpc>
                <a:spcPct val="115000"/>
              </a:lnSpc>
              <a:spcBef>
                <a:spcPts val="0"/>
              </a:spcBef>
              <a:spcAft>
                <a:spcPts val="0"/>
              </a:spcAft>
              <a:buClr>
                <a:schemeClr val="dk2"/>
              </a:buClr>
              <a:buSzPts val="1400"/>
              <a:buFont typeface="Raleway"/>
              <a:buChar char="■"/>
              <a:defRPr b="0" i="0" sz="1400" u="none" cap="none" strike="noStrike">
                <a:solidFill>
                  <a:schemeClr val="dk2"/>
                </a:solidFill>
                <a:latin typeface="Raleway"/>
                <a:ea typeface="Raleway"/>
                <a:cs typeface="Raleway"/>
                <a:sym typeface="Raleway"/>
              </a:defRPr>
            </a:lvl3pPr>
            <a:lvl4pPr indent="-317500" lvl="3" marL="1828800" marR="0" rtl="0" algn="l">
              <a:lnSpc>
                <a:spcPct val="115000"/>
              </a:lnSpc>
              <a:spcBef>
                <a:spcPts val="0"/>
              </a:spcBef>
              <a:spcAft>
                <a:spcPts val="0"/>
              </a:spcAft>
              <a:buClr>
                <a:schemeClr val="dk2"/>
              </a:buClr>
              <a:buSzPts val="1400"/>
              <a:buFont typeface="Raleway"/>
              <a:buChar char="●"/>
              <a:defRPr b="0" i="0" sz="1400" u="none" cap="none" strike="noStrike">
                <a:solidFill>
                  <a:schemeClr val="dk2"/>
                </a:solidFill>
                <a:latin typeface="Raleway"/>
                <a:ea typeface="Raleway"/>
                <a:cs typeface="Raleway"/>
                <a:sym typeface="Raleway"/>
              </a:defRPr>
            </a:lvl4pPr>
            <a:lvl5pPr indent="-317500" lvl="4" marL="2286000" marR="0" rtl="0" algn="l">
              <a:lnSpc>
                <a:spcPct val="115000"/>
              </a:lnSpc>
              <a:spcBef>
                <a:spcPts val="0"/>
              </a:spcBef>
              <a:spcAft>
                <a:spcPts val="0"/>
              </a:spcAft>
              <a:buClr>
                <a:schemeClr val="dk2"/>
              </a:buClr>
              <a:buSzPts val="1400"/>
              <a:buFont typeface="Raleway"/>
              <a:buChar char="○"/>
              <a:defRPr b="0" i="0" sz="1400" u="none" cap="none" strike="noStrike">
                <a:solidFill>
                  <a:schemeClr val="dk2"/>
                </a:solidFill>
                <a:latin typeface="Raleway"/>
                <a:ea typeface="Raleway"/>
                <a:cs typeface="Raleway"/>
                <a:sym typeface="Raleway"/>
              </a:defRPr>
            </a:lvl5pPr>
            <a:lvl6pPr indent="-317500" lvl="5" marL="2743200" marR="0" rtl="0" algn="l">
              <a:lnSpc>
                <a:spcPct val="115000"/>
              </a:lnSpc>
              <a:spcBef>
                <a:spcPts val="0"/>
              </a:spcBef>
              <a:spcAft>
                <a:spcPts val="0"/>
              </a:spcAft>
              <a:buClr>
                <a:schemeClr val="dk2"/>
              </a:buClr>
              <a:buSzPts val="1400"/>
              <a:buFont typeface="Raleway"/>
              <a:buChar char="■"/>
              <a:defRPr b="0" i="0" sz="1400" u="none" cap="none" strike="noStrike">
                <a:solidFill>
                  <a:schemeClr val="dk2"/>
                </a:solidFill>
                <a:latin typeface="Raleway"/>
                <a:ea typeface="Raleway"/>
                <a:cs typeface="Raleway"/>
                <a:sym typeface="Raleway"/>
              </a:defRPr>
            </a:lvl6pPr>
            <a:lvl7pPr indent="-317500" lvl="6" marL="3200400" marR="0" rtl="0" algn="l">
              <a:lnSpc>
                <a:spcPct val="115000"/>
              </a:lnSpc>
              <a:spcBef>
                <a:spcPts val="0"/>
              </a:spcBef>
              <a:spcAft>
                <a:spcPts val="0"/>
              </a:spcAft>
              <a:buClr>
                <a:schemeClr val="dk2"/>
              </a:buClr>
              <a:buSzPts val="1400"/>
              <a:buFont typeface="Raleway"/>
              <a:buChar char="●"/>
              <a:defRPr b="0" i="0" sz="1400" u="none" cap="none" strike="noStrike">
                <a:solidFill>
                  <a:schemeClr val="dk2"/>
                </a:solidFill>
                <a:latin typeface="Raleway"/>
                <a:ea typeface="Raleway"/>
                <a:cs typeface="Raleway"/>
                <a:sym typeface="Raleway"/>
              </a:defRPr>
            </a:lvl7pPr>
            <a:lvl8pPr indent="-317500" lvl="7" marL="3657600" marR="0" rtl="0" algn="l">
              <a:lnSpc>
                <a:spcPct val="115000"/>
              </a:lnSpc>
              <a:spcBef>
                <a:spcPts val="0"/>
              </a:spcBef>
              <a:spcAft>
                <a:spcPts val="0"/>
              </a:spcAft>
              <a:buClr>
                <a:schemeClr val="dk2"/>
              </a:buClr>
              <a:buSzPts val="1400"/>
              <a:buFont typeface="Raleway"/>
              <a:buChar char="○"/>
              <a:defRPr b="0" i="0" sz="1400" u="none" cap="none" strike="noStrike">
                <a:solidFill>
                  <a:schemeClr val="dk2"/>
                </a:solidFill>
                <a:latin typeface="Raleway"/>
                <a:ea typeface="Raleway"/>
                <a:cs typeface="Raleway"/>
                <a:sym typeface="Raleway"/>
              </a:defRPr>
            </a:lvl8pPr>
            <a:lvl9pPr indent="-317500" lvl="8" marL="4114800" marR="0" rtl="0" algn="l">
              <a:lnSpc>
                <a:spcPct val="115000"/>
              </a:lnSpc>
              <a:spcBef>
                <a:spcPts val="0"/>
              </a:spcBef>
              <a:spcAft>
                <a:spcPts val="0"/>
              </a:spcAft>
              <a:buClr>
                <a:schemeClr val="dk2"/>
              </a:buClr>
              <a:buSzPts val="1400"/>
              <a:buFont typeface="Raleway"/>
              <a:buChar char="■"/>
              <a:defRPr b="0" i="0" sz="1400" u="none" cap="none" strike="noStrike">
                <a:solidFill>
                  <a:schemeClr val="dk2"/>
                </a:solidFill>
                <a:latin typeface="Raleway"/>
                <a:ea typeface="Raleway"/>
                <a:cs typeface="Raleway"/>
                <a:sym typeface="Raleway"/>
              </a:defRPr>
            </a:lvl9pPr>
          </a:lstStyle>
          <a:p/>
        </p:txBody>
      </p:sp>
      <p:sp>
        <p:nvSpPr>
          <p:cNvPr id="12" name="Google Shape;12;p1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2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3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3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26.jpg"/><Relationship Id="rId4" Type="http://schemas.openxmlformats.org/officeDocument/2006/relationships/image" Target="../media/image23.png"/><Relationship Id="rId5"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hyperlink" Target="https://youtube.com/shorts/SxaPog4d3mc?si=RUAmaacKPETWITf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24.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55.pn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29.png"/><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1.png"/><Relationship Id="rId4" Type="http://schemas.openxmlformats.org/officeDocument/2006/relationships/image" Target="../media/image66.png"/><Relationship Id="rId5"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1.png"/><Relationship Id="rId4" Type="http://schemas.openxmlformats.org/officeDocument/2006/relationships/image" Target="../media/image37.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9.png"/><Relationship Id="rId4" Type="http://schemas.openxmlformats.org/officeDocument/2006/relationships/image" Target="../media/image38.png"/><Relationship Id="rId5" Type="http://schemas.openxmlformats.org/officeDocument/2006/relationships/image" Target="../media/image5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6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9.png"/><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42.png"/><Relationship Id="rId4" Type="http://schemas.openxmlformats.org/officeDocument/2006/relationships/image" Target="../media/image5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image" Target="../media/image5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26.jpg"/><Relationship Id="rId4" Type="http://schemas.openxmlformats.org/officeDocument/2006/relationships/image" Target="../media/image1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5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6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5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7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6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64.png"/><Relationship Id="rId4" Type="http://schemas.openxmlformats.org/officeDocument/2006/relationships/image" Target="../media/image4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61.png"/><Relationship Id="rId4" Type="http://schemas.openxmlformats.org/officeDocument/2006/relationships/image" Target="../media/image5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5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54.png"/><Relationship Id="rId4" Type="http://schemas.openxmlformats.org/officeDocument/2006/relationships/image" Target="../media/image69.png"/><Relationship Id="rId5" Type="http://schemas.openxmlformats.org/officeDocument/2006/relationships/image" Target="../media/image57.png"/><Relationship Id="rId6" Type="http://schemas.openxmlformats.org/officeDocument/2006/relationships/image" Target="../media/image6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1.png"/><Relationship Id="rId4" Type="http://schemas.openxmlformats.org/officeDocument/2006/relationships/image" Target="../media/image3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6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60.png"/><Relationship Id="rId4"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
          <p:cNvSpPr txBox="1"/>
          <p:nvPr>
            <p:ph type="ctrTitle"/>
          </p:nvPr>
        </p:nvSpPr>
        <p:spPr>
          <a:xfrm>
            <a:off x="598100" y="615142"/>
            <a:ext cx="8222100" cy="1615896"/>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4200"/>
              <a:buNone/>
            </a:pPr>
            <a:r>
              <a:rPr b="1" lang="en-US" sz="2400">
                <a:latin typeface="Bell MT"/>
                <a:ea typeface="Bell MT"/>
                <a:cs typeface="Bell MT"/>
                <a:sym typeface="Bell MT"/>
              </a:rPr>
              <a:t>Integrated Modeling, Identification, </a:t>
            </a:r>
            <a:br>
              <a:rPr b="1" lang="en-US" sz="2400">
                <a:latin typeface="Bell MT"/>
                <a:ea typeface="Bell MT"/>
                <a:cs typeface="Bell MT"/>
                <a:sym typeface="Bell MT"/>
              </a:rPr>
            </a:br>
            <a:r>
              <a:rPr b="1" lang="en-US" sz="2400">
                <a:latin typeface="Bell MT"/>
                <a:ea typeface="Bell MT"/>
                <a:cs typeface="Bell MT"/>
                <a:sym typeface="Bell MT"/>
              </a:rPr>
              <a:t>and Control of Thermal and Mechanical Dynamics </a:t>
            </a:r>
            <a:br>
              <a:rPr b="1" lang="en-US" sz="2400">
                <a:latin typeface="Bell MT"/>
                <a:ea typeface="Bell MT"/>
                <a:cs typeface="Bell MT"/>
                <a:sym typeface="Bell MT"/>
              </a:rPr>
            </a:br>
            <a:r>
              <a:rPr b="1" lang="en-US" sz="2400">
                <a:latin typeface="Bell MT"/>
                <a:ea typeface="Bell MT"/>
                <a:cs typeface="Bell MT"/>
                <a:sym typeface="Bell MT"/>
              </a:rPr>
              <a:t>using </a:t>
            </a:r>
            <a:br>
              <a:rPr b="1" lang="en-US" sz="2400">
                <a:latin typeface="Bell MT"/>
                <a:ea typeface="Bell MT"/>
                <a:cs typeface="Bell MT"/>
                <a:sym typeface="Bell MT"/>
              </a:rPr>
            </a:br>
            <a:r>
              <a:rPr b="1" lang="en-US" sz="2400">
                <a:latin typeface="Bell MT"/>
                <a:ea typeface="Bell MT"/>
                <a:cs typeface="Bell MT"/>
                <a:sym typeface="Bell MT"/>
              </a:rPr>
              <a:t>Educational Control Platforms</a:t>
            </a:r>
            <a:endParaRPr sz="2400">
              <a:latin typeface="Bell MT"/>
              <a:ea typeface="Bell MT"/>
              <a:cs typeface="Bell MT"/>
              <a:sym typeface="Bell MT"/>
            </a:endParaRPr>
          </a:p>
        </p:txBody>
      </p:sp>
      <p:sp>
        <p:nvSpPr>
          <p:cNvPr id="109" name="Google Shape;109;p2"/>
          <p:cNvSpPr txBox="1"/>
          <p:nvPr>
            <p:ph idx="1" type="subTitle"/>
          </p:nvPr>
        </p:nvSpPr>
        <p:spPr>
          <a:xfrm>
            <a:off x="598088" y="3574473"/>
            <a:ext cx="8222100" cy="953884"/>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450"/>
              <a:buNone/>
            </a:pPr>
            <a:r>
              <a:rPr lang="en-US" sz="1225"/>
              <a:t>Presenter: David C. Johnson</a:t>
            </a:r>
            <a:endParaRPr sz="1225"/>
          </a:p>
          <a:p>
            <a:pPr indent="0" lvl="0" marL="0" rtl="0" algn="l">
              <a:lnSpc>
                <a:spcPct val="100000"/>
              </a:lnSpc>
              <a:spcBef>
                <a:spcPts val="0"/>
              </a:spcBef>
              <a:spcAft>
                <a:spcPts val="0"/>
              </a:spcAft>
              <a:buSzPts val="2100"/>
              <a:buNone/>
            </a:pPr>
            <a:r>
              <a:rPr lang="en-US" sz="1400"/>
              <a:t>Advisors: Dr. Lu, Dr. Imtiaz</a:t>
            </a:r>
            <a:endParaRPr/>
          </a:p>
          <a:p>
            <a:pPr indent="0" lvl="0" marL="0" rtl="0" algn="l">
              <a:lnSpc>
                <a:spcPct val="100000"/>
              </a:lnSpc>
              <a:spcBef>
                <a:spcPts val="0"/>
              </a:spcBef>
              <a:spcAft>
                <a:spcPts val="0"/>
              </a:spcAft>
              <a:buSzPts val="2100"/>
              <a:buNone/>
            </a:pPr>
            <a:r>
              <a:rPr lang="en-US" sz="1400"/>
              <a:t>Faculty Reviewer: Dr. Malinowski</a:t>
            </a:r>
            <a:endParaRPr/>
          </a:p>
          <a:p>
            <a:pPr indent="0" lvl="0" marL="0" rtl="0" algn="l">
              <a:lnSpc>
                <a:spcPct val="105000"/>
              </a:lnSpc>
              <a:spcBef>
                <a:spcPts val="0"/>
              </a:spcBef>
              <a:spcAft>
                <a:spcPts val="0"/>
              </a:spcAft>
              <a:buSzPts val="450"/>
              <a:buNone/>
            </a:pPr>
            <a:r>
              <a:rPr lang="en-US" sz="1225"/>
              <a:t>Department of Electrical and Computer Engineering, Caterpillar College of Engineering and Technology</a:t>
            </a:r>
            <a:endParaRPr sz="1225"/>
          </a:p>
        </p:txBody>
      </p:sp>
      <p:sp>
        <p:nvSpPr>
          <p:cNvPr id="110" name="Google Shape;110;p2"/>
          <p:cNvSpPr txBox="1"/>
          <p:nvPr/>
        </p:nvSpPr>
        <p:spPr>
          <a:xfrm>
            <a:off x="4101515" y="3640618"/>
            <a:ext cx="9438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aleway"/>
                <a:ea typeface="Raleway"/>
                <a:cs typeface="Raleway"/>
                <a:sym typeface="Raleway"/>
              </a:rPr>
              <a:t>4/06/2026</a:t>
            </a:r>
            <a:endParaRPr b="0" i="0" sz="1000" u="none" cap="none" strike="noStrike">
              <a:solidFill>
                <a:schemeClr val="lt1"/>
              </a:solidFill>
              <a:latin typeface="Raleway"/>
              <a:ea typeface="Raleway"/>
              <a:cs typeface="Raleway"/>
              <a:sym typeface="Raleway"/>
            </a:endParaRPr>
          </a:p>
        </p:txBody>
      </p:sp>
      <p:sp>
        <p:nvSpPr>
          <p:cNvPr id="111" name="Google Shape;111;p2"/>
          <p:cNvSpPr txBox="1"/>
          <p:nvPr>
            <p:ph idx="12" type="sldNum"/>
          </p:nvPr>
        </p:nvSpPr>
        <p:spPr>
          <a:xfrm>
            <a:off x="8595306" y="-1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112" name="Google Shape;112;p2"/>
          <p:cNvPicPr preferRelativeResize="0"/>
          <p:nvPr/>
        </p:nvPicPr>
        <p:blipFill rotWithShape="1">
          <a:blip r:embed="rId3">
            <a:alphaModFix/>
          </a:blip>
          <a:srcRect b="0" l="0" r="0" t="0"/>
          <a:stretch/>
        </p:blipFill>
        <p:spPr>
          <a:xfrm>
            <a:off x="2921645" y="2194072"/>
            <a:ext cx="2044031" cy="1342648"/>
          </a:xfrm>
          <a:prstGeom prst="rect">
            <a:avLst/>
          </a:prstGeom>
          <a:noFill/>
          <a:ln>
            <a:noFill/>
          </a:ln>
        </p:spPr>
      </p:pic>
      <p:pic>
        <p:nvPicPr>
          <p:cNvPr descr="Qube-Servo 2 - Quanser" id="113" name="Google Shape;113;p2"/>
          <p:cNvPicPr preferRelativeResize="0"/>
          <p:nvPr/>
        </p:nvPicPr>
        <p:blipFill rotWithShape="1">
          <a:blip r:embed="rId4">
            <a:alphaModFix/>
          </a:blip>
          <a:srcRect b="3" l="2794" r="3" t="0"/>
          <a:stretch/>
        </p:blipFill>
        <p:spPr>
          <a:xfrm>
            <a:off x="5045435" y="2162511"/>
            <a:ext cx="1051560" cy="1405771"/>
          </a:xfrm>
          <a:prstGeom prst="rect">
            <a:avLst/>
          </a:prstGeom>
          <a:solidFill>
            <a:srgbClr val="FFFFFF"/>
          </a:solid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1250f1d3c68_1_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US"/>
              <a:t>Outline</a:t>
            </a:r>
            <a:br>
              <a:rPr lang="en-US"/>
            </a:br>
            <a:endParaRPr/>
          </a:p>
        </p:txBody>
      </p:sp>
      <p:sp>
        <p:nvSpPr>
          <p:cNvPr id="120" name="Google Shape;120;g1250f1d3c68_1_1"/>
          <p:cNvSpPr txBox="1"/>
          <p:nvPr>
            <p:ph idx="1" type="body"/>
          </p:nvPr>
        </p:nvSpPr>
        <p:spPr>
          <a:xfrm>
            <a:off x="311700" y="1587347"/>
            <a:ext cx="4520700" cy="2806800"/>
          </a:xfrm>
          <a:prstGeom prst="rect">
            <a:avLst/>
          </a:prstGeom>
          <a:noFill/>
          <a:ln>
            <a:noFill/>
          </a:ln>
        </p:spPr>
        <p:txBody>
          <a:bodyPr anchorCtr="0" anchor="t" bIns="91425" lIns="91425" spcFirstLastPara="1" rIns="91425" wrap="square" tIns="91425">
            <a:normAutofit lnSpcReduction="10000"/>
          </a:bodyPr>
          <a:lstStyle/>
          <a:p>
            <a:pPr indent="0" lvl="0" marL="139700" rtl="0" algn="l">
              <a:lnSpc>
                <a:spcPct val="115000"/>
              </a:lnSpc>
              <a:spcBef>
                <a:spcPts val="0"/>
              </a:spcBef>
              <a:spcAft>
                <a:spcPts val="0"/>
              </a:spcAft>
              <a:buSzPts val="1400"/>
              <a:buNone/>
            </a:pPr>
            <a:r>
              <a:rPr b="1" lang="en-US" sz="1600"/>
              <a:t>Part1: TCLab-Temperature Control</a:t>
            </a:r>
            <a:endParaRPr sz="1600"/>
          </a:p>
          <a:p>
            <a:pPr indent="-330200" lvl="0" marL="457200" rtl="0" algn="l">
              <a:lnSpc>
                <a:spcPct val="115000"/>
              </a:lnSpc>
              <a:spcBef>
                <a:spcPts val="0"/>
              </a:spcBef>
              <a:spcAft>
                <a:spcPts val="0"/>
              </a:spcAft>
              <a:buSzPts val="1600"/>
              <a:buChar char="●"/>
            </a:pPr>
            <a:r>
              <a:rPr lang="en-US" sz="1600"/>
              <a:t>The TCLab System Description</a:t>
            </a:r>
            <a:endParaRPr sz="1600"/>
          </a:p>
          <a:p>
            <a:pPr indent="-330200" lvl="0" marL="457200" rtl="0" algn="l">
              <a:lnSpc>
                <a:spcPct val="115000"/>
              </a:lnSpc>
              <a:spcBef>
                <a:spcPts val="0"/>
              </a:spcBef>
              <a:spcAft>
                <a:spcPts val="0"/>
              </a:spcAft>
              <a:buSzPts val="1600"/>
              <a:buChar char="●"/>
            </a:pPr>
            <a:r>
              <a:rPr lang="en-US" sz="1600"/>
              <a:t>Open-Loop Modeling: Step Response    Experiment </a:t>
            </a:r>
            <a:endParaRPr sz="1600"/>
          </a:p>
          <a:p>
            <a:pPr indent="-330200" lvl="0" marL="457200" rtl="0" algn="l">
              <a:lnSpc>
                <a:spcPct val="115000"/>
              </a:lnSpc>
              <a:spcBef>
                <a:spcPts val="0"/>
              </a:spcBef>
              <a:spcAft>
                <a:spcPts val="0"/>
              </a:spcAft>
              <a:buSzPts val="1600"/>
              <a:buChar char="●"/>
            </a:pPr>
            <a:r>
              <a:rPr lang="en-US" sz="1600"/>
              <a:t>Closed-Loop Modeling</a:t>
            </a:r>
            <a:endParaRPr sz="1600"/>
          </a:p>
          <a:p>
            <a:pPr indent="-330200" lvl="0" marL="457200" rtl="0" algn="l">
              <a:lnSpc>
                <a:spcPct val="115000"/>
              </a:lnSpc>
              <a:spcBef>
                <a:spcPts val="0"/>
              </a:spcBef>
              <a:spcAft>
                <a:spcPts val="0"/>
              </a:spcAft>
              <a:buSzPts val="1600"/>
              <a:buChar char="●"/>
            </a:pPr>
            <a:r>
              <a:rPr lang="en-US" sz="1600"/>
              <a:t>Model Validation</a:t>
            </a:r>
            <a:endParaRPr sz="1600"/>
          </a:p>
          <a:p>
            <a:pPr indent="-330200" lvl="0" marL="457200" rtl="0" algn="l">
              <a:lnSpc>
                <a:spcPct val="115000"/>
              </a:lnSpc>
              <a:spcBef>
                <a:spcPts val="0"/>
              </a:spcBef>
              <a:spcAft>
                <a:spcPts val="0"/>
              </a:spcAft>
              <a:buSzPts val="1600"/>
              <a:buChar char="●"/>
            </a:pPr>
            <a:r>
              <a:rPr lang="en-US" sz="1600"/>
              <a:t>Controller Design</a:t>
            </a:r>
            <a:endParaRPr sz="1600"/>
          </a:p>
          <a:p>
            <a:pPr indent="-330200" lvl="0" marL="457200" rtl="0" algn="l">
              <a:lnSpc>
                <a:spcPct val="115000"/>
              </a:lnSpc>
              <a:spcBef>
                <a:spcPts val="0"/>
              </a:spcBef>
              <a:spcAft>
                <a:spcPts val="0"/>
              </a:spcAft>
              <a:buSzPts val="1600"/>
              <a:buChar char="●"/>
            </a:pPr>
            <a:r>
              <a:rPr lang="en-US" sz="1600"/>
              <a:t>PID Control Design, Data, and Plots</a:t>
            </a:r>
            <a:endParaRPr sz="1600"/>
          </a:p>
          <a:p>
            <a:pPr indent="-317500" lvl="0" marL="457200" rtl="0" algn="l">
              <a:lnSpc>
                <a:spcPct val="115000"/>
              </a:lnSpc>
              <a:spcBef>
                <a:spcPts val="0"/>
              </a:spcBef>
              <a:spcAft>
                <a:spcPts val="0"/>
              </a:spcAft>
              <a:buSzPts val="1400"/>
              <a:buChar char="●"/>
            </a:pPr>
            <a:r>
              <a:rPr lang="en-US" sz="1600"/>
              <a:t>Conclusion</a:t>
            </a:r>
            <a:br>
              <a:rPr lang="en-US"/>
            </a:br>
            <a:endParaRPr/>
          </a:p>
        </p:txBody>
      </p:sp>
      <p:sp>
        <p:nvSpPr>
          <p:cNvPr id="121" name="Google Shape;121;g1250f1d3c68_1_1"/>
          <p:cNvSpPr txBox="1"/>
          <p:nvPr>
            <p:ph idx="2" type="body"/>
          </p:nvPr>
        </p:nvSpPr>
        <p:spPr>
          <a:xfrm>
            <a:off x="5004125" y="1587347"/>
            <a:ext cx="3999900" cy="2806800"/>
          </a:xfrm>
          <a:prstGeom prst="rect">
            <a:avLst/>
          </a:prstGeom>
          <a:noFill/>
          <a:ln>
            <a:noFill/>
          </a:ln>
        </p:spPr>
        <p:txBody>
          <a:bodyPr anchorCtr="0" anchor="t" bIns="91425" lIns="91425" spcFirstLastPara="1" rIns="91425" wrap="square" tIns="91425">
            <a:normAutofit/>
          </a:bodyPr>
          <a:lstStyle/>
          <a:p>
            <a:pPr indent="0" lvl="0" marL="139700" rtl="0" algn="l">
              <a:lnSpc>
                <a:spcPct val="115000"/>
              </a:lnSpc>
              <a:spcBef>
                <a:spcPts val="0"/>
              </a:spcBef>
              <a:spcAft>
                <a:spcPts val="0"/>
              </a:spcAft>
              <a:buSzPts val="1400"/>
              <a:buNone/>
            </a:pPr>
            <a:r>
              <a:rPr b="1" lang="en-US" sz="1600"/>
              <a:t>Part 2: Quanser Qube Servo2</a:t>
            </a:r>
            <a:endParaRPr sz="1600"/>
          </a:p>
          <a:p>
            <a:pPr indent="-330200" lvl="0" marL="457200" rtl="0" algn="l">
              <a:lnSpc>
                <a:spcPct val="115000"/>
              </a:lnSpc>
              <a:spcBef>
                <a:spcPts val="0"/>
              </a:spcBef>
              <a:spcAft>
                <a:spcPts val="0"/>
              </a:spcAft>
              <a:buSzPts val="1600"/>
              <a:buChar char="●"/>
            </a:pPr>
            <a:r>
              <a:rPr lang="en-US" sz="1600"/>
              <a:t>Quanser Lab Description </a:t>
            </a:r>
            <a:endParaRPr sz="1600"/>
          </a:p>
          <a:p>
            <a:pPr indent="-330200" lvl="0" marL="457200" rtl="0" algn="l">
              <a:lnSpc>
                <a:spcPct val="115000"/>
              </a:lnSpc>
              <a:spcBef>
                <a:spcPts val="0"/>
              </a:spcBef>
              <a:spcAft>
                <a:spcPts val="0"/>
              </a:spcAft>
              <a:buSzPts val="1600"/>
              <a:buChar char="●"/>
            </a:pPr>
            <a:r>
              <a:rPr lang="en-US" sz="1600"/>
              <a:t>Interfacing/Filtering</a:t>
            </a:r>
            <a:endParaRPr sz="1600"/>
          </a:p>
          <a:p>
            <a:pPr indent="-330200" lvl="0" marL="457200" rtl="0" algn="l">
              <a:lnSpc>
                <a:spcPct val="115000"/>
              </a:lnSpc>
              <a:spcBef>
                <a:spcPts val="0"/>
              </a:spcBef>
              <a:spcAft>
                <a:spcPts val="0"/>
              </a:spcAft>
              <a:buSzPts val="1600"/>
              <a:buChar char="●"/>
            </a:pPr>
            <a:r>
              <a:rPr lang="en-US" sz="1600"/>
              <a:t>PID Control Design</a:t>
            </a:r>
            <a:endParaRPr sz="1600"/>
          </a:p>
          <a:p>
            <a:pPr indent="-330200" lvl="0" marL="457200" rtl="0" algn="l">
              <a:lnSpc>
                <a:spcPct val="115000"/>
              </a:lnSpc>
              <a:spcBef>
                <a:spcPts val="0"/>
              </a:spcBef>
              <a:spcAft>
                <a:spcPts val="0"/>
              </a:spcAft>
              <a:buSzPts val="1600"/>
              <a:buChar char="●"/>
            </a:pPr>
            <a:r>
              <a:rPr lang="en-US" sz="1600"/>
              <a:t>Stability</a:t>
            </a:r>
            <a:endParaRPr sz="1600"/>
          </a:p>
          <a:p>
            <a:pPr indent="-330200" lvl="0" marL="457200" rtl="0" algn="l">
              <a:lnSpc>
                <a:spcPct val="115000"/>
              </a:lnSpc>
              <a:spcBef>
                <a:spcPts val="0"/>
              </a:spcBef>
              <a:spcAft>
                <a:spcPts val="0"/>
              </a:spcAft>
              <a:buSzPts val="1600"/>
              <a:buChar char="●"/>
            </a:pPr>
            <a:r>
              <a:rPr lang="en-US" sz="1600"/>
              <a:t>Swing UP Energy Control Model</a:t>
            </a:r>
            <a:endParaRPr/>
          </a:p>
          <a:p>
            <a:pPr indent="-330200" lvl="0" marL="457200" rtl="0" algn="l">
              <a:lnSpc>
                <a:spcPct val="115000"/>
              </a:lnSpc>
              <a:spcBef>
                <a:spcPts val="0"/>
              </a:spcBef>
              <a:spcAft>
                <a:spcPts val="0"/>
              </a:spcAft>
              <a:buSzPts val="1600"/>
              <a:buChar char="●"/>
            </a:pPr>
            <a:r>
              <a:rPr lang="en-US" sz="1600"/>
              <a:t>PID Control Design, Data, and Plots</a:t>
            </a:r>
            <a:endParaRPr sz="1600"/>
          </a:p>
          <a:p>
            <a:pPr indent="-330200" lvl="0" marL="457200" rtl="0" algn="l">
              <a:lnSpc>
                <a:spcPct val="115000"/>
              </a:lnSpc>
              <a:spcBef>
                <a:spcPts val="0"/>
              </a:spcBef>
              <a:spcAft>
                <a:spcPts val="0"/>
              </a:spcAft>
              <a:buSzPts val="1600"/>
              <a:buChar char="●"/>
            </a:pPr>
            <a:r>
              <a:rPr lang="en-US" sz="1600"/>
              <a:t>Controller Design</a:t>
            </a:r>
            <a:endParaRPr sz="1600"/>
          </a:p>
          <a:p>
            <a:pPr indent="-330200" lvl="0" marL="457200" rtl="0" algn="l">
              <a:lnSpc>
                <a:spcPct val="115000"/>
              </a:lnSpc>
              <a:spcBef>
                <a:spcPts val="0"/>
              </a:spcBef>
              <a:spcAft>
                <a:spcPts val="0"/>
              </a:spcAft>
              <a:buSzPts val="1600"/>
              <a:buChar char="●"/>
            </a:pPr>
            <a:r>
              <a:rPr lang="en-US" sz="1600"/>
              <a:t>Conclusion</a:t>
            </a:r>
            <a:endParaRPr sz="1600"/>
          </a:p>
          <a:p>
            <a:pPr indent="0" lvl="0" marL="0" rtl="0" algn="l">
              <a:lnSpc>
                <a:spcPct val="115000"/>
              </a:lnSpc>
              <a:spcBef>
                <a:spcPts val="0"/>
              </a:spcBef>
              <a:spcAft>
                <a:spcPts val="0"/>
              </a:spcAft>
              <a:buSzPts val="1400"/>
              <a:buNone/>
            </a:pPr>
            <a:r>
              <a:t/>
            </a:r>
            <a:endParaRPr/>
          </a:p>
        </p:txBody>
      </p:sp>
      <p:sp>
        <p:nvSpPr>
          <p:cNvPr id="122" name="Google Shape;122;g1250f1d3c68_1_1"/>
          <p:cNvSpPr txBox="1"/>
          <p:nvPr>
            <p:ph idx="12" type="sldNum"/>
          </p:nvPr>
        </p:nvSpPr>
        <p:spPr>
          <a:xfrm>
            <a:off x="8595306" y="-1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
        <p:nvSpPr>
          <p:cNvPr id="123" name="Google Shape;123;g1250f1d3c68_1_1"/>
          <p:cNvSpPr txBox="1"/>
          <p:nvPr/>
        </p:nvSpPr>
        <p:spPr>
          <a:xfrm>
            <a:off x="935400" y="1017800"/>
            <a:ext cx="7511100" cy="628200"/>
          </a:xfrm>
          <a:prstGeom prst="rect">
            <a:avLst/>
          </a:prstGeom>
          <a:noFill/>
          <a:ln>
            <a:noFill/>
          </a:ln>
        </p:spPr>
        <p:txBody>
          <a:bodyPr anchorCtr="0" anchor="t" bIns="91425" lIns="91425" spcFirstLastPara="1" rIns="91425" wrap="square" tIns="91425">
            <a:normAutofit fontScale="92500"/>
          </a:bodyPr>
          <a:lstStyle/>
          <a:p>
            <a:pPr indent="0" lvl="0" marL="139700" marR="0" rtl="0" algn="l">
              <a:lnSpc>
                <a:spcPct val="115000"/>
              </a:lnSpc>
              <a:spcBef>
                <a:spcPts val="0"/>
              </a:spcBef>
              <a:spcAft>
                <a:spcPts val="0"/>
              </a:spcAft>
              <a:buClr>
                <a:schemeClr val="dk2"/>
              </a:buClr>
              <a:buSzPct val="82353"/>
              <a:buFont typeface="Raleway"/>
              <a:buNone/>
            </a:pPr>
            <a:r>
              <a:rPr b="1" i="0" lang="en-US" sz="1700" u="none" cap="none" strike="noStrike">
                <a:solidFill>
                  <a:schemeClr val="dk2"/>
                </a:solidFill>
                <a:latin typeface="Raleway"/>
                <a:ea typeface="Raleway"/>
                <a:cs typeface="Raleway"/>
                <a:sym typeface="Raleway"/>
              </a:rPr>
              <a:t>Happy Accident gave rise to Learning about Control Systems via TCLab</a:t>
            </a:r>
            <a:r>
              <a:rPr b="0" i="0" lang="en-US" sz="1400" u="none" cap="none" strike="noStrike">
                <a:solidFill>
                  <a:schemeClr val="dk2"/>
                </a:solidFill>
                <a:latin typeface="Raleway"/>
                <a:ea typeface="Raleway"/>
                <a:cs typeface="Raleway"/>
                <a:sym typeface="Raleway"/>
              </a:rPr>
              <a:t> </a:t>
            </a:r>
            <a:endParaRPr b="0" i="0" sz="1400" u="none" cap="none" strike="noStrike">
              <a:solidFill>
                <a:schemeClr val="dk2"/>
              </a:solidFill>
              <a:latin typeface="Raleway"/>
              <a:ea typeface="Raleway"/>
              <a:cs typeface="Raleway"/>
              <a:sym typeface="Ralew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US"/>
              <a:t>Introduction</a:t>
            </a:r>
            <a:endParaRPr/>
          </a:p>
        </p:txBody>
      </p:sp>
      <p:sp>
        <p:nvSpPr>
          <p:cNvPr id="130" name="Google Shape;130;p3"/>
          <p:cNvSpPr txBox="1"/>
          <p:nvPr>
            <p:ph idx="1" type="body"/>
          </p:nvPr>
        </p:nvSpPr>
        <p:spPr>
          <a:xfrm>
            <a:off x="311700" y="1017800"/>
            <a:ext cx="8428200" cy="3329700"/>
          </a:xfrm>
          <a:prstGeom prst="rect">
            <a:avLst/>
          </a:prstGeom>
          <a:noFill/>
          <a:ln>
            <a:noFill/>
          </a:ln>
        </p:spPr>
        <p:txBody>
          <a:bodyPr anchorCtr="0" anchor="t" bIns="91425" lIns="91425" spcFirstLastPara="1" rIns="91425" wrap="square" tIns="91425">
            <a:noAutofit/>
          </a:bodyPr>
          <a:lstStyle/>
          <a:p>
            <a:pPr indent="0" lvl="0" marL="139700" rtl="0" algn="l">
              <a:lnSpc>
                <a:spcPct val="105000"/>
              </a:lnSpc>
              <a:spcBef>
                <a:spcPts val="0"/>
              </a:spcBef>
              <a:spcAft>
                <a:spcPts val="0"/>
              </a:spcAft>
              <a:buSzPts val="1400"/>
              <a:buNone/>
            </a:pPr>
            <a:r>
              <a:rPr b="1" lang="en-US" sz="1800"/>
              <a:t>Motivation</a:t>
            </a:r>
            <a:endParaRPr sz="1600"/>
          </a:p>
          <a:p>
            <a:pPr indent="0" lvl="0" marL="139700" rtl="0" algn="l">
              <a:lnSpc>
                <a:spcPct val="105000"/>
              </a:lnSpc>
              <a:spcBef>
                <a:spcPts val="0"/>
              </a:spcBef>
              <a:spcAft>
                <a:spcPts val="0"/>
              </a:spcAft>
              <a:buSzPts val="1400"/>
              <a:buNone/>
            </a:pPr>
            <a:r>
              <a:rPr lang="en-US" sz="1800"/>
              <a:t>• Feedback systems regulate physical processes: integrating the following two experimental platforms (as seen below).</a:t>
            </a:r>
            <a:endParaRPr sz="1600"/>
          </a:p>
          <a:p>
            <a:pPr indent="0" lvl="0" marL="139700" rtl="0" algn="l">
              <a:lnSpc>
                <a:spcPct val="105000"/>
              </a:lnSpc>
              <a:spcBef>
                <a:spcPts val="0"/>
              </a:spcBef>
              <a:spcAft>
                <a:spcPts val="0"/>
              </a:spcAft>
              <a:buSzPts val="1400"/>
              <a:buNone/>
            </a:pPr>
            <a:r>
              <a:t/>
            </a:r>
            <a:endParaRPr sz="1800"/>
          </a:p>
          <a:p>
            <a:pPr indent="0" lvl="0" marL="139700" rtl="0" algn="l">
              <a:lnSpc>
                <a:spcPct val="105000"/>
              </a:lnSpc>
              <a:spcBef>
                <a:spcPts val="0"/>
              </a:spcBef>
              <a:spcAft>
                <a:spcPts val="0"/>
              </a:spcAft>
              <a:buSzPts val="1400"/>
              <a:buNone/>
            </a:pPr>
            <a:r>
              <a:rPr b="1" lang="en-US" sz="1800"/>
              <a:t>Two experimental platforms used:</a:t>
            </a:r>
            <a:endParaRPr sz="1600"/>
          </a:p>
          <a:p>
            <a:pPr indent="0" lvl="0" marL="139700" rtl="0" algn="l">
              <a:lnSpc>
                <a:spcPct val="105000"/>
              </a:lnSpc>
              <a:spcBef>
                <a:spcPts val="0"/>
              </a:spcBef>
              <a:spcAft>
                <a:spcPts val="0"/>
              </a:spcAft>
              <a:buSzPts val="1400"/>
              <a:buNone/>
            </a:pPr>
            <a:r>
              <a:t/>
            </a:r>
            <a:endParaRPr sz="1800"/>
          </a:p>
          <a:p>
            <a:pPr indent="0" lvl="0" marL="139700" rtl="0" algn="l">
              <a:lnSpc>
                <a:spcPct val="105000"/>
              </a:lnSpc>
              <a:spcBef>
                <a:spcPts val="0"/>
              </a:spcBef>
              <a:spcAft>
                <a:spcPts val="0"/>
              </a:spcAft>
              <a:buSzPts val="1400"/>
              <a:buNone/>
            </a:pPr>
            <a:r>
              <a:rPr lang="en-US" sz="1800"/>
              <a:t>Thermal system (TCLab)</a:t>
            </a:r>
            <a:endParaRPr sz="1600"/>
          </a:p>
          <a:p>
            <a:pPr indent="0" lvl="0" marL="139700" rtl="0" algn="l">
              <a:lnSpc>
                <a:spcPct val="105000"/>
              </a:lnSpc>
              <a:spcBef>
                <a:spcPts val="0"/>
              </a:spcBef>
              <a:spcAft>
                <a:spcPts val="0"/>
              </a:spcAft>
              <a:buSzPts val="1400"/>
              <a:buNone/>
            </a:pPr>
            <a:r>
              <a:rPr lang="en-US" sz="1800"/>
              <a:t>• Slow first-order dynamics</a:t>
            </a:r>
            <a:endParaRPr sz="1600"/>
          </a:p>
          <a:p>
            <a:pPr indent="0" lvl="0" marL="139700" rtl="0" algn="l">
              <a:lnSpc>
                <a:spcPct val="105000"/>
              </a:lnSpc>
              <a:spcBef>
                <a:spcPts val="0"/>
              </a:spcBef>
              <a:spcAft>
                <a:spcPts val="0"/>
              </a:spcAft>
              <a:buSzPts val="1400"/>
              <a:buNone/>
            </a:pPr>
            <a:r>
              <a:t/>
            </a:r>
            <a:endParaRPr sz="1800"/>
          </a:p>
          <a:p>
            <a:pPr indent="0" lvl="0" marL="139700" rtl="0" algn="l">
              <a:lnSpc>
                <a:spcPct val="105000"/>
              </a:lnSpc>
              <a:spcBef>
                <a:spcPts val="0"/>
              </a:spcBef>
              <a:spcAft>
                <a:spcPts val="0"/>
              </a:spcAft>
              <a:buSzPts val="1400"/>
              <a:buNone/>
            </a:pPr>
            <a:r>
              <a:rPr lang="en-US" sz="1800"/>
              <a:t>Electromechanical system (QUBE Servo 2)</a:t>
            </a:r>
            <a:endParaRPr sz="1600"/>
          </a:p>
          <a:p>
            <a:pPr indent="0" lvl="0" marL="139700" rtl="0" algn="l">
              <a:lnSpc>
                <a:spcPct val="105000"/>
              </a:lnSpc>
              <a:spcBef>
                <a:spcPts val="0"/>
              </a:spcBef>
              <a:spcAft>
                <a:spcPts val="0"/>
              </a:spcAft>
              <a:buSzPts val="1400"/>
              <a:buNone/>
            </a:pPr>
            <a:r>
              <a:rPr lang="en-US" sz="1800"/>
              <a:t>• Fast nonlinear dynamics</a:t>
            </a:r>
            <a:endParaRPr sz="1600"/>
          </a:p>
        </p:txBody>
      </p:sp>
      <p:sp>
        <p:nvSpPr>
          <p:cNvPr id="131" name="Google Shape;131;p3"/>
          <p:cNvSpPr txBox="1"/>
          <p:nvPr>
            <p:ph idx="12" type="sldNum"/>
          </p:nvPr>
        </p:nvSpPr>
        <p:spPr>
          <a:xfrm>
            <a:off x="8595306" y="-1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
          <p:cNvSpPr txBox="1"/>
          <p:nvPr>
            <p:ph type="title"/>
          </p:nvPr>
        </p:nvSpPr>
        <p:spPr>
          <a:xfrm>
            <a:off x="457200" y="66425"/>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000"/>
              <a:buNone/>
            </a:pPr>
            <a:r>
              <a:rPr lang="en-US"/>
              <a:t>Purpose</a:t>
            </a:r>
            <a:endParaRPr/>
          </a:p>
        </p:txBody>
      </p:sp>
      <p:sp>
        <p:nvSpPr>
          <p:cNvPr id="138" name="Google Shape;138;p1"/>
          <p:cNvSpPr txBox="1"/>
          <p:nvPr>
            <p:ph idx="1" type="body"/>
          </p:nvPr>
        </p:nvSpPr>
        <p:spPr>
          <a:xfrm>
            <a:off x="305575" y="806400"/>
            <a:ext cx="8229600" cy="35307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360"/>
              </a:spcBef>
              <a:spcAft>
                <a:spcPts val="0"/>
              </a:spcAft>
              <a:buSzPts val="1800"/>
              <a:buChar char="●"/>
            </a:pPr>
            <a:r>
              <a:rPr b="1" lang="en-US" sz="1600"/>
              <a:t>The TCLab ©</a:t>
            </a:r>
            <a:r>
              <a:rPr lang="en-US" sz="1600"/>
              <a:t> technology as an </a:t>
            </a:r>
            <a:r>
              <a:rPr b="1" lang="en-US" sz="1600"/>
              <a:t>educational platform </a:t>
            </a:r>
            <a:endParaRPr sz="1600"/>
          </a:p>
          <a:p>
            <a:pPr indent="-342900" lvl="0" marL="457200" rtl="0" algn="l">
              <a:lnSpc>
                <a:spcPct val="115000"/>
              </a:lnSpc>
              <a:spcBef>
                <a:spcPts val="360"/>
              </a:spcBef>
              <a:spcAft>
                <a:spcPts val="0"/>
              </a:spcAft>
              <a:buSzPts val="1800"/>
              <a:buChar char="●"/>
            </a:pPr>
            <a:r>
              <a:rPr lang="en-US" sz="1600"/>
              <a:t>Used to illustrate </a:t>
            </a:r>
            <a:r>
              <a:rPr b="1" lang="en-US" sz="1600"/>
              <a:t>modeling of a control system pertaining to temperature</a:t>
            </a:r>
            <a:r>
              <a:rPr lang="en-US" sz="1600"/>
              <a:t>.  </a:t>
            </a:r>
            <a:endParaRPr/>
          </a:p>
          <a:p>
            <a:pPr indent="-342900" lvl="0" marL="457200" rtl="0" algn="l">
              <a:lnSpc>
                <a:spcPct val="115000"/>
              </a:lnSpc>
              <a:spcBef>
                <a:spcPts val="360"/>
              </a:spcBef>
              <a:spcAft>
                <a:spcPts val="0"/>
              </a:spcAft>
              <a:buSzPts val="1800"/>
              <a:buChar char="●"/>
            </a:pPr>
            <a:r>
              <a:rPr lang="en-US" sz="1600"/>
              <a:t>The</a:t>
            </a:r>
            <a:r>
              <a:rPr b="1" lang="en-US" sz="1600"/>
              <a:t> factors</a:t>
            </a:r>
            <a:r>
              <a:rPr lang="en-US" sz="1600"/>
              <a:t>: convection, conduction, and radiation discussed</a:t>
            </a:r>
            <a:endParaRPr/>
          </a:p>
          <a:p>
            <a:pPr indent="-342900" lvl="0" marL="457200" rtl="0" algn="l">
              <a:lnSpc>
                <a:spcPct val="115000"/>
              </a:lnSpc>
              <a:spcBef>
                <a:spcPts val="360"/>
              </a:spcBef>
              <a:spcAft>
                <a:spcPts val="0"/>
              </a:spcAft>
              <a:buSzPts val="1800"/>
              <a:buChar char="●"/>
            </a:pPr>
            <a:r>
              <a:rPr lang="en-US" sz="1600"/>
              <a:t>Predict temperature behavior of the system given carefully timed input step signals. Block Diagram Shown.</a:t>
            </a:r>
            <a:endParaRPr/>
          </a:p>
          <a:p>
            <a:pPr indent="-342900" lvl="0" marL="457200" rtl="0" algn="l">
              <a:lnSpc>
                <a:spcPct val="115000"/>
              </a:lnSpc>
              <a:spcBef>
                <a:spcPts val="360"/>
              </a:spcBef>
              <a:spcAft>
                <a:spcPts val="0"/>
              </a:spcAft>
              <a:buSzPts val="1800"/>
              <a:buChar char="●"/>
            </a:pPr>
            <a:r>
              <a:rPr b="1" lang="en-US" sz="1600"/>
              <a:t>The Quanser Qube Servo2</a:t>
            </a:r>
            <a:r>
              <a:rPr lang="en-US" sz="1600"/>
              <a:t> as an </a:t>
            </a:r>
            <a:r>
              <a:rPr b="1" lang="en-US" sz="1600"/>
              <a:t>educational platform </a:t>
            </a:r>
            <a:endParaRPr sz="1600"/>
          </a:p>
          <a:p>
            <a:pPr indent="-342900" lvl="0" marL="457200" rtl="0" algn="l">
              <a:lnSpc>
                <a:spcPct val="115000"/>
              </a:lnSpc>
              <a:spcBef>
                <a:spcPts val="360"/>
              </a:spcBef>
              <a:spcAft>
                <a:spcPts val="0"/>
              </a:spcAft>
              <a:buSzPts val="1800"/>
              <a:buChar char="●"/>
            </a:pPr>
            <a:r>
              <a:rPr lang="en-US" sz="1600"/>
              <a:t>Used here to illustrate </a:t>
            </a:r>
            <a:r>
              <a:rPr b="1" lang="en-US" sz="1600"/>
              <a:t>modeling of a control system pertaining to the swinging behavior of a pendulum</a:t>
            </a:r>
            <a:r>
              <a:rPr lang="en-US" sz="1600"/>
              <a:t>.  </a:t>
            </a:r>
            <a:endParaRPr/>
          </a:p>
          <a:p>
            <a:pPr indent="-342900" lvl="0" marL="457200" rtl="0" algn="l">
              <a:lnSpc>
                <a:spcPct val="115000"/>
              </a:lnSpc>
              <a:spcBef>
                <a:spcPts val="360"/>
              </a:spcBef>
              <a:spcAft>
                <a:spcPts val="0"/>
              </a:spcAft>
              <a:buSzPts val="1800"/>
              <a:buChar char="●"/>
            </a:pPr>
            <a:r>
              <a:rPr lang="en-US" sz="1600"/>
              <a:t>PID control of the system and Stability of the System</a:t>
            </a:r>
            <a:endParaRPr/>
          </a:p>
          <a:p>
            <a:pPr indent="-342900" lvl="0" marL="457200" rtl="0" algn="l">
              <a:lnSpc>
                <a:spcPct val="115000"/>
              </a:lnSpc>
              <a:spcBef>
                <a:spcPts val="360"/>
              </a:spcBef>
              <a:spcAft>
                <a:spcPts val="0"/>
              </a:spcAft>
              <a:buSzPts val="1800"/>
              <a:buChar char="●"/>
            </a:pPr>
            <a:r>
              <a:rPr lang="en-US" sz="1600"/>
              <a:t>Control the behavior of the pendulum given input/output model</a:t>
            </a:r>
            <a:endParaRPr/>
          </a:p>
          <a:p>
            <a:pPr indent="-342900" lvl="0" marL="457200" rtl="0" algn="l">
              <a:lnSpc>
                <a:spcPct val="115000"/>
              </a:lnSpc>
              <a:spcBef>
                <a:spcPts val="360"/>
              </a:spcBef>
              <a:spcAft>
                <a:spcPts val="0"/>
              </a:spcAft>
              <a:buSzPts val="1800"/>
              <a:buChar char="●"/>
            </a:pPr>
            <a:r>
              <a:rPr lang="en-US" sz="1600"/>
              <a:t>Block diagram/Simulink Model.</a:t>
            </a:r>
            <a:endParaRPr/>
          </a:p>
        </p:txBody>
      </p:sp>
      <p:sp>
        <p:nvSpPr>
          <p:cNvPr id="139" name="Google Shape;139;p1"/>
          <p:cNvSpPr txBox="1"/>
          <p:nvPr/>
        </p:nvSpPr>
        <p:spPr>
          <a:xfrm>
            <a:off x="8686800" y="7350"/>
            <a:ext cx="446700" cy="3387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Raleway"/>
                <a:ea typeface="Raleway"/>
                <a:cs typeface="Raleway"/>
                <a:sym typeface="Raleway"/>
              </a:rPr>
              <a:t>4</a:t>
            </a:r>
            <a:endParaRPr b="0" i="0" sz="1000" u="none" cap="none" strike="noStrike">
              <a:solidFill>
                <a:srgbClr val="000000"/>
              </a:solidFill>
              <a:latin typeface="Raleway"/>
              <a:ea typeface="Raleway"/>
              <a:cs typeface="Raleway"/>
              <a:sym typeface="Ralew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1250f1d3c68_1_22"/>
          <p:cNvSpPr txBox="1"/>
          <p:nvPr>
            <p:ph type="title"/>
          </p:nvPr>
        </p:nvSpPr>
        <p:spPr>
          <a:xfrm>
            <a:off x="311700" y="0"/>
            <a:ext cx="8520600" cy="565265"/>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600"/>
              </a:spcAft>
              <a:buSzPct val="104167"/>
              <a:buNone/>
            </a:pPr>
            <a:r>
              <a:rPr b="1" lang="en-US" sz="3200">
                <a:latin typeface="Arial"/>
                <a:ea typeface="Arial"/>
                <a:cs typeface="Arial"/>
                <a:sym typeface="Arial"/>
              </a:rPr>
              <a:t>Feedback Control System Review</a:t>
            </a:r>
            <a:endParaRPr/>
          </a:p>
        </p:txBody>
      </p:sp>
      <p:sp>
        <p:nvSpPr>
          <p:cNvPr id="146" name="Google Shape;146;g1250f1d3c68_1_22"/>
          <p:cNvSpPr txBox="1"/>
          <p:nvPr>
            <p:ph idx="12" type="sldNum"/>
          </p:nvPr>
        </p:nvSpPr>
        <p:spPr>
          <a:xfrm>
            <a:off x="8595306" y="-1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solidFill>
                  <a:schemeClr val="dk2"/>
                </a:solidFill>
              </a:rPr>
              <a:t>‹#›</a:t>
            </a:fld>
            <a:endParaRPr>
              <a:solidFill>
                <a:schemeClr val="dk2"/>
              </a:solidFill>
            </a:endParaRPr>
          </a:p>
        </p:txBody>
      </p:sp>
      <p:sp>
        <p:nvSpPr>
          <p:cNvPr id="147" name="Google Shape;147;g1250f1d3c68_1_22"/>
          <p:cNvSpPr txBox="1"/>
          <p:nvPr/>
        </p:nvSpPr>
        <p:spPr>
          <a:xfrm>
            <a:off x="777267" y="625754"/>
            <a:ext cx="7589400" cy="178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500" u="none" cap="none" strike="noStrike">
                <a:solidFill>
                  <a:srgbClr val="000000"/>
                </a:solidFill>
                <a:latin typeface="Arial"/>
                <a:ea typeface="Arial"/>
                <a:cs typeface="Arial"/>
                <a:sym typeface="Arial"/>
              </a:rPr>
              <a:t> </a:t>
            </a:r>
            <a:r>
              <a:rPr b="1" i="0" lang="en-US" sz="1500" u="none" cap="none" strike="noStrike">
                <a:solidFill>
                  <a:srgbClr val="000000"/>
                </a:solidFill>
                <a:latin typeface="Arial"/>
                <a:ea typeface="Arial"/>
                <a:cs typeface="Arial"/>
                <a:sym typeface="Arial"/>
              </a:rPr>
              <a:t>Closed Loop Feedback Control </a:t>
            </a:r>
            <a:r>
              <a:rPr b="0" i="0" lang="en-US" sz="1500" u="none" cap="none" strike="noStrike">
                <a:solidFill>
                  <a:srgbClr val="000000"/>
                </a:solidFill>
                <a:latin typeface="Arial"/>
                <a:ea typeface="Arial"/>
                <a:cs typeface="Arial"/>
                <a:sym typeface="Arial"/>
              </a:rPr>
              <a:t>systems are essential in modern engineering applications where stability, robustness, and performance are required under uncertainty and disturbance.</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Reference:</a:t>
            </a:r>
            <a:r>
              <a:rPr b="0" i="0" lang="en-US" sz="1500" u="none" cap="none" strike="noStrike">
                <a:solidFill>
                  <a:srgbClr val="000000"/>
                </a:solidFill>
                <a:latin typeface="Arial"/>
                <a:ea typeface="Arial"/>
                <a:cs typeface="Arial"/>
                <a:sym typeface="Arial"/>
              </a:rPr>
              <a:t> The desired target value the system is trying to reach.</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Error:</a:t>
            </a:r>
            <a:r>
              <a:rPr b="0" i="0" lang="en-US" sz="1500" u="none" cap="none" strike="noStrike">
                <a:solidFill>
                  <a:srgbClr val="000000"/>
                </a:solidFill>
                <a:latin typeface="Arial"/>
                <a:ea typeface="Arial"/>
                <a:cs typeface="Arial"/>
                <a:sym typeface="Arial"/>
              </a:rPr>
              <a:t> The difference between the reference and the actual output.</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Controller:</a:t>
            </a:r>
            <a:r>
              <a:rPr b="0" i="0" lang="en-US" sz="1500" u="none" cap="none" strike="noStrike">
                <a:solidFill>
                  <a:srgbClr val="000000"/>
                </a:solidFill>
                <a:latin typeface="Arial"/>
                <a:ea typeface="Arial"/>
                <a:cs typeface="Arial"/>
                <a:sym typeface="Arial"/>
              </a:rPr>
              <a:t> The algorithm that computes the control action based on the error.</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Plant:</a:t>
            </a:r>
            <a:r>
              <a:rPr b="0" i="0" lang="en-US" sz="1500" u="none" cap="none" strike="noStrike">
                <a:solidFill>
                  <a:srgbClr val="000000"/>
                </a:solidFill>
                <a:latin typeface="Arial"/>
                <a:ea typeface="Arial"/>
                <a:cs typeface="Arial"/>
                <a:sym typeface="Arial"/>
              </a:rPr>
              <a:t> The physical system being controlled, whose behavior the controller influences. </a:t>
            </a:r>
            <a:endParaRPr b="0" i="0" sz="1500" u="none" cap="none" strike="noStrike">
              <a:solidFill>
                <a:srgbClr val="000000"/>
              </a:solidFill>
              <a:latin typeface="Arial"/>
              <a:ea typeface="Arial"/>
              <a:cs typeface="Arial"/>
              <a:sym typeface="Arial"/>
            </a:endParaRPr>
          </a:p>
        </p:txBody>
      </p:sp>
      <p:pic>
        <p:nvPicPr>
          <p:cNvPr descr="Steady-State Error" id="148" name="Google Shape;148;g1250f1d3c68_1_22"/>
          <p:cNvPicPr preferRelativeResize="0"/>
          <p:nvPr/>
        </p:nvPicPr>
        <p:blipFill rotWithShape="1">
          <a:blip r:embed="rId3">
            <a:alphaModFix/>
          </a:blip>
          <a:srcRect b="0" l="0" r="0" t="0"/>
          <a:stretch/>
        </p:blipFill>
        <p:spPr>
          <a:xfrm>
            <a:off x="1943920" y="2835270"/>
            <a:ext cx="4208755" cy="1982105"/>
          </a:xfrm>
          <a:prstGeom prst="rect">
            <a:avLst/>
          </a:prstGeom>
          <a:noFill/>
          <a:ln>
            <a:noFill/>
          </a:ln>
        </p:spPr>
      </p:pic>
      <p:sp>
        <p:nvSpPr>
          <p:cNvPr id="149" name="Google Shape;149;g1250f1d3c68_1_22"/>
          <p:cNvSpPr txBox="1"/>
          <p:nvPr/>
        </p:nvSpPr>
        <p:spPr>
          <a:xfrm>
            <a:off x="1421501" y="2469417"/>
            <a:ext cx="5253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Typically:        r(t) → Controller → Plant → Sensor → Feedback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5"/>
          <p:cNvSpPr txBox="1"/>
          <p:nvPr>
            <p:ph type="title"/>
          </p:nvPr>
        </p:nvSpPr>
        <p:spPr>
          <a:xfrm>
            <a:off x="852776" y="457198"/>
            <a:ext cx="7044316" cy="998131"/>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3000"/>
              <a:buNone/>
            </a:pPr>
            <a:r>
              <a:rPr lang="en-US"/>
              <a:t>Part 1: Temperature Control TCLab</a:t>
            </a:r>
            <a:endParaRPr/>
          </a:p>
        </p:txBody>
      </p:sp>
      <p:sp>
        <p:nvSpPr>
          <p:cNvPr id="155" name="Google Shape;155;p5"/>
          <p:cNvSpPr txBox="1"/>
          <p:nvPr>
            <p:ph idx="1" type="body"/>
          </p:nvPr>
        </p:nvSpPr>
        <p:spPr>
          <a:xfrm>
            <a:off x="774550" y="1609650"/>
            <a:ext cx="5664900" cy="2264400"/>
          </a:xfrm>
          <a:prstGeom prst="rect">
            <a:avLst/>
          </a:prstGeom>
          <a:noFill/>
          <a:ln>
            <a:noFill/>
          </a:ln>
        </p:spPr>
        <p:txBody>
          <a:bodyPr anchorCtr="0" anchor="t" bIns="45700" lIns="91425" spcFirstLastPara="1" rIns="91425" wrap="square" tIns="45700">
            <a:normAutofit fontScale="92500"/>
          </a:bodyPr>
          <a:lstStyle/>
          <a:p>
            <a:pPr indent="0" lvl="0" marL="0" rtl="0" algn="ctr">
              <a:lnSpc>
                <a:spcPct val="115000"/>
              </a:lnSpc>
              <a:spcBef>
                <a:spcPts val="1400"/>
              </a:spcBef>
              <a:spcAft>
                <a:spcPts val="0"/>
              </a:spcAft>
              <a:buSzPct val="98181"/>
              <a:buNone/>
            </a:pPr>
            <a:r>
              <a:rPr b="1" lang="en-US" sz="1982">
                <a:solidFill>
                  <a:srgbClr val="000000"/>
                </a:solidFill>
                <a:latin typeface="Arial"/>
                <a:ea typeface="Arial"/>
                <a:cs typeface="Arial"/>
                <a:sym typeface="Arial"/>
              </a:rPr>
              <a:t>Part 1 Goal: What Will Be Built?</a:t>
            </a:r>
            <a:endParaRPr b="1" sz="1982">
              <a:solidFill>
                <a:srgbClr val="000000"/>
              </a:solidFill>
              <a:latin typeface="Arial"/>
              <a:ea typeface="Arial"/>
              <a:cs typeface="Arial"/>
              <a:sym typeface="Arial"/>
            </a:endParaRPr>
          </a:p>
          <a:p>
            <a:pPr indent="-333313" lvl="0" marL="457200" rtl="0" algn="l">
              <a:lnSpc>
                <a:spcPct val="115000"/>
              </a:lnSpc>
              <a:spcBef>
                <a:spcPts val="1200"/>
              </a:spcBef>
              <a:spcAft>
                <a:spcPts val="0"/>
              </a:spcAft>
              <a:buClr>
                <a:srgbClr val="000000"/>
              </a:buClr>
              <a:buSzPct val="100000"/>
              <a:buFont typeface="Arial"/>
              <a:buChar char="●"/>
            </a:pPr>
            <a:r>
              <a:rPr lang="en-US" sz="1782">
                <a:solidFill>
                  <a:srgbClr val="000000"/>
                </a:solidFill>
                <a:latin typeface="Arial"/>
                <a:ea typeface="Arial"/>
                <a:cs typeface="Arial"/>
                <a:sym typeface="Arial"/>
              </a:rPr>
              <a:t>Develop a thermal model of the TCLab</a:t>
            </a:r>
            <a:endParaRPr sz="1782">
              <a:solidFill>
                <a:srgbClr val="000000"/>
              </a:solidFill>
              <a:latin typeface="Arial"/>
              <a:ea typeface="Arial"/>
              <a:cs typeface="Arial"/>
              <a:sym typeface="Arial"/>
            </a:endParaRPr>
          </a:p>
          <a:p>
            <a:pPr indent="-333313" lvl="0" marL="457200" rtl="0" algn="l">
              <a:lnSpc>
                <a:spcPct val="115000"/>
              </a:lnSpc>
              <a:spcBef>
                <a:spcPts val="0"/>
              </a:spcBef>
              <a:spcAft>
                <a:spcPts val="0"/>
              </a:spcAft>
              <a:buClr>
                <a:srgbClr val="000000"/>
              </a:buClr>
              <a:buSzPct val="100000"/>
              <a:buFont typeface="Arial"/>
              <a:buChar char="●"/>
            </a:pPr>
            <a:r>
              <a:rPr lang="en-US" sz="1782">
                <a:solidFill>
                  <a:srgbClr val="000000"/>
                </a:solidFill>
                <a:latin typeface="Arial"/>
                <a:ea typeface="Arial"/>
                <a:cs typeface="Arial"/>
                <a:sym typeface="Arial"/>
              </a:rPr>
              <a:t>Identify system parameters from step‑response data</a:t>
            </a:r>
            <a:endParaRPr sz="1782">
              <a:solidFill>
                <a:srgbClr val="000000"/>
              </a:solidFill>
              <a:latin typeface="Arial"/>
              <a:ea typeface="Arial"/>
              <a:cs typeface="Arial"/>
              <a:sym typeface="Arial"/>
            </a:endParaRPr>
          </a:p>
          <a:p>
            <a:pPr indent="-333313" lvl="0" marL="457200" rtl="0" algn="l">
              <a:lnSpc>
                <a:spcPct val="115000"/>
              </a:lnSpc>
              <a:spcBef>
                <a:spcPts val="0"/>
              </a:spcBef>
              <a:spcAft>
                <a:spcPts val="0"/>
              </a:spcAft>
              <a:buClr>
                <a:srgbClr val="000000"/>
              </a:buClr>
              <a:buSzPct val="100000"/>
              <a:buFont typeface="Arial"/>
              <a:buChar char="●"/>
            </a:pPr>
            <a:r>
              <a:rPr lang="en-US" sz="1782">
                <a:solidFill>
                  <a:srgbClr val="000000"/>
                </a:solidFill>
                <a:latin typeface="Arial"/>
                <a:ea typeface="Arial"/>
                <a:cs typeface="Arial"/>
                <a:sym typeface="Arial"/>
              </a:rPr>
              <a:t>Design and tune a PID controller</a:t>
            </a:r>
            <a:endParaRPr sz="1782">
              <a:solidFill>
                <a:srgbClr val="000000"/>
              </a:solidFill>
              <a:latin typeface="Arial"/>
              <a:ea typeface="Arial"/>
              <a:cs typeface="Arial"/>
              <a:sym typeface="Arial"/>
            </a:endParaRPr>
          </a:p>
          <a:p>
            <a:pPr indent="-333313" lvl="0" marL="457200" rtl="0" algn="l">
              <a:lnSpc>
                <a:spcPct val="115000"/>
              </a:lnSpc>
              <a:spcBef>
                <a:spcPts val="0"/>
              </a:spcBef>
              <a:spcAft>
                <a:spcPts val="0"/>
              </a:spcAft>
              <a:buClr>
                <a:srgbClr val="000000"/>
              </a:buClr>
              <a:buSzPct val="100000"/>
              <a:buFont typeface="Arial"/>
              <a:buChar char="●"/>
            </a:pPr>
            <a:r>
              <a:rPr lang="en-US" sz="1782">
                <a:solidFill>
                  <a:srgbClr val="000000"/>
                </a:solidFill>
                <a:latin typeface="Arial"/>
                <a:ea typeface="Arial"/>
                <a:cs typeface="Arial"/>
                <a:sym typeface="Arial"/>
              </a:rPr>
              <a:t>Validate the controller against real hardware</a:t>
            </a:r>
            <a:endParaRPr sz="1782">
              <a:solidFill>
                <a:srgbClr val="000000"/>
              </a:solidFill>
              <a:latin typeface="Arial"/>
              <a:ea typeface="Arial"/>
              <a:cs typeface="Arial"/>
              <a:sym typeface="Arial"/>
            </a:endParaRPr>
          </a:p>
          <a:p>
            <a:pPr indent="-333313" lvl="0" marL="457200" rtl="0" algn="l">
              <a:lnSpc>
                <a:spcPct val="115000"/>
              </a:lnSpc>
              <a:spcBef>
                <a:spcPts val="0"/>
              </a:spcBef>
              <a:spcAft>
                <a:spcPts val="0"/>
              </a:spcAft>
              <a:buClr>
                <a:srgbClr val="000000"/>
              </a:buClr>
              <a:buSzPct val="100000"/>
              <a:buFont typeface="Arial"/>
              <a:buChar char="●"/>
            </a:pPr>
            <a:r>
              <a:rPr lang="en-US" sz="1782">
                <a:solidFill>
                  <a:srgbClr val="000000"/>
                </a:solidFill>
                <a:latin typeface="Arial"/>
                <a:ea typeface="Arial"/>
                <a:cs typeface="Arial"/>
                <a:sym typeface="Arial"/>
              </a:rPr>
              <a:t>Compare model predictions to measured data</a:t>
            </a:r>
            <a:endParaRPr sz="1782">
              <a:solidFill>
                <a:srgbClr val="000000"/>
              </a:solidFill>
              <a:latin typeface="Arial"/>
              <a:ea typeface="Arial"/>
              <a:cs typeface="Arial"/>
              <a:sym typeface="Arial"/>
            </a:endParaRPr>
          </a:p>
          <a:p>
            <a:pPr indent="-228600" lvl="0" marL="457200" rtl="0" algn="l">
              <a:lnSpc>
                <a:spcPct val="115000"/>
              </a:lnSpc>
              <a:spcBef>
                <a:spcPts val="1200"/>
              </a:spcBef>
              <a:spcAft>
                <a:spcPts val="0"/>
              </a:spcAft>
              <a:buClr>
                <a:schemeClr val="dk1"/>
              </a:buClr>
              <a:buSzPct val="129730"/>
              <a:buNone/>
            </a:pPr>
            <a:r>
              <a:t/>
            </a:r>
            <a:endParaRPr sz="1500"/>
          </a:p>
        </p:txBody>
      </p:sp>
      <p:pic>
        <p:nvPicPr>
          <p:cNvPr id="156" name="Google Shape;156;p5"/>
          <p:cNvPicPr preferRelativeResize="0"/>
          <p:nvPr/>
        </p:nvPicPr>
        <p:blipFill rotWithShape="1">
          <a:blip r:embed="rId3">
            <a:alphaModFix/>
          </a:blip>
          <a:srcRect b="0" l="0" r="0" t="0"/>
          <a:stretch/>
        </p:blipFill>
        <p:spPr>
          <a:xfrm>
            <a:off x="6693802" y="1867628"/>
            <a:ext cx="1937100" cy="1272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6"/>
          <p:cNvSpPr txBox="1"/>
          <p:nvPr>
            <p:ph idx="12" type="sldNum"/>
          </p:nvPr>
        </p:nvSpPr>
        <p:spPr>
          <a:xfrm>
            <a:off x="7086600" y="12"/>
            <a:ext cx="2057400" cy="2745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898989"/>
              </a:buClr>
              <a:buSzPts val="900"/>
              <a:buFont typeface="Arial"/>
              <a:buNone/>
            </a:pPr>
            <a:fld id="{00000000-1234-1234-1234-123412341234}" type="slidenum">
              <a:rPr lang="en-US" sz="1000">
                <a:solidFill>
                  <a:schemeClr val="dk2"/>
                </a:solidFill>
              </a:rPr>
              <a:t>‹#›</a:t>
            </a:fld>
            <a:endParaRPr sz="1000">
              <a:solidFill>
                <a:schemeClr val="dk2"/>
              </a:solidFill>
            </a:endParaRPr>
          </a:p>
        </p:txBody>
      </p:sp>
      <p:sp>
        <p:nvSpPr>
          <p:cNvPr id="163" name="Google Shape;163;p6"/>
          <p:cNvSpPr txBox="1"/>
          <p:nvPr/>
        </p:nvSpPr>
        <p:spPr>
          <a:xfrm>
            <a:off x="2807235" y="12"/>
            <a:ext cx="36690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Modeling: Lab A-G Specifics</a:t>
            </a:r>
            <a:endParaRPr b="0" i="0" sz="1400" u="none" cap="none" strike="noStrike">
              <a:solidFill>
                <a:srgbClr val="000000"/>
              </a:solidFill>
              <a:latin typeface="Arial"/>
              <a:ea typeface="Arial"/>
              <a:cs typeface="Arial"/>
              <a:sym typeface="Arial"/>
            </a:endParaRPr>
          </a:p>
        </p:txBody>
      </p:sp>
      <p:sp>
        <p:nvSpPr>
          <p:cNvPr id="164" name="Google Shape;164;p6"/>
          <p:cNvSpPr txBox="1"/>
          <p:nvPr/>
        </p:nvSpPr>
        <p:spPr>
          <a:xfrm>
            <a:off x="280950" y="400200"/>
            <a:ext cx="8013600" cy="46947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Labs A to G Controller performance: evaluated using time-domain metrics and error criteria, including Integral Absolute Error (IAE). (Typical for PID controller feedback systems)</a:t>
            </a:r>
            <a:endParaRPr b="0"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                                         e(t)=r(t)−y(t)      r(t): reference (setpoint)    y(t): system output</a:t>
            </a:r>
            <a:endParaRPr b="0"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                                                                  ∣e(t)∣: absolute value of the error</a:t>
            </a:r>
            <a:endParaRPr b="0"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                                                                  T: total time of observation </a:t>
            </a:r>
            <a:endParaRPr b="0"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Experimental results (a data set) are compared against theoretical predictions to assess model fidelity and control effectiveness.                        </a:t>
            </a:r>
            <a:endParaRPr b="0" i="0" sz="15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Objective:</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      Develop a mathematical model of the thermal system.</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      Identify system parameters experimentally:   (output:  T=Temperature)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                                                                                 (input: Q=Heater)</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165" name="Google Shape;165;p6"/>
          <p:cNvPicPr preferRelativeResize="0"/>
          <p:nvPr/>
        </p:nvPicPr>
        <p:blipFill rotWithShape="1">
          <a:blip r:embed="rId3">
            <a:alphaModFix/>
          </a:blip>
          <a:srcRect b="0" l="0" r="0" t="0"/>
          <a:stretch/>
        </p:blipFill>
        <p:spPr>
          <a:xfrm>
            <a:off x="559825" y="1247578"/>
            <a:ext cx="2212100" cy="801125"/>
          </a:xfrm>
          <a:prstGeom prst="rect">
            <a:avLst/>
          </a:prstGeom>
          <a:noFill/>
          <a:ln>
            <a:noFill/>
          </a:ln>
        </p:spPr>
      </p:pic>
      <p:pic>
        <p:nvPicPr>
          <p:cNvPr descr="Steady-State Error" id="166" name="Google Shape;166;p6"/>
          <p:cNvPicPr preferRelativeResize="0"/>
          <p:nvPr/>
        </p:nvPicPr>
        <p:blipFill rotWithShape="1">
          <a:blip r:embed="rId4">
            <a:alphaModFix/>
          </a:blip>
          <a:srcRect b="0" l="0" r="0" t="0"/>
          <a:stretch/>
        </p:blipFill>
        <p:spPr>
          <a:xfrm>
            <a:off x="1142100" y="1909174"/>
            <a:ext cx="3063675" cy="1442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1250f1d3c68_1_104"/>
          <p:cNvSpPr txBox="1"/>
          <p:nvPr>
            <p:ph idx="12" type="sldNum"/>
          </p:nvPr>
        </p:nvSpPr>
        <p:spPr>
          <a:xfrm>
            <a:off x="7010400" y="12"/>
            <a:ext cx="2133600" cy="2745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rgbClr val="898989"/>
              </a:buClr>
              <a:buSzPts val="1800"/>
              <a:buFont typeface="Arial"/>
              <a:buNone/>
            </a:pPr>
            <a:fld id="{00000000-1234-1234-1234-123412341234}" type="slidenum">
              <a:rPr lang="en-US" sz="1000">
                <a:solidFill>
                  <a:schemeClr val="dk2"/>
                </a:solidFill>
              </a:rPr>
              <a:t>‹#›</a:t>
            </a:fld>
            <a:endParaRPr sz="1000">
              <a:solidFill>
                <a:schemeClr val="dk2"/>
              </a:solidFill>
            </a:endParaRPr>
          </a:p>
        </p:txBody>
      </p:sp>
      <p:sp>
        <p:nvSpPr>
          <p:cNvPr id="173" name="Google Shape;173;g1250f1d3c68_1_104"/>
          <p:cNvSpPr txBox="1"/>
          <p:nvPr/>
        </p:nvSpPr>
        <p:spPr>
          <a:xfrm>
            <a:off x="1328423" y="157153"/>
            <a:ext cx="61515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Typical TCLab Modeling: Lab Data - One and Two Heater</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         :Open Loop Equation Development - Analysis</a:t>
            </a:r>
            <a:endParaRPr b="1" i="0" sz="1400" u="none" cap="none" strike="noStrike">
              <a:solidFill>
                <a:srgbClr val="000000"/>
              </a:solidFill>
              <a:latin typeface="Arial"/>
              <a:ea typeface="Arial"/>
              <a:cs typeface="Arial"/>
              <a:sym typeface="Arial"/>
            </a:endParaRPr>
          </a:p>
        </p:txBody>
      </p:sp>
      <p:sp>
        <p:nvSpPr>
          <p:cNvPr id="174" name="Google Shape;174;g1250f1d3c68_1_104"/>
          <p:cNvSpPr txBox="1"/>
          <p:nvPr/>
        </p:nvSpPr>
        <p:spPr>
          <a:xfrm>
            <a:off x="623455" y="1658885"/>
            <a:ext cx="7215300" cy="2678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Arial"/>
                <a:ea typeface="Arial"/>
                <a:cs typeface="Arial"/>
                <a:sym typeface="Arial"/>
              </a:rPr>
              <a:t>“Derive a nonlinear transient model and fit a linear first-order or second-order system. Compare model predictions to transient lab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The governing </a:t>
            </a:r>
            <a:r>
              <a:rPr b="1" i="0" lang="en-US" sz="1400" u="none" cap="none" strike="noStrike">
                <a:solidFill>
                  <a:srgbClr val="000000"/>
                </a:solidFill>
                <a:latin typeface="Times New Roman"/>
                <a:ea typeface="Times New Roman"/>
                <a:cs typeface="Times New Roman"/>
                <a:sym typeface="Times New Roman"/>
              </a:rPr>
              <a:t>energy balance equation</a:t>
            </a:r>
            <a:r>
              <a:rPr b="0" i="0" lang="en-US" sz="1400" u="none" cap="none" strike="noStrike">
                <a:solidFill>
                  <a:srgbClr val="000000"/>
                </a:solidFill>
                <a:latin typeface="Times New Roman"/>
                <a:ea typeface="Times New Roman"/>
                <a:cs typeface="Times New Roman"/>
                <a:sym typeface="Times New Roman"/>
              </a:rPr>
              <a:t> given 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One heater: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Cambria Math"/>
                <a:ea typeface="Cambria Math"/>
                <a:cs typeface="Cambria Math"/>
                <a:sym typeface="Cambria Math"/>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Cambria Math"/>
                <a:ea typeface="Cambria Math"/>
                <a:cs typeface="Cambria Math"/>
                <a:sym typeface="Cambria Math"/>
              </a:rPr>
              <a:t>                                   </a:t>
            </a:r>
            <a:r>
              <a:rPr b="0" i="1" lang="en-US" sz="1400" u="none" cap="none" strike="noStrike">
                <a:solidFill>
                  <a:srgbClr val="215E99"/>
                </a:solidFill>
                <a:latin typeface="Cambria Math"/>
                <a:ea typeface="Cambria Math"/>
                <a:cs typeface="Cambria Math"/>
                <a:sym typeface="Cambria Math"/>
              </a:rPr>
              <a:t>Total          convection              radiation        heater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Two heater: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rgbClr val="215E99"/>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rgbClr val="215E99"/>
              </a:solidFill>
              <a:latin typeface="Cambria Math"/>
              <a:ea typeface="Cambria Math"/>
              <a:cs typeface="Cambria Math"/>
              <a:sym typeface="Cambria Math"/>
            </a:endParaRPr>
          </a:p>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215E99"/>
                </a:solidFill>
                <a:latin typeface="Cambria Math"/>
                <a:ea typeface="Cambria Math"/>
                <a:cs typeface="Cambria Math"/>
                <a:sym typeface="Cambria Math"/>
              </a:rPr>
              <a:t>                                    Total     convection    radiation      heater1 &amp;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5" name="Google Shape;175;g1250f1d3c68_1_104"/>
          <p:cNvPicPr preferRelativeResize="0"/>
          <p:nvPr/>
        </p:nvPicPr>
        <p:blipFill rotWithShape="1">
          <a:blip r:embed="rId3">
            <a:alphaModFix/>
          </a:blip>
          <a:srcRect b="37914" l="16786" r="54075" t="27770"/>
          <a:stretch/>
        </p:blipFill>
        <p:spPr>
          <a:xfrm>
            <a:off x="1996743" y="676211"/>
            <a:ext cx="1419398" cy="941420"/>
          </a:xfrm>
          <a:prstGeom prst="rect">
            <a:avLst/>
          </a:prstGeom>
          <a:noFill/>
          <a:ln>
            <a:noFill/>
          </a:ln>
        </p:spPr>
      </p:pic>
      <p:pic>
        <p:nvPicPr>
          <p:cNvPr id="176" name="Google Shape;176;g1250f1d3c68_1_104"/>
          <p:cNvPicPr preferRelativeResize="0"/>
          <p:nvPr/>
        </p:nvPicPr>
        <p:blipFill rotWithShape="1">
          <a:blip r:embed="rId4">
            <a:alphaModFix/>
          </a:blip>
          <a:srcRect b="53173" l="46512" r="29603" t="40204"/>
          <a:stretch/>
        </p:blipFill>
        <p:spPr>
          <a:xfrm>
            <a:off x="1996743" y="2394294"/>
            <a:ext cx="3760344" cy="585503"/>
          </a:xfrm>
          <a:prstGeom prst="rect">
            <a:avLst/>
          </a:prstGeom>
          <a:noFill/>
          <a:ln>
            <a:noFill/>
          </a:ln>
        </p:spPr>
      </p:pic>
      <p:pic>
        <p:nvPicPr>
          <p:cNvPr id="177" name="Google Shape;177;g1250f1d3c68_1_104"/>
          <p:cNvPicPr preferRelativeResize="0"/>
          <p:nvPr/>
        </p:nvPicPr>
        <p:blipFill rotWithShape="1">
          <a:blip r:embed="rId5">
            <a:alphaModFix/>
          </a:blip>
          <a:srcRect b="56903" l="57348" r="30303" t="28389"/>
          <a:stretch/>
        </p:blipFill>
        <p:spPr>
          <a:xfrm>
            <a:off x="4789429" y="680347"/>
            <a:ext cx="1419398" cy="950896"/>
          </a:xfrm>
          <a:prstGeom prst="rect">
            <a:avLst/>
          </a:prstGeom>
          <a:noFill/>
          <a:ln>
            <a:noFill/>
          </a:ln>
        </p:spPr>
      </p:pic>
      <p:pic>
        <p:nvPicPr>
          <p:cNvPr id="178" name="Google Shape;178;g1250f1d3c68_1_104"/>
          <p:cNvPicPr preferRelativeResize="0"/>
          <p:nvPr/>
        </p:nvPicPr>
        <p:blipFill rotWithShape="1">
          <a:blip r:embed="rId6">
            <a:alphaModFix/>
          </a:blip>
          <a:srcRect b="57938" l="46748" r="32168" t="36062"/>
          <a:stretch/>
        </p:blipFill>
        <p:spPr>
          <a:xfrm>
            <a:off x="2096551" y="3282322"/>
            <a:ext cx="3660538" cy="585504"/>
          </a:xfrm>
          <a:prstGeom prst="rect">
            <a:avLst/>
          </a:prstGeom>
          <a:noFill/>
          <a:ln>
            <a:noFill/>
          </a:ln>
        </p:spPr>
      </p:pic>
      <p:sp>
        <p:nvSpPr>
          <p:cNvPr id="179" name="Google Shape;179;g1250f1d3c68_1_104"/>
          <p:cNvSpPr txBox="1"/>
          <p:nvPr/>
        </p:nvSpPr>
        <p:spPr>
          <a:xfrm>
            <a:off x="6144000" y="1955350"/>
            <a:ext cx="3000000" cy="2049762"/>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This is a </a:t>
            </a:r>
            <a:r>
              <a:rPr b="1" i="0" lang="en-US" sz="1100" u="none" cap="none" strike="noStrike">
                <a:solidFill>
                  <a:srgbClr val="000000"/>
                </a:solidFill>
                <a:latin typeface="Arial"/>
                <a:ea typeface="Arial"/>
                <a:cs typeface="Arial"/>
                <a:sym typeface="Arial"/>
              </a:rPr>
              <a:t>first‑order nonlinear ODE</a:t>
            </a:r>
            <a:r>
              <a:rPr b="0" i="0" lang="en-US" sz="1100" u="none" cap="none" strike="noStrike">
                <a:solidFill>
                  <a:srgbClr val="000000"/>
                </a:solidFill>
                <a:latin typeface="Arial"/>
                <a:ea typeface="Arial"/>
                <a:cs typeface="Arial"/>
                <a:sym typeface="Arial"/>
              </a:rPr>
              <a:t>. It directly expresses conservation of energy.</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120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It includes convection, radiation, and heater input.</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It is </a:t>
            </a:r>
            <a:r>
              <a:rPr b="1" i="0" lang="en-US" sz="1100" u="none" cap="none" strike="noStrike">
                <a:solidFill>
                  <a:srgbClr val="000000"/>
                </a:solidFill>
                <a:latin typeface="Arial"/>
                <a:ea typeface="Arial"/>
                <a:cs typeface="Arial"/>
                <a:sym typeface="Arial"/>
              </a:rPr>
              <a:t>nonlinear</a:t>
            </a:r>
            <a:r>
              <a:rPr b="0" i="0" lang="en-US" sz="1100" u="none" cap="none" strike="noStrike">
                <a:solidFill>
                  <a:srgbClr val="000000"/>
                </a:solidFill>
                <a:latin typeface="Arial"/>
                <a:ea typeface="Arial"/>
                <a:cs typeface="Arial"/>
                <a:sym typeface="Arial"/>
              </a:rPr>
              <a:t> because of the T</a:t>
            </a:r>
            <a:r>
              <a:rPr b="0" baseline="30000" i="0" lang="en-US" sz="1100" u="none" cap="none" strike="noStrike">
                <a:solidFill>
                  <a:srgbClr val="000000"/>
                </a:solidFill>
                <a:latin typeface="Arial"/>
                <a:ea typeface="Arial"/>
                <a:cs typeface="Arial"/>
                <a:sym typeface="Arial"/>
              </a:rPr>
              <a:t>4</a:t>
            </a:r>
            <a:r>
              <a:rPr b="0" i="0" lang="en-US" sz="1100" u="none" cap="none" strike="noStrike">
                <a:solidFill>
                  <a:srgbClr val="000000"/>
                </a:solidFill>
                <a:latin typeface="Arial"/>
                <a:ea typeface="Arial"/>
                <a:cs typeface="Arial"/>
                <a:sym typeface="Arial"/>
              </a:rPr>
              <a:t> radiation term.</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It predicts the </a:t>
            </a:r>
            <a:r>
              <a:rPr b="0" i="1" lang="en-US" sz="1100" u="none" cap="none" strike="noStrike">
                <a:solidFill>
                  <a:srgbClr val="000000"/>
                </a:solidFill>
                <a:latin typeface="Arial"/>
                <a:ea typeface="Arial"/>
                <a:cs typeface="Arial"/>
                <a:sym typeface="Arial"/>
              </a:rPr>
              <a:t>true</a:t>
            </a:r>
            <a:r>
              <a:rPr b="0" i="0" lang="en-US" sz="1100" u="none" cap="none" strike="noStrike">
                <a:solidFill>
                  <a:srgbClr val="000000"/>
                </a:solidFill>
                <a:latin typeface="Arial"/>
                <a:ea typeface="Arial"/>
                <a:cs typeface="Arial"/>
                <a:sym typeface="Arial"/>
              </a:rPr>
              <a:t> temperature trajectory for any heater input.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dcbb773cbe_1_3"/>
          <p:cNvSpPr txBox="1"/>
          <p:nvPr>
            <p:ph type="title"/>
          </p:nvPr>
        </p:nvSpPr>
        <p:spPr>
          <a:xfrm>
            <a:off x="632150" y="214175"/>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000"/>
              <a:buNone/>
            </a:pPr>
            <a:r>
              <a:rPr lang="en-US"/>
              <a:t>How is this Useful?</a:t>
            </a:r>
            <a:endParaRPr/>
          </a:p>
        </p:txBody>
      </p:sp>
      <p:sp>
        <p:nvSpPr>
          <p:cNvPr id="186" name="Google Shape;186;g3dcbb773cbe_1_3"/>
          <p:cNvSpPr txBox="1"/>
          <p:nvPr>
            <p:ph idx="12" type="sldNum"/>
          </p:nvPr>
        </p:nvSpPr>
        <p:spPr>
          <a:xfrm>
            <a:off x="6553200" y="4767262"/>
            <a:ext cx="2133600" cy="274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898989"/>
              </a:buClr>
              <a:buSzPts val="1800"/>
              <a:buFont typeface="Arial"/>
              <a:buNone/>
            </a:pPr>
            <a:fld id="{00000000-1234-1234-1234-123412341234}" type="slidenum">
              <a:rPr lang="en-US"/>
              <a:t>‹#›</a:t>
            </a:fld>
            <a:endParaRPr sz="1000">
              <a:solidFill>
                <a:schemeClr val="lt1"/>
              </a:solidFill>
            </a:endParaRPr>
          </a:p>
        </p:txBody>
      </p:sp>
      <p:sp>
        <p:nvSpPr>
          <p:cNvPr id="187" name="Google Shape;187;g3dcbb773cbe_1_3"/>
          <p:cNvSpPr txBox="1"/>
          <p:nvPr/>
        </p:nvSpPr>
        <p:spPr>
          <a:xfrm>
            <a:off x="457200" y="853975"/>
            <a:ext cx="3000000" cy="300797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Linearize</a:t>
            </a:r>
            <a:r>
              <a:rPr b="0" i="0" lang="en-US" sz="1300" u="none" cap="none" strike="noStrike">
                <a:solidFill>
                  <a:srgbClr val="000000"/>
                </a:solidFill>
                <a:latin typeface="Arial"/>
                <a:ea typeface="Arial"/>
                <a:cs typeface="Arial"/>
                <a:sym typeface="Arial"/>
              </a:rPr>
              <a:t> the energy‑balance equation around an operating point.</a:t>
            </a:r>
            <a:endParaRPr b="0" i="0" sz="1300" u="none" cap="none" strike="noStrike">
              <a:solidFill>
                <a:srgbClr val="000000"/>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Steps:</a:t>
            </a:r>
            <a:endParaRPr b="1" i="0" sz="1500" u="none" cap="none" strike="noStrike">
              <a:solidFill>
                <a:srgbClr val="000000"/>
              </a:solidFill>
              <a:latin typeface="Arial"/>
              <a:ea typeface="Arial"/>
              <a:cs typeface="Arial"/>
              <a:sym typeface="Arial"/>
            </a:endParaRPr>
          </a:p>
          <a:p>
            <a:pPr indent="-311150" lvl="0" marL="457200" marR="0" rtl="0" algn="l">
              <a:lnSpc>
                <a:spcPct val="115000"/>
              </a:lnSpc>
              <a:spcBef>
                <a:spcPts val="1200"/>
              </a:spcBef>
              <a:spcAft>
                <a:spcPts val="0"/>
              </a:spcAft>
              <a:buClr>
                <a:srgbClr val="000000"/>
              </a:buClr>
              <a:buSzPts val="1300"/>
              <a:buFont typeface="Arial"/>
              <a:buAutoNum type="arabicPeriod"/>
            </a:pPr>
            <a:r>
              <a:rPr b="0" i="0" lang="en-US" sz="1300" u="none" cap="none" strike="noStrike">
                <a:solidFill>
                  <a:srgbClr val="000000"/>
                </a:solidFill>
                <a:latin typeface="Arial"/>
                <a:ea typeface="Arial"/>
                <a:cs typeface="Arial"/>
                <a:sym typeface="Arial"/>
              </a:rPr>
              <a:t>Choose a steady‑state temperature T</a:t>
            </a:r>
            <a:r>
              <a:rPr b="0" baseline="-25000" i="0" lang="en-US" sz="1300" u="none" cap="none" strike="noStrike">
                <a:solidFill>
                  <a:srgbClr val="000000"/>
                </a:solidFill>
                <a:latin typeface="Arial"/>
                <a:ea typeface="Arial"/>
                <a:cs typeface="Arial"/>
                <a:sym typeface="Arial"/>
              </a:rPr>
              <a:t>0</a:t>
            </a:r>
            <a:r>
              <a:rPr b="0" i="0" lang="en-US" sz="1300" u="none" cap="none" strike="noStrike">
                <a:solidFill>
                  <a:srgbClr val="000000"/>
                </a:solidFill>
                <a:latin typeface="Arial"/>
                <a:ea typeface="Arial"/>
                <a:cs typeface="Arial"/>
                <a:sym typeface="Arial"/>
              </a:rPr>
              <a:t> and heater input Q</a:t>
            </a:r>
            <a:r>
              <a:rPr b="0" baseline="-25000" i="0" lang="en-US" sz="1300" u="none" cap="none" strike="noStrike">
                <a:solidFill>
                  <a:srgbClr val="000000"/>
                </a:solidFill>
                <a:latin typeface="Arial"/>
                <a:ea typeface="Arial"/>
                <a:cs typeface="Arial"/>
                <a:sym typeface="Arial"/>
              </a:rPr>
              <a:t>0</a:t>
            </a:r>
            <a:r>
              <a:rPr b="0" i="0" lang="en-US" sz="1300" u="none" cap="none" strike="noStrike">
                <a:solidFill>
                  <a:srgbClr val="000000"/>
                </a:solidFill>
                <a:latin typeface="Arial"/>
                <a:ea typeface="Arial"/>
                <a:cs typeface="Arial"/>
                <a:sym typeface="Arial"/>
              </a:rPr>
              <a:t>.</a:t>
            </a:r>
            <a:endParaRPr b="0" i="0" sz="1300" u="none" cap="none" strike="noStrike">
              <a:solidFill>
                <a:srgbClr val="000000"/>
              </a:solidFill>
              <a:latin typeface="Arial"/>
              <a:ea typeface="Arial"/>
              <a:cs typeface="Arial"/>
              <a:sym typeface="Arial"/>
            </a:endParaRPr>
          </a:p>
          <a:p>
            <a:pPr indent="-311150" lvl="0" marL="457200" marR="0" rtl="0" algn="l">
              <a:lnSpc>
                <a:spcPct val="115000"/>
              </a:lnSpc>
              <a:spcBef>
                <a:spcPts val="0"/>
              </a:spcBef>
              <a:spcAft>
                <a:spcPts val="0"/>
              </a:spcAft>
              <a:buClr>
                <a:srgbClr val="000000"/>
              </a:buClr>
              <a:buSzPts val="1300"/>
              <a:buFont typeface="Arial"/>
              <a:buAutoNum type="arabicPeriod"/>
            </a:pPr>
            <a:r>
              <a:rPr b="0" i="0" lang="en-US" sz="1300" u="none" cap="none" strike="noStrike">
                <a:solidFill>
                  <a:srgbClr val="000000"/>
                </a:solidFill>
                <a:latin typeface="Arial"/>
                <a:ea typeface="Arial"/>
                <a:cs typeface="Arial"/>
                <a:sym typeface="Arial"/>
              </a:rPr>
              <a:t>Linearize the nonlinear ODE around that point.</a:t>
            </a:r>
            <a:endParaRPr b="0" i="0" sz="1300" u="none" cap="none" strike="noStrike">
              <a:solidFill>
                <a:srgbClr val="000000"/>
              </a:solidFill>
              <a:latin typeface="Arial"/>
              <a:ea typeface="Arial"/>
              <a:cs typeface="Arial"/>
              <a:sym typeface="Arial"/>
            </a:endParaRPr>
          </a:p>
          <a:p>
            <a:pPr indent="-311150" lvl="0" marL="457200" marR="0" rtl="0" algn="l">
              <a:lnSpc>
                <a:spcPct val="115000"/>
              </a:lnSpc>
              <a:spcBef>
                <a:spcPts val="0"/>
              </a:spcBef>
              <a:spcAft>
                <a:spcPts val="0"/>
              </a:spcAft>
              <a:buClr>
                <a:srgbClr val="000000"/>
              </a:buClr>
              <a:buSzPts val="1300"/>
              <a:buFont typeface="Arial"/>
              <a:buAutoNum type="arabicPeriod"/>
            </a:pPr>
            <a:r>
              <a:rPr b="0" i="0" lang="en-US" sz="1300" u="none" cap="none" strike="noStrike">
                <a:solidFill>
                  <a:srgbClr val="000000"/>
                </a:solidFill>
                <a:latin typeface="Arial"/>
                <a:ea typeface="Arial"/>
                <a:cs typeface="Arial"/>
                <a:sym typeface="Arial"/>
              </a:rPr>
              <a:t>The radiation term becomes a linear slope:</a:t>
            </a:r>
            <a:endParaRPr b="0" i="0" sz="1300" u="none" cap="none" strike="noStrike">
              <a:solidFill>
                <a:srgbClr val="000000"/>
              </a:solidFill>
              <a:latin typeface="Arial"/>
              <a:ea typeface="Arial"/>
              <a:cs typeface="Arial"/>
              <a:sym typeface="Arial"/>
            </a:endParaRPr>
          </a:p>
        </p:txBody>
      </p:sp>
      <p:pic>
        <p:nvPicPr>
          <p:cNvPr id="188" name="Google Shape;188;g3dcbb773cbe_1_3"/>
          <p:cNvPicPr preferRelativeResize="0"/>
          <p:nvPr/>
        </p:nvPicPr>
        <p:blipFill rotWithShape="1">
          <a:blip r:embed="rId3">
            <a:alphaModFix/>
          </a:blip>
          <a:srcRect b="0" l="0" r="0" t="0"/>
          <a:stretch/>
        </p:blipFill>
        <p:spPr>
          <a:xfrm>
            <a:off x="299850" y="3757993"/>
            <a:ext cx="3314700" cy="466725"/>
          </a:xfrm>
          <a:prstGeom prst="rect">
            <a:avLst/>
          </a:prstGeom>
          <a:noFill/>
          <a:ln>
            <a:noFill/>
          </a:ln>
        </p:spPr>
      </p:pic>
      <p:pic>
        <p:nvPicPr>
          <p:cNvPr id="189" name="Google Shape;189;g3dcbb773cbe_1_3"/>
          <p:cNvPicPr preferRelativeResize="0"/>
          <p:nvPr/>
        </p:nvPicPr>
        <p:blipFill rotWithShape="1">
          <a:blip r:embed="rId4">
            <a:alphaModFix/>
          </a:blip>
          <a:srcRect b="30809" l="35915" r="24741" t="43403"/>
          <a:stretch/>
        </p:blipFill>
        <p:spPr>
          <a:xfrm>
            <a:off x="3566001" y="1071575"/>
            <a:ext cx="5578000" cy="2610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d333a04153_0_4"/>
          <p:cNvSpPr txBox="1"/>
          <p:nvPr>
            <p:ph type="title"/>
          </p:nvPr>
        </p:nvSpPr>
        <p:spPr>
          <a:xfrm>
            <a:off x="628650" y="274628"/>
            <a:ext cx="7886700" cy="7377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SzPts val="3000"/>
              <a:buNone/>
            </a:pPr>
            <a:r>
              <a:rPr lang="en-US"/>
              <a:t>Objective: Generate Step</a:t>
            </a:r>
            <a:endParaRPr/>
          </a:p>
        </p:txBody>
      </p:sp>
      <p:sp>
        <p:nvSpPr>
          <p:cNvPr id="196" name="Google Shape;196;g3d333a04153_0_4"/>
          <p:cNvSpPr txBox="1"/>
          <p:nvPr>
            <p:ph idx="2" type="body"/>
          </p:nvPr>
        </p:nvSpPr>
        <p:spPr>
          <a:xfrm>
            <a:off x="485225" y="1071575"/>
            <a:ext cx="7916700" cy="36333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800"/>
              <a:buNone/>
            </a:pPr>
            <a:r>
              <a:rPr lang="en-US" sz="1400">
                <a:solidFill>
                  <a:srgbClr val="000000"/>
                </a:solidFill>
                <a:latin typeface="Arial"/>
                <a:ea typeface="Arial"/>
                <a:cs typeface="Arial"/>
                <a:sym typeface="Arial"/>
              </a:rPr>
              <a:t>Generate a step input and analyze the closed‑loop response of:</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SzPts val="1800"/>
              <a:buNone/>
            </a:pPr>
            <a:r>
              <a:rPr lang="en-US" sz="1400">
                <a:solidFill>
                  <a:srgbClr val="000000"/>
                </a:solidFill>
                <a:latin typeface="Arial"/>
                <a:ea typeface="Arial"/>
                <a:cs typeface="Arial"/>
                <a:sym typeface="Arial"/>
              </a:rPr>
              <a:t> </a:t>
            </a:r>
            <a:endParaRPr sz="1400">
              <a:solidFill>
                <a:srgbClr val="000000"/>
              </a:solidFill>
              <a:latin typeface="Arial"/>
              <a:ea typeface="Arial"/>
              <a:cs typeface="Arial"/>
              <a:sym typeface="Arial"/>
            </a:endParaRPr>
          </a:p>
          <a:p>
            <a:pPr indent="0" lvl="0" marL="0" rtl="0" algn="l">
              <a:lnSpc>
                <a:spcPct val="100000"/>
              </a:lnSpc>
              <a:spcBef>
                <a:spcPts val="0"/>
              </a:spcBef>
              <a:spcAft>
                <a:spcPts val="0"/>
              </a:spcAft>
              <a:buClr>
                <a:srgbClr val="000000"/>
              </a:buClr>
              <a:buSzPts val="1800"/>
              <a:buFont typeface="Arial"/>
              <a:buNone/>
            </a:pPr>
            <a:r>
              <a:t/>
            </a:r>
            <a:endParaRPr sz="1400">
              <a:solidFill>
                <a:srgbClr val="000000"/>
              </a:solidFill>
              <a:latin typeface="Arial"/>
              <a:ea typeface="Arial"/>
              <a:cs typeface="Arial"/>
              <a:sym typeface="Arial"/>
            </a:endParaRPr>
          </a:p>
          <a:p>
            <a:pPr indent="0" lvl="0" marL="457200" rtl="0" algn="l">
              <a:lnSpc>
                <a:spcPct val="100000"/>
              </a:lnSpc>
              <a:spcBef>
                <a:spcPts val="0"/>
              </a:spcBef>
              <a:spcAft>
                <a:spcPts val="0"/>
              </a:spcAft>
              <a:buSzPts val="1800"/>
              <a:buNone/>
            </a:pPr>
            <a:r>
              <a:t/>
            </a:r>
            <a:endParaRPr sz="1400">
              <a:solidFill>
                <a:srgbClr val="000000"/>
              </a:solidFill>
              <a:latin typeface="Arial"/>
              <a:ea typeface="Arial"/>
              <a:cs typeface="Arial"/>
              <a:sym typeface="Arial"/>
            </a:endParaRPr>
          </a:p>
          <a:p>
            <a:pPr indent="0" lvl="0" marL="457200" rtl="0" algn="l">
              <a:lnSpc>
                <a:spcPct val="100000"/>
              </a:lnSpc>
              <a:spcBef>
                <a:spcPts val="0"/>
              </a:spcBef>
              <a:spcAft>
                <a:spcPts val="0"/>
              </a:spcAft>
              <a:buSzPts val="1800"/>
              <a:buNone/>
            </a:pPr>
            <a:r>
              <a:t/>
            </a:r>
            <a:endParaRPr sz="1400">
              <a:solidFill>
                <a:srgbClr val="000000"/>
              </a:solidFill>
              <a:latin typeface="Arial"/>
              <a:ea typeface="Arial"/>
              <a:cs typeface="Arial"/>
              <a:sym typeface="Arial"/>
            </a:endParaRPr>
          </a:p>
          <a:p>
            <a:pPr indent="0" lvl="0" marL="457200" rtl="0" algn="l">
              <a:lnSpc>
                <a:spcPct val="115000"/>
              </a:lnSpc>
              <a:spcBef>
                <a:spcPts val="1200"/>
              </a:spcBef>
              <a:spcAft>
                <a:spcPts val="0"/>
              </a:spcAft>
              <a:buSzPts val="1800"/>
              <a:buNone/>
            </a:pPr>
            <a:r>
              <a:t/>
            </a:r>
            <a:endParaRPr sz="1100">
              <a:solidFill>
                <a:srgbClr val="000000"/>
              </a:solidFill>
              <a:latin typeface="Arial"/>
              <a:ea typeface="Arial"/>
              <a:cs typeface="Arial"/>
              <a:sym typeface="Arial"/>
            </a:endParaRPr>
          </a:p>
          <a:p>
            <a:pPr indent="0" lvl="0" marL="457200" rtl="0" algn="l">
              <a:lnSpc>
                <a:spcPct val="115000"/>
              </a:lnSpc>
              <a:spcBef>
                <a:spcPts val="1200"/>
              </a:spcBef>
              <a:spcAft>
                <a:spcPts val="0"/>
              </a:spcAft>
              <a:buSzPts val="1800"/>
              <a:buNone/>
            </a:pPr>
            <a:r>
              <a:t/>
            </a:r>
            <a:endParaRPr sz="1100">
              <a:solidFill>
                <a:srgbClr val="000000"/>
              </a:solidFill>
              <a:latin typeface="Arial"/>
              <a:ea typeface="Arial"/>
              <a:cs typeface="Arial"/>
              <a:sym typeface="Arial"/>
            </a:endParaRPr>
          </a:p>
          <a:p>
            <a:pPr indent="-317500" lvl="0" marL="457200" rtl="0" algn="l">
              <a:lnSpc>
                <a:spcPct val="100000"/>
              </a:lnSpc>
              <a:spcBef>
                <a:spcPts val="1200"/>
              </a:spcBef>
              <a:spcAft>
                <a:spcPts val="0"/>
              </a:spcAft>
              <a:buClr>
                <a:srgbClr val="000000"/>
              </a:buClr>
              <a:buSzPts val="1400"/>
              <a:buFont typeface="Arial"/>
              <a:buChar char="•"/>
            </a:pPr>
            <a:r>
              <a:rPr lang="en-US" sz="1400">
                <a:solidFill>
                  <a:srgbClr val="000000"/>
                </a:solidFill>
                <a:latin typeface="Arial"/>
                <a:ea typeface="Arial"/>
                <a:cs typeface="Arial"/>
                <a:sym typeface="Arial"/>
              </a:rPr>
              <a:t>Lab A: Single‑heater system.</a:t>
            </a:r>
            <a:endParaRPr sz="1400">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Labs B–G: Two‑heater interactions and multivariable effects.</a:t>
            </a:r>
            <a:endParaRPr sz="1400">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Emphasis throughout: parameter estimation, transfer‑function modeling,</a:t>
            </a:r>
            <a:endParaRPr sz="1400">
              <a:solidFill>
                <a:srgbClr val="000000"/>
              </a:solidFill>
              <a:latin typeface="Arial"/>
              <a:ea typeface="Arial"/>
              <a:cs typeface="Arial"/>
              <a:sym typeface="Arial"/>
            </a:endParaRPr>
          </a:p>
          <a:p>
            <a:pPr indent="-317500" lvl="0" marL="457200" rtl="0" algn="l">
              <a:lnSpc>
                <a:spcPct val="100000"/>
              </a:lnSpc>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 and feedback design.</a:t>
            </a:r>
            <a:endParaRPr sz="1400">
              <a:solidFill>
                <a:srgbClr val="000000"/>
              </a:solidFill>
              <a:latin typeface="Arial"/>
              <a:ea typeface="Arial"/>
              <a:cs typeface="Arial"/>
              <a:sym typeface="Arial"/>
            </a:endParaRPr>
          </a:p>
          <a:p>
            <a:pPr indent="0" lvl="0" marL="457200" rtl="0" algn="l">
              <a:lnSpc>
                <a:spcPct val="100000"/>
              </a:lnSpc>
              <a:spcBef>
                <a:spcPts val="0"/>
              </a:spcBef>
              <a:spcAft>
                <a:spcPts val="0"/>
              </a:spcAft>
              <a:buSzPts val="1800"/>
              <a:buNone/>
            </a:pPr>
            <a:r>
              <a:t/>
            </a:r>
            <a:endParaRPr sz="1400">
              <a:solidFill>
                <a:srgbClr val="000000"/>
              </a:solidFill>
              <a:latin typeface="Arial"/>
              <a:ea typeface="Arial"/>
              <a:cs typeface="Arial"/>
              <a:sym typeface="Arial"/>
            </a:endParaRPr>
          </a:p>
          <a:p>
            <a:pPr indent="0" lvl="0" marL="0" rtl="0" algn="l">
              <a:lnSpc>
                <a:spcPct val="90000"/>
              </a:lnSpc>
              <a:spcBef>
                <a:spcPts val="750"/>
              </a:spcBef>
              <a:spcAft>
                <a:spcPts val="0"/>
              </a:spcAft>
              <a:buSzPts val="1800"/>
              <a:buNone/>
            </a:pPr>
            <a:r>
              <a:t/>
            </a:r>
            <a:endParaRPr/>
          </a:p>
        </p:txBody>
      </p:sp>
      <p:sp>
        <p:nvSpPr>
          <p:cNvPr id="197" name="Google Shape;197;g3d333a04153_0_4"/>
          <p:cNvSpPr txBox="1"/>
          <p:nvPr>
            <p:ph idx="12" type="sldNum"/>
          </p:nvPr>
        </p:nvSpPr>
        <p:spPr>
          <a:xfrm>
            <a:off x="6457950" y="4767262"/>
            <a:ext cx="2057400" cy="2745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898989"/>
              </a:buClr>
              <a:buSzPts val="900"/>
              <a:buFont typeface="Arial"/>
              <a:buNone/>
            </a:pPr>
            <a:fld id="{00000000-1234-1234-1234-123412341234}" type="slidenum">
              <a:rPr lang="en-US"/>
              <a:t>‹#›</a:t>
            </a:fld>
            <a:endParaRPr sz="1000">
              <a:solidFill>
                <a:schemeClr val="lt1"/>
              </a:solidFill>
            </a:endParaRPr>
          </a:p>
        </p:txBody>
      </p:sp>
      <p:pic>
        <p:nvPicPr>
          <p:cNvPr id="198" name="Google Shape;198;g3d333a04153_0_4"/>
          <p:cNvPicPr preferRelativeResize="0"/>
          <p:nvPr/>
        </p:nvPicPr>
        <p:blipFill rotWithShape="1">
          <a:blip r:embed="rId3">
            <a:alphaModFix/>
          </a:blip>
          <a:srcRect b="0" l="0" r="0" t="0"/>
          <a:stretch/>
        </p:blipFill>
        <p:spPr>
          <a:xfrm>
            <a:off x="1723475" y="1457900"/>
            <a:ext cx="2343175" cy="584675"/>
          </a:xfrm>
          <a:prstGeom prst="rect">
            <a:avLst/>
          </a:prstGeom>
          <a:noFill/>
          <a:ln>
            <a:noFill/>
          </a:ln>
        </p:spPr>
      </p:pic>
      <p:pic>
        <p:nvPicPr>
          <p:cNvPr id="199" name="Google Shape;199;g3d333a04153_0_4"/>
          <p:cNvPicPr preferRelativeResize="0"/>
          <p:nvPr/>
        </p:nvPicPr>
        <p:blipFill rotWithShape="1">
          <a:blip r:embed="rId4">
            <a:alphaModFix/>
          </a:blip>
          <a:srcRect b="23645" l="30450" r="31943" t="22603"/>
          <a:stretch/>
        </p:blipFill>
        <p:spPr>
          <a:xfrm>
            <a:off x="4455025" y="1389375"/>
            <a:ext cx="2238375" cy="1800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d333a04153_0_37"/>
          <p:cNvSpPr txBox="1"/>
          <p:nvPr>
            <p:ph type="title"/>
          </p:nvPr>
        </p:nvSpPr>
        <p:spPr>
          <a:xfrm>
            <a:off x="625475" y="52975"/>
            <a:ext cx="7886700" cy="372600"/>
          </a:xfrm>
          <a:prstGeom prst="rect">
            <a:avLst/>
          </a:prstGeom>
          <a:noFill/>
          <a:ln>
            <a:noFill/>
          </a:ln>
        </p:spPr>
        <p:txBody>
          <a:bodyPr anchorCtr="0" anchor="ctr" bIns="34275" lIns="68575" spcFirstLastPara="1" rIns="68575" wrap="square" tIns="34275">
            <a:noAutofit/>
          </a:bodyPr>
          <a:lstStyle/>
          <a:p>
            <a:pPr indent="0" lvl="0" marL="0" rtl="0" algn="ctr">
              <a:lnSpc>
                <a:spcPct val="115000"/>
              </a:lnSpc>
              <a:spcBef>
                <a:spcPts val="1400"/>
              </a:spcBef>
              <a:spcAft>
                <a:spcPts val="400"/>
              </a:spcAft>
              <a:buSzPts val="3000"/>
              <a:buNone/>
            </a:pPr>
            <a:r>
              <a:rPr b="1" lang="en-US" sz="1300">
                <a:solidFill>
                  <a:srgbClr val="000000"/>
                </a:solidFill>
                <a:latin typeface="Arial"/>
                <a:ea typeface="Arial"/>
                <a:cs typeface="Arial"/>
                <a:sym typeface="Arial"/>
              </a:rPr>
              <a:t>Step Response: What the Data Shows</a:t>
            </a:r>
            <a:endParaRPr/>
          </a:p>
        </p:txBody>
      </p:sp>
      <p:sp>
        <p:nvSpPr>
          <p:cNvPr id="206" name="Google Shape;206;g3d333a04153_0_37"/>
          <p:cNvSpPr txBox="1"/>
          <p:nvPr>
            <p:ph idx="2" type="body"/>
          </p:nvPr>
        </p:nvSpPr>
        <p:spPr>
          <a:xfrm>
            <a:off x="628650" y="614550"/>
            <a:ext cx="7886700" cy="40182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400"/>
              </a:spcBef>
              <a:spcAft>
                <a:spcPts val="0"/>
              </a:spcAft>
              <a:buSzPts val="1800"/>
              <a:buNone/>
            </a:pPr>
            <a:r>
              <a:rPr b="1" lang="en-US" sz="1300">
                <a:solidFill>
                  <a:srgbClr val="000000"/>
                </a:solidFill>
                <a:latin typeface="Arial"/>
                <a:ea typeface="Arial"/>
                <a:cs typeface="Arial"/>
                <a:sym typeface="Arial"/>
              </a:rPr>
              <a:t>A step input in heater power was applied, and temperature response was recorded.</a:t>
            </a:r>
            <a:endParaRPr b="1" sz="1300">
              <a:solidFill>
                <a:srgbClr val="000000"/>
              </a:solidFill>
              <a:latin typeface="Arial"/>
              <a:ea typeface="Arial"/>
              <a:cs typeface="Arial"/>
              <a:sym typeface="Arial"/>
            </a:endParaRPr>
          </a:p>
          <a:p>
            <a:pPr indent="-336550" lvl="0" marL="457200" rtl="0" algn="l">
              <a:lnSpc>
                <a:spcPct val="115000"/>
              </a:lnSpc>
              <a:spcBef>
                <a:spcPts val="1200"/>
              </a:spcBef>
              <a:spcAft>
                <a:spcPts val="0"/>
              </a:spcAft>
              <a:buClr>
                <a:srgbClr val="000000"/>
              </a:buClr>
              <a:buSzPts val="1700"/>
              <a:buFont typeface="Arial"/>
              <a:buChar char="●"/>
            </a:pPr>
            <a:r>
              <a:rPr lang="en-US" sz="1700">
                <a:solidFill>
                  <a:srgbClr val="000000"/>
                </a:solidFill>
                <a:latin typeface="Arial"/>
                <a:ea typeface="Arial"/>
                <a:cs typeface="Arial"/>
                <a:sym typeface="Arial"/>
              </a:rPr>
              <a:t>Slow first‑order rise</a:t>
            </a:r>
            <a:endParaRPr sz="1700">
              <a:solidFill>
                <a:srgbClr val="000000"/>
              </a:solidFill>
              <a:latin typeface="Arial"/>
              <a:ea typeface="Arial"/>
              <a:cs typeface="Arial"/>
              <a:sym typeface="Arial"/>
            </a:endParaRPr>
          </a:p>
          <a:p>
            <a:pPr indent="-336550" lvl="0" marL="457200" rtl="0" algn="l">
              <a:lnSpc>
                <a:spcPct val="115000"/>
              </a:lnSpc>
              <a:spcBef>
                <a:spcPts val="0"/>
              </a:spcBef>
              <a:spcAft>
                <a:spcPts val="0"/>
              </a:spcAft>
              <a:buClr>
                <a:srgbClr val="000000"/>
              </a:buClr>
              <a:buSzPts val="1700"/>
              <a:buFont typeface="Arial"/>
              <a:buChar char="●"/>
            </a:pPr>
            <a:r>
              <a:rPr lang="en-US" sz="1700">
                <a:solidFill>
                  <a:srgbClr val="000000"/>
                </a:solidFill>
                <a:latin typeface="Arial"/>
                <a:ea typeface="Arial"/>
                <a:cs typeface="Arial"/>
                <a:sym typeface="Arial"/>
              </a:rPr>
              <a:t>No oscillation</a:t>
            </a:r>
            <a:endParaRPr sz="1700">
              <a:solidFill>
                <a:srgbClr val="000000"/>
              </a:solidFill>
              <a:latin typeface="Arial"/>
              <a:ea typeface="Arial"/>
              <a:cs typeface="Arial"/>
              <a:sym typeface="Arial"/>
            </a:endParaRPr>
          </a:p>
          <a:p>
            <a:pPr indent="-336550" lvl="0" marL="457200" rtl="0" algn="l">
              <a:lnSpc>
                <a:spcPct val="115000"/>
              </a:lnSpc>
              <a:spcBef>
                <a:spcPts val="0"/>
              </a:spcBef>
              <a:spcAft>
                <a:spcPts val="0"/>
              </a:spcAft>
              <a:buClr>
                <a:srgbClr val="000000"/>
              </a:buClr>
              <a:buSzPts val="1700"/>
              <a:buFont typeface="Arial"/>
              <a:buChar char="●"/>
            </a:pPr>
            <a:r>
              <a:rPr lang="en-US" sz="1700">
                <a:solidFill>
                  <a:srgbClr val="000000"/>
                </a:solidFill>
                <a:latin typeface="Arial"/>
                <a:ea typeface="Arial"/>
                <a:cs typeface="Arial"/>
                <a:sym typeface="Arial"/>
              </a:rPr>
              <a:t>Clear dead time (delay)</a:t>
            </a:r>
            <a:endParaRPr sz="1700">
              <a:solidFill>
                <a:srgbClr val="000000"/>
              </a:solidFill>
              <a:latin typeface="Arial"/>
              <a:ea typeface="Arial"/>
              <a:cs typeface="Arial"/>
              <a:sym typeface="Arial"/>
            </a:endParaRPr>
          </a:p>
          <a:p>
            <a:pPr indent="-336550" lvl="0" marL="457200" rtl="0" algn="l">
              <a:lnSpc>
                <a:spcPct val="115000"/>
              </a:lnSpc>
              <a:spcBef>
                <a:spcPts val="0"/>
              </a:spcBef>
              <a:spcAft>
                <a:spcPts val="0"/>
              </a:spcAft>
              <a:buClr>
                <a:srgbClr val="000000"/>
              </a:buClr>
              <a:buSzPts val="1700"/>
              <a:buFont typeface="Arial"/>
              <a:buChar char="●"/>
            </a:pPr>
            <a:r>
              <a:rPr lang="en-US" sz="1700">
                <a:solidFill>
                  <a:srgbClr val="000000"/>
                </a:solidFill>
                <a:latin typeface="Arial"/>
                <a:ea typeface="Arial"/>
                <a:cs typeface="Arial"/>
                <a:sym typeface="Arial"/>
              </a:rPr>
              <a:t>Steady‑state gain identifiable</a:t>
            </a:r>
            <a:endParaRPr sz="17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t/>
            </a:r>
            <a:endParaRPr sz="17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800"/>
              <a:buNone/>
            </a:pPr>
            <a:r>
              <a:rPr lang="en-US" sz="1700">
                <a:solidFill>
                  <a:srgbClr val="000000"/>
                </a:solidFill>
                <a:latin typeface="Arial"/>
                <a:ea typeface="Arial"/>
                <a:cs typeface="Arial"/>
                <a:sym typeface="Arial"/>
              </a:rPr>
              <a:t>  Speaking of Deadtime or Delay in heating</a:t>
            </a:r>
            <a:endParaRPr sz="1700">
              <a:solidFill>
                <a:srgbClr val="000000"/>
              </a:solidFill>
              <a:latin typeface="Arial"/>
              <a:ea typeface="Arial"/>
              <a:cs typeface="Arial"/>
              <a:sym typeface="Arial"/>
            </a:endParaRPr>
          </a:p>
        </p:txBody>
      </p:sp>
      <p:sp>
        <p:nvSpPr>
          <p:cNvPr id="207" name="Google Shape;207;g3d333a04153_0_37"/>
          <p:cNvSpPr txBox="1"/>
          <p:nvPr>
            <p:ph idx="12" type="sldNum"/>
          </p:nvPr>
        </p:nvSpPr>
        <p:spPr>
          <a:xfrm>
            <a:off x="6457950" y="4767262"/>
            <a:ext cx="2057400" cy="2745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898989"/>
              </a:buClr>
              <a:buSzPts val="900"/>
              <a:buFont typeface="Arial"/>
              <a:buNone/>
            </a:pPr>
            <a:fld id="{00000000-1234-1234-1234-123412341234}" type="slidenum">
              <a:rPr lang="en-US"/>
              <a:t>‹#›</a:t>
            </a:fld>
            <a:endParaRPr sz="1000">
              <a:solidFill>
                <a:schemeClr val="lt1"/>
              </a:solidFill>
            </a:endParaRPr>
          </a:p>
        </p:txBody>
      </p:sp>
      <p:pic>
        <p:nvPicPr>
          <p:cNvPr id="208" name="Google Shape;208;g3d333a04153_0_37"/>
          <p:cNvPicPr preferRelativeResize="0"/>
          <p:nvPr/>
        </p:nvPicPr>
        <p:blipFill rotWithShape="1">
          <a:blip r:embed="rId3">
            <a:alphaModFix/>
          </a:blip>
          <a:srcRect b="22744" l="30560" r="29859" t="27423"/>
          <a:stretch/>
        </p:blipFill>
        <p:spPr>
          <a:xfrm>
            <a:off x="5085777" y="1298623"/>
            <a:ext cx="3369648" cy="2386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1250f1d3c68_1_34"/>
          <p:cNvSpPr txBox="1"/>
          <p:nvPr>
            <p:ph idx="12" type="sldNum"/>
          </p:nvPr>
        </p:nvSpPr>
        <p:spPr>
          <a:xfrm>
            <a:off x="7086600" y="12"/>
            <a:ext cx="2057400" cy="2745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898989"/>
              </a:buClr>
              <a:buSzPts val="900"/>
              <a:buFont typeface="Arial"/>
              <a:buNone/>
            </a:pPr>
            <a:fld id="{00000000-1234-1234-1234-123412341234}" type="slidenum">
              <a:rPr lang="en-US">
                <a:solidFill>
                  <a:schemeClr val="dk2"/>
                </a:solidFill>
              </a:rPr>
              <a:t>‹#›</a:t>
            </a:fld>
            <a:endParaRPr sz="1000">
              <a:solidFill>
                <a:schemeClr val="dk2"/>
              </a:solidFill>
            </a:endParaRPr>
          </a:p>
        </p:txBody>
      </p:sp>
      <p:sp>
        <p:nvSpPr>
          <p:cNvPr id="215" name="Google Shape;215;g1250f1d3c68_1_34"/>
          <p:cNvSpPr txBox="1"/>
          <p:nvPr/>
        </p:nvSpPr>
        <p:spPr>
          <a:xfrm>
            <a:off x="374500" y="698850"/>
            <a:ext cx="4689600" cy="1169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Delay caused by the heater slowly rising in temperature: a first order-plus-dead-time (FOPDT) model is identified from experimental step-response data collected via an Arduino microcontroller with dual heaters and temperature sensors. </a:t>
            </a:r>
            <a:endParaRPr b="0" i="0" sz="1400" u="none" cap="none" strike="noStrike">
              <a:solidFill>
                <a:srgbClr val="000000"/>
              </a:solidFill>
              <a:latin typeface="Arial"/>
              <a:ea typeface="Arial"/>
              <a:cs typeface="Arial"/>
              <a:sym typeface="Arial"/>
            </a:endParaRPr>
          </a:p>
        </p:txBody>
      </p:sp>
      <p:sp>
        <p:nvSpPr>
          <p:cNvPr id="216" name="Google Shape;216;g1250f1d3c68_1_34"/>
          <p:cNvSpPr txBox="1"/>
          <p:nvPr/>
        </p:nvSpPr>
        <p:spPr>
          <a:xfrm>
            <a:off x="5679125" y="1931475"/>
            <a:ext cx="2057400" cy="81630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217" name="Google Shape;217;g1250f1d3c68_1_34"/>
          <p:cNvSpPr txBox="1"/>
          <p:nvPr/>
        </p:nvSpPr>
        <p:spPr>
          <a:xfrm>
            <a:off x="2881399" y="-82314"/>
            <a:ext cx="3647209"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Including Process Deadtime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Time for heater to heat up</a:t>
            </a:r>
            <a:endParaRPr b="0" i="0" sz="1400" u="none" cap="none" strike="noStrike">
              <a:solidFill>
                <a:srgbClr val="000000"/>
              </a:solidFill>
              <a:latin typeface="Arial"/>
              <a:ea typeface="Arial"/>
              <a:cs typeface="Arial"/>
              <a:sym typeface="Arial"/>
            </a:endParaRPr>
          </a:p>
        </p:txBody>
      </p:sp>
      <p:sp>
        <p:nvSpPr>
          <p:cNvPr id="218" name="Google Shape;218;g1250f1d3c68_1_34"/>
          <p:cNvSpPr txBox="1"/>
          <p:nvPr/>
        </p:nvSpPr>
        <p:spPr>
          <a:xfrm>
            <a:off x="5137538" y="502681"/>
            <a:ext cx="38310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Because Real Thermal systems have transport delay</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(Dead Time) where in this case:</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Kp is 1</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Tau is 60 sec</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Theta is 20 sec</a:t>
            </a:r>
            <a:endParaRPr b="0" i="0" sz="1200" u="none" cap="none" strike="noStrike">
              <a:solidFill>
                <a:srgbClr val="000000"/>
              </a:solidFill>
              <a:latin typeface="Arial"/>
              <a:ea typeface="Arial"/>
              <a:cs typeface="Arial"/>
              <a:sym typeface="Arial"/>
            </a:endParaRPr>
          </a:p>
        </p:txBody>
      </p:sp>
      <p:sp>
        <p:nvSpPr>
          <p:cNvPr id="219" name="Google Shape;219;g1250f1d3c68_1_34"/>
          <p:cNvSpPr txBox="1"/>
          <p:nvPr/>
        </p:nvSpPr>
        <p:spPr>
          <a:xfrm>
            <a:off x="2283928" y="2185746"/>
            <a:ext cx="45762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g1250f1d3c68_1_34"/>
          <p:cNvSpPr txBox="1"/>
          <p:nvPr/>
        </p:nvSpPr>
        <p:spPr>
          <a:xfrm>
            <a:off x="562439" y="2090008"/>
            <a:ext cx="4443300" cy="1640100"/>
          </a:xfrm>
          <a:prstGeom prst="rect">
            <a:avLst/>
          </a:prstGeom>
          <a:blipFill rotWithShape="1">
            <a:blip r:embed="rId4">
              <a:alphaModFix/>
            </a:blip>
            <a:stretch>
              <a:fillRect b="-2602" l="-412" r="0" t="-37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221" name="Google Shape;221;g1250f1d3c68_1_34"/>
          <p:cNvPicPr preferRelativeResize="0"/>
          <p:nvPr/>
        </p:nvPicPr>
        <p:blipFill rotWithShape="1">
          <a:blip r:embed="rId5">
            <a:alphaModFix/>
          </a:blip>
          <a:srcRect b="0" l="0" r="0" t="0"/>
          <a:stretch/>
        </p:blipFill>
        <p:spPr>
          <a:xfrm>
            <a:off x="5855725" y="2779808"/>
            <a:ext cx="2095500" cy="1076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d333a04153_0_20"/>
          <p:cNvSpPr txBox="1"/>
          <p:nvPr>
            <p:ph type="title"/>
          </p:nvPr>
        </p:nvSpPr>
        <p:spPr>
          <a:xfrm>
            <a:off x="457200" y="206375"/>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000"/>
              <a:buNone/>
            </a:pPr>
            <a:r>
              <a:rPr lang="en-US"/>
              <a:t>Key Insights</a:t>
            </a:r>
            <a:endParaRPr/>
          </a:p>
        </p:txBody>
      </p:sp>
      <p:sp>
        <p:nvSpPr>
          <p:cNvPr id="228" name="Google Shape;228;g3d333a04153_0_20"/>
          <p:cNvSpPr txBox="1"/>
          <p:nvPr>
            <p:ph idx="1" type="body"/>
          </p:nvPr>
        </p:nvSpPr>
        <p:spPr>
          <a:xfrm>
            <a:off x="457200" y="1200150"/>
            <a:ext cx="8229600" cy="3394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SzPts val="1800"/>
              <a:buNone/>
            </a:pPr>
            <a:r>
              <a:rPr lang="en-US" sz="1900">
                <a:solidFill>
                  <a:srgbClr val="000000"/>
                </a:solidFill>
                <a:latin typeface="Arial"/>
                <a:ea typeface="Arial"/>
                <a:cs typeface="Arial"/>
                <a:sym typeface="Arial"/>
              </a:rPr>
              <a:t>Now that we understand the TCLab system, we collect step‑response data to characterize its dynamics using two models.</a:t>
            </a:r>
            <a:endParaRPr/>
          </a:p>
          <a:p>
            <a:pPr indent="0" lvl="0" marL="0" rtl="0" algn="l">
              <a:lnSpc>
                <a:spcPct val="115000"/>
              </a:lnSpc>
              <a:spcBef>
                <a:spcPts val="1400"/>
              </a:spcBef>
              <a:spcAft>
                <a:spcPts val="0"/>
              </a:spcAft>
              <a:buSzPts val="1800"/>
              <a:buNone/>
            </a:pPr>
            <a:r>
              <a:rPr b="1" lang="en-US">
                <a:solidFill>
                  <a:srgbClr val="000000"/>
                </a:solidFill>
                <a:latin typeface="Arial"/>
                <a:ea typeface="Arial"/>
                <a:cs typeface="Arial"/>
                <a:sym typeface="Arial"/>
              </a:rPr>
              <a:t>Why Two Models?</a:t>
            </a:r>
            <a:endParaRPr/>
          </a:p>
          <a:p>
            <a:pPr indent="-330200" lvl="0" marL="457200" rtl="0" algn="l">
              <a:lnSpc>
                <a:spcPct val="115000"/>
              </a:lnSpc>
              <a:spcBef>
                <a:spcPts val="1200"/>
              </a:spcBef>
              <a:spcAft>
                <a:spcPts val="0"/>
              </a:spcAft>
              <a:buClr>
                <a:srgbClr val="000000"/>
              </a:buClr>
              <a:buSzPts val="1600"/>
              <a:buFont typeface="Arial"/>
              <a:buChar char="●"/>
            </a:pPr>
            <a:r>
              <a:rPr b="1" lang="en-US" sz="1600">
                <a:solidFill>
                  <a:srgbClr val="000000"/>
                </a:solidFill>
                <a:latin typeface="Arial"/>
                <a:ea typeface="Arial"/>
                <a:cs typeface="Arial"/>
                <a:sym typeface="Arial"/>
              </a:rPr>
              <a:t>FOPDT:</a:t>
            </a:r>
            <a:r>
              <a:rPr lang="en-US" sz="1600">
                <a:solidFill>
                  <a:srgbClr val="000000"/>
                </a:solidFill>
                <a:latin typeface="Arial"/>
                <a:ea typeface="Arial"/>
                <a:cs typeface="Arial"/>
                <a:sym typeface="Arial"/>
              </a:rPr>
              <a:t> Simple, fast to tune, good for single‑heater control</a:t>
            </a:r>
            <a:endParaRPr sz="1600">
              <a:solidFill>
                <a:srgbClr val="000000"/>
              </a:solidFill>
              <a:latin typeface="Arial"/>
              <a:ea typeface="Arial"/>
              <a:cs typeface="Arial"/>
              <a:sym typeface="Arial"/>
            </a:endParaRPr>
          </a:p>
          <a:p>
            <a:pPr indent="-330200" lvl="0" marL="457200" rtl="0" algn="l">
              <a:lnSpc>
                <a:spcPct val="115000"/>
              </a:lnSpc>
              <a:spcBef>
                <a:spcPts val="0"/>
              </a:spcBef>
              <a:spcAft>
                <a:spcPts val="0"/>
              </a:spcAft>
              <a:buClr>
                <a:srgbClr val="000000"/>
              </a:buClr>
              <a:buSzPts val="1600"/>
              <a:buFont typeface="Arial"/>
              <a:buChar char="●"/>
            </a:pPr>
            <a:r>
              <a:rPr b="1" lang="en-US" sz="1600">
                <a:solidFill>
                  <a:srgbClr val="000000"/>
                </a:solidFill>
                <a:latin typeface="Arial"/>
                <a:ea typeface="Arial"/>
                <a:cs typeface="Arial"/>
                <a:sym typeface="Arial"/>
              </a:rPr>
              <a:t>Energy balance:</a:t>
            </a:r>
            <a:r>
              <a:rPr lang="en-US" sz="1600">
                <a:solidFill>
                  <a:srgbClr val="000000"/>
                </a:solidFill>
                <a:latin typeface="Arial"/>
                <a:ea typeface="Arial"/>
                <a:cs typeface="Arial"/>
                <a:sym typeface="Arial"/>
              </a:rPr>
              <a:t> Physics‑based, captures cross‑coupling, needed for two‑heater systems</a:t>
            </a:r>
            <a:endParaRPr sz="1600">
              <a:solidFill>
                <a:srgbClr val="000000"/>
              </a:solidFill>
              <a:latin typeface="Arial"/>
              <a:ea typeface="Arial"/>
              <a:cs typeface="Arial"/>
              <a:sym typeface="Arial"/>
            </a:endParaRPr>
          </a:p>
          <a:p>
            <a:pPr indent="-330200" lvl="0" marL="457200" rtl="0" algn="l">
              <a:lnSpc>
                <a:spcPct val="115000"/>
              </a:lnSpc>
              <a:spcBef>
                <a:spcPts val="0"/>
              </a:spcBef>
              <a:spcAft>
                <a:spcPts val="0"/>
              </a:spcAft>
              <a:buClr>
                <a:srgbClr val="000000"/>
              </a:buClr>
              <a:buSzPts val="1600"/>
              <a:buFont typeface="Arial"/>
              <a:buChar char="●"/>
            </a:pPr>
            <a:r>
              <a:rPr b="1" lang="en-US" sz="1600">
                <a:solidFill>
                  <a:srgbClr val="000000"/>
                </a:solidFill>
                <a:latin typeface="Arial"/>
                <a:ea typeface="Arial"/>
                <a:cs typeface="Arial"/>
                <a:sym typeface="Arial"/>
              </a:rPr>
              <a:t>Comparison goal:</a:t>
            </a:r>
            <a:r>
              <a:rPr lang="en-US" sz="1600">
                <a:solidFill>
                  <a:srgbClr val="000000"/>
                </a:solidFill>
                <a:latin typeface="Arial"/>
                <a:ea typeface="Arial"/>
                <a:cs typeface="Arial"/>
                <a:sym typeface="Arial"/>
              </a:rPr>
              <a:t> Evaluate accuracy vs. complexity</a:t>
            </a:r>
            <a:endParaRPr sz="1600">
              <a:solidFill>
                <a:srgbClr val="000000"/>
              </a:solidFill>
              <a:latin typeface="Arial"/>
              <a:ea typeface="Arial"/>
              <a:cs typeface="Arial"/>
              <a:sym typeface="Arial"/>
            </a:endParaRPr>
          </a:p>
          <a:p>
            <a:pPr indent="-330200" lvl="0" marL="457200" rtl="0" algn="l">
              <a:lnSpc>
                <a:spcPct val="115000"/>
              </a:lnSpc>
              <a:spcBef>
                <a:spcPts val="0"/>
              </a:spcBef>
              <a:spcAft>
                <a:spcPts val="0"/>
              </a:spcAft>
              <a:buClr>
                <a:srgbClr val="000000"/>
              </a:buClr>
              <a:buSzPts val="1600"/>
              <a:buFont typeface="Arial"/>
              <a:buChar char="●"/>
            </a:pPr>
            <a:r>
              <a:rPr lang="en-US"/>
              <a:t>Other models like the Moving Horizon, 2nd Order Model, ARX (AutoRegressive) model, and Neural Network were </a:t>
            </a:r>
            <a:endParaRPr/>
          </a:p>
          <a:p>
            <a:pPr indent="0" lvl="0" marL="127000" rtl="0" algn="l">
              <a:lnSpc>
                <a:spcPct val="115000"/>
              </a:lnSpc>
              <a:spcBef>
                <a:spcPts val="0"/>
              </a:spcBef>
              <a:spcAft>
                <a:spcPts val="0"/>
              </a:spcAft>
              <a:buClr>
                <a:srgbClr val="000000"/>
              </a:buClr>
              <a:buSzPts val="1600"/>
              <a:buNone/>
            </a:pPr>
            <a:r>
              <a:rPr lang="en-US"/>
              <a:t>      beyond scope of this presentation</a:t>
            </a:r>
            <a:endParaRPr sz="1600">
              <a:solidFill>
                <a:srgbClr val="000000"/>
              </a:solidFill>
              <a:latin typeface="Arial"/>
              <a:ea typeface="Arial"/>
              <a:cs typeface="Arial"/>
              <a:sym typeface="Arial"/>
            </a:endParaRPr>
          </a:p>
          <a:p>
            <a:pPr indent="0" lvl="0" marL="0" rtl="0" algn="ctr">
              <a:lnSpc>
                <a:spcPct val="100000"/>
              </a:lnSpc>
              <a:spcBef>
                <a:spcPts val="1200"/>
              </a:spcBef>
              <a:spcAft>
                <a:spcPts val="0"/>
              </a:spcAft>
              <a:buSzPts val="1800"/>
              <a:buNone/>
            </a:pPr>
            <a:r>
              <a:rPr lang="en-US" sz="1900">
                <a:solidFill>
                  <a:srgbClr val="000000"/>
                </a:solidFill>
                <a:latin typeface="Arial"/>
                <a:ea typeface="Arial"/>
                <a:cs typeface="Arial"/>
                <a:sym typeface="Arial"/>
              </a:rPr>
              <a:t> </a:t>
            </a:r>
            <a:r>
              <a:rPr lang="en-US" sz="3500">
                <a:solidFill>
                  <a:srgbClr val="000000"/>
                </a:solidFill>
                <a:latin typeface="Arial"/>
                <a:ea typeface="Arial"/>
                <a:cs typeface="Arial"/>
                <a:sym typeface="Arial"/>
              </a:rPr>
              <a:t>   </a:t>
            </a:r>
            <a:endParaRPr sz="3500">
              <a:solidFill>
                <a:srgbClr val="000000"/>
              </a:solidFill>
              <a:latin typeface="Arial"/>
              <a:ea typeface="Arial"/>
              <a:cs typeface="Arial"/>
              <a:sym typeface="Arial"/>
            </a:endParaRPr>
          </a:p>
          <a:p>
            <a:pPr indent="0" lvl="0" marL="0" rtl="0" algn="ctr">
              <a:lnSpc>
                <a:spcPct val="100000"/>
              </a:lnSpc>
              <a:spcBef>
                <a:spcPts val="0"/>
              </a:spcBef>
              <a:spcAft>
                <a:spcPts val="0"/>
              </a:spcAft>
              <a:buClr>
                <a:srgbClr val="000000"/>
              </a:buClr>
              <a:buSzPts val="1800"/>
              <a:buFont typeface="Arial"/>
              <a:buNone/>
            </a:pPr>
            <a:r>
              <a:t/>
            </a:r>
            <a:endParaRPr sz="3500">
              <a:solidFill>
                <a:srgbClr val="000000"/>
              </a:solidFill>
              <a:latin typeface="Arial"/>
              <a:ea typeface="Arial"/>
              <a:cs typeface="Arial"/>
              <a:sym typeface="Arial"/>
            </a:endParaRPr>
          </a:p>
        </p:txBody>
      </p:sp>
      <p:sp>
        <p:nvSpPr>
          <p:cNvPr id="229" name="Google Shape;229;g3d333a04153_0_20"/>
          <p:cNvSpPr txBox="1"/>
          <p:nvPr>
            <p:ph idx="12" type="sldNum"/>
          </p:nvPr>
        </p:nvSpPr>
        <p:spPr>
          <a:xfrm>
            <a:off x="6553200" y="4767262"/>
            <a:ext cx="2133600" cy="274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898989"/>
              </a:buClr>
              <a:buSzPts val="1800"/>
              <a:buFont typeface="Arial"/>
              <a:buNone/>
            </a:pPr>
            <a:fld id="{00000000-1234-1234-1234-123412341234}" type="slidenum">
              <a:rPr lang="en-US"/>
              <a:t>‹#›</a:t>
            </a:fld>
            <a:endParaRPr sz="10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8"/>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US">
                <a:solidFill>
                  <a:schemeClr val="dk1"/>
                </a:solidFill>
              </a:rPr>
              <a:t>Heater Plot Explained</a:t>
            </a:r>
            <a:endParaRPr/>
          </a:p>
        </p:txBody>
      </p:sp>
      <p:sp>
        <p:nvSpPr>
          <p:cNvPr id="236" name="Google Shape;236;p8"/>
          <p:cNvSpPr txBox="1"/>
          <p:nvPr>
            <p:ph idx="12" type="sldNum"/>
          </p:nvPr>
        </p:nvSpPr>
        <p:spPr>
          <a:xfrm>
            <a:off x="8595306" y="-1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37" name="Google Shape;237;p8"/>
          <p:cNvPicPr preferRelativeResize="0"/>
          <p:nvPr/>
        </p:nvPicPr>
        <p:blipFill rotWithShape="1">
          <a:blip r:embed="rId3">
            <a:alphaModFix/>
          </a:blip>
          <a:srcRect b="10231" l="30723" r="11858" t="18060"/>
          <a:stretch/>
        </p:blipFill>
        <p:spPr>
          <a:xfrm>
            <a:off x="166255" y="947651"/>
            <a:ext cx="5419898" cy="3799820"/>
          </a:xfrm>
          <a:prstGeom prst="rect">
            <a:avLst/>
          </a:prstGeom>
          <a:noFill/>
          <a:ln>
            <a:noFill/>
          </a:ln>
        </p:spPr>
      </p:pic>
      <p:sp>
        <p:nvSpPr>
          <p:cNvPr id="238" name="Google Shape;238;p8"/>
          <p:cNvSpPr txBox="1"/>
          <p:nvPr/>
        </p:nvSpPr>
        <p:spPr>
          <a:xfrm>
            <a:off x="5453121" y="2571750"/>
            <a:ext cx="29178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Panel 3) Heater power inputs Q₁ and Q₂ (off) over time. These signals represent the applied heating profiles that drive the temperature dynamics shown in the upper panels.</a:t>
            </a:r>
            <a:endParaRPr b="0" i="0" sz="1400" u="none" cap="none" strike="noStrike">
              <a:solidFill>
                <a:srgbClr val="000000"/>
              </a:solidFill>
              <a:latin typeface="Arial"/>
              <a:ea typeface="Arial"/>
              <a:cs typeface="Arial"/>
              <a:sym typeface="Arial"/>
            </a:endParaRPr>
          </a:p>
        </p:txBody>
      </p:sp>
      <p:sp>
        <p:nvSpPr>
          <p:cNvPr id="239" name="Google Shape;239;p8"/>
          <p:cNvSpPr txBox="1"/>
          <p:nvPr/>
        </p:nvSpPr>
        <p:spPr>
          <a:xfrm>
            <a:off x="5648710" y="1265123"/>
            <a:ext cx="3183600" cy="11697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2"/>
                </a:solidFill>
                <a:latin typeface="Arial"/>
                <a:ea typeface="Arial"/>
                <a:cs typeface="Arial"/>
                <a:sym typeface="Arial"/>
              </a:rPr>
              <a:t>The step time was chosen to be roughly 1–2 time- constants </a:t>
            </a:r>
            <a:endParaRPr b="0" i="0" sz="1400" u="none" cap="none" strike="noStrike">
              <a:solidFill>
                <a:srgbClr val="000000"/>
              </a:solidFill>
              <a:latin typeface="Arial"/>
              <a:ea typeface="Arial"/>
              <a:cs typeface="Arial"/>
              <a:sym typeface="Arial"/>
            </a:endParaRPr>
          </a:p>
          <a:p>
            <a:pPr indent="-196850" lvl="0" marL="28575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2"/>
                </a:solidFill>
                <a:latin typeface="Arial"/>
                <a:ea typeface="Arial"/>
                <a:cs typeface="Arial"/>
                <a:sym typeface="Arial"/>
              </a:rPr>
              <a:t>Dominant first-order thermal dynamics  identified</a:t>
            </a:r>
            <a:endParaRPr b="0" i="0" sz="1400" u="none" cap="none" strike="noStrike">
              <a:solidFill>
                <a:schemeClr val="dk2"/>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1250f1d3c68_1_5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Heater Plots (cont)</a:t>
            </a:r>
            <a:endParaRPr/>
          </a:p>
        </p:txBody>
      </p:sp>
      <p:sp>
        <p:nvSpPr>
          <p:cNvPr id="246" name="Google Shape;246;g1250f1d3c68_1_57"/>
          <p:cNvSpPr txBox="1"/>
          <p:nvPr>
            <p:ph idx="12" type="sldNum"/>
          </p:nvPr>
        </p:nvSpPr>
        <p:spPr>
          <a:xfrm>
            <a:off x="8595306" y="-1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47" name="Google Shape;247;g1250f1d3c68_1_57"/>
          <p:cNvPicPr preferRelativeResize="0"/>
          <p:nvPr/>
        </p:nvPicPr>
        <p:blipFill rotWithShape="1">
          <a:blip r:embed="rId3">
            <a:alphaModFix/>
          </a:blip>
          <a:srcRect b="10231" l="30723" r="11858" t="18060"/>
          <a:stretch/>
        </p:blipFill>
        <p:spPr>
          <a:xfrm>
            <a:off x="166255" y="947651"/>
            <a:ext cx="5419898" cy="3799820"/>
          </a:xfrm>
          <a:prstGeom prst="rect">
            <a:avLst/>
          </a:prstGeom>
          <a:noFill/>
          <a:ln>
            <a:noFill/>
          </a:ln>
        </p:spPr>
      </p:pic>
      <p:sp>
        <p:nvSpPr>
          <p:cNvPr id="248" name="Google Shape;248;g1250f1d3c68_1_57"/>
          <p:cNvSpPr txBox="1"/>
          <p:nvPr/>
        </p:nvSpPr>
        <p:spPr>
          <a:xfrm>
            <a:off x="5643335" y="1308497"/>
            <a:ext cx="2917800" cy="2678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Panel 1) Measured and modeled temperature response for T₁ and T₂(flat). The plot compares the experimental temperature data (T₁ measured, T₂ measured) with two model predictions: the full energy‑balance model (-) and the first‑order‑plus‑dead‑time (FOPDT) approximation. Shows how well each model captures the heating dynamics under the applied heater inputs.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Heater Plot (cont)</a:t>
            </a:r>
            <a:endParaRPr/>
          </a:p>
        </p:txBody>
      </p:sp>
      <p:sp>
        <p:nvSpPr>
          <p:cNvPr id="255" name="Google Shape;255;p7"/>
          <p:cNvSpPr txBox="1"/>
          <p:nvPr>
            <p:ph idx="12" type="sldNum"/>
          </p:nvPr>
        </p:nvSpPr>
        <p:spPr>
          <a:xfrm>
            <a:off x="8595306" y="-1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256" name="Google Shape;256;p7"/>
          <p:cNvPicPr preferRelativeResize="0"/>
          <p:nvPr/>
        </p:nvPicPr>
        <p:blipFill rotWithShape="1">
          <a:blip r:embed="rId3">
            <a:alphaModFix/>
          </a:blip>
          <a:srcRect b="10231" l="30723" r="11858" t="18060"/>
          <a:stretch/>
        </p:blipFill>
        <p:spPr>
          <a:xfrm>
            <a:off x="166255" y="947651"/>
            <a:ext cx="5419898" cy="3799820"/>
          </a:xfrm>
          <a:prstGeom prst="rect">
            <a:avLst/>
          </a:prstGeom>
          <a:noFill/>
          <a:ln>
            <a:noFill/>
          </a:ln>
        </p:spPr>
      </p:pic>
      <p:sp>
        <p:nvSpPr>
          <p:cNvPr id="257" name="Google Shape;257;p7"/>
          <p:cNvSpPr txBox="1"/>
          <p:nvPr/>
        </p:nvSpPr>
        <p:spPr>
          <a:xfrm>
            <a:off x="5586153" y="1395894"/>
            <a:ext cx="2917768"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Panel 2) Cumulative error between measured temperatures and model predictions. The energy‑balance model exhibits lower accumulated error over time compared to the linear FOPDT model, indicating a more accurate representation of the system’s thermal behavior.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3d333a04153_0_27"/>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US"/>
              <a:t>Key Insights</a:t>
            </a:r>
            <a:endParaRPr/>
          </a:p>
        </p:txBody>
      </p:sp>
      <p:sp>
        <p:nvSpPr>
          <p:cNvPr id="264" name="Google Shape;264;g3d333a04153_0_2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
        <p:nvSpPr>
          <p:cNvPr id="265" name="Google Shape;265;g3d333a04153_0_27"/>
          <p:cNvSpPr txBox="1"/>
          <p:nvPr/>
        </p:nvSpPr>
        <p:spPr>
          <a:xfrm>
            <a:off x="1127775" y="1297300"/>
            <a:ext cx="6680700" cy="3093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100"/>
              <a:buFont typeface="Arial"/>
              <a:buNone/>
            </a:pPr>
            <a:r>
              <a:rPr b="0" i="0" lang="en-US" sz="2100" u="none" cap="none" strike="noStrike">
                <a:solidFill>
                  <a:srgbClr val="000000"/>
                </a:solidFill>
                <a:latin typeface="Arial"/>
                <a:ea typeface="Arial"/>
                <a:cs typeface="Arial"/>
                <a:sym typeface="Arial"/>
              </a:rPr>
              <a:t>With a validated open-loop model, we now design a PID controller to regulate temperature. But,</a:t>
            </a:r>
            <a:endParaRPr b="0" i="0" sz="2100" u="none" cap="none" strike="noStrike">
              <a:solidFill>
                <a:srgbClr val="000000"/>
              </a:solidFill>
              <a:latin typeface="Arial"/>
              <a:ea typeface="Arial"/>
              <a:cs typeface="Arial"/>
              <a:sym typeface="Arial"/>
            </a:endParaRPr>
          </a:p>
          <a:p>
            <a:pPr indent="0" lvl="0" marL="0" marR="0" rtl="0" algn="ctr">
              <a:lnSpc>
                <a:spcPct val="115000"/>
              </a:lnSpc>
              <a:spcBef>
                <a:spcPts val="140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Why We Need a Controller</a:t>
            </a:r>
            <a:endParaRPr b="1" i="0" sz="1800" u="none" cap="none" strike="noStrike">
              <a:solidFill>
                <a:srgbClr val="000000"/>
              </a:solidFill>
              <a:latin typeface="Arial"/>
              <a:ea typeface="Arial"/>
              <a:cs typeface="Arial"/>
              <a:sym typeface="Arial"/>
            </a:endParaRPr>
          </a:p>
          <a:p>
            <a:pPr indent="-330200" lvl="0" marL="457200" marR="0" rtl="0" algn="l">
              <a:lnSpc>
                <a:spcPct val="115000"/>
              </a:lnSpc>
              <a:spcBef>
                <a:spcPts val="120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Maintain temperature despite disturbances</a:t>
            </a:r>
            <a:endParaRPr b="0" i="0" sz="1600" u="none" cap="none" strike="noStrike">
              <a:solidFill>
                <a:srgbClr val="000000"/>
              </a:solidFill>
              <a:latin typeface="Arial"/>
              <a:ea typeface="Arial"/>
              <a:cs typeface="Arial"/>
              <a:sym typeface="Arial"/>
            </a:endParaRPr>
          </a:p>
          <a:p>
            <a:pPr indent="-330200" lvl="0" marL="457200" marR="0" rtl="0" algn="l">
              <a:lnSpc>
                <a:spcPct val="115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Achieve fast rise time with minimal overshoot</a:t>
            </a:r>
            <a:endParaRPr b="0" i="0" sz="1600" u="none" cap="none" strike="noStrike">
              <a:solidFill>
                <a:srgbClr val="000000"/>
              </a:solidFill>
              <a:latin typeface="Arial"/>
              <a:ea typeface="Arial"/>
              <a:cs typeface="Arial"/>
              <a:sym typeface="Arial"/>
            </a:endParaRPr>
          </a:p>
          <a:p>
            <a:pPr indent="-330200" lvl="0" marL="457200" marR="0" rtl="0" algn="l">
              <a:lnSpc>
                <a:spcPct val="115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Reject noise and ambient fluctuations</a:t>
            </a:r>
            <a:endParaRPr b="0" i="0" sz="1600" u="none" cap="none" strike="noStrike">
              <a:solidFill>
                <a:srgbClr val="000000"/>
              </a:solidFill>
              <a:latin typeface="Arial"/>
              <a:ea typeface="Arial"/>
              <a:cs typeface="Arial"/>
              <a:sym typeface="Arial"/>
            </a:endParaRPr>
          </a:p>
          <a:p>
            <a:pPr indent="-330200" lvl="0" marL="457200" marR="0" rtl="0" algn="l">
              <a:lnSpc>
                <a:spcPct val="115000"/>
              </a:lnSpc>
              <a:spcBef>
                <a:spcPts val="0"/>
              </a:spcBef>
              <a:spcAft>
                <a:spcPts val="0"/>
              </a:spcAft>
              <a:buClr>
                <a:srgbClr val="000000"/>
              </a:buClr>
              <a:buSzPts val="1600"/>
              <a:buFont typeface="Arial"/>
              <a:buChar char="●"/>
            </a:pPr>
            <a:r>
              <a:rPr b="0" i="0" lang="en-US" sz="1600" u="none" cap="none" strike="noStrike">
                <a:solidFill>
                  <a:srgbClr val="000000"/>
                </a:solidFill>
                <a:latin typeface="Arial"/>
                <a:ea typeface="Arial"/>
                <a:cs typeface="Arial"/>
                <a:sym typeface="Arial"/>
              </a:rPr>
              <a:t>Track changing setpoints</a:t>
            </a:r>
            <a:endParaRPr b="0" i="0" sz="1600" u="none" cap="none" strike="noStrike">
              <a:solidFill>
                <a:srgbClr val="000000"/>
              </a:solidFill>
              <a:latin typeface="Arial"/>
              <a:ea typeface="Arial"/>
              <a:cs typeface="Arial"/>
              <a:sym typeface="Arial"/>
            </a:endParaRPr>
          </a:p>
          <a:p>
            <a:pPr indent="0" lvl="0" marL="0" marR="0" rtl="0" algn="ctr">
              <a:lnSpc>
                <a:spcPct val="100000"/>
              </a:lnSpc>
              <a:spcBef>
                <a:spcPts val="120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9"/>
          <p:cNvSpPr txBox="1"/>
          <p:nvPr>
            <p:ph type="title"/>
          </p:nvPr>
        </p:nvSpPr>
        <p:spPr>
          <a:xfrm>
            <a:off x="457200" y="206375"/>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A50000"/>
              </a:buClr>
              <a:buSzPts val="3000"/>
              <a:buNone/>
            </a:pPr>
            <a:r>
              <a:rPr lang="en-US"/>
              <a:t>PID Controller TCLab Theory</a:t>
            </a:r>
            <a:endParaRPr/>
          </a:p>
        </p:txBody>
      </p:sp>
      <p:sp>
        <p:nvSpPr>
          <p:cNvPr id="271" name="Google Shape;271;p9"/>
          <p:cNvSpPr txBox="1"/>
          <p:nvPr>
            <p:ph idx="1" type="body"/>
          </p:nvPr>
        </p:nvSpPr>
        <p:spPr>
          <a:xfrm>
            <a:off x="0" y="972600"/>
            <a:ext cx="9509100" cy="426390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457200" rtl="0" algn="l">
              <a:lnSpc>
                <a:spcPct val="115000"/>
              </a:lnSpc>
              <a:spcBef>
                <a:spcPts val="360"/>
              </a:spcBef>
              <a:spcAft>
                <a:spcPts val="0"/>
              </a:spcAft>
              <a:buSzPts val="1800"/>
              <a:buNone/>
            </a:pPr>
            <a:r>
              <a:rPr lang="en-US"/>
              <a:t> </a:t>
            </a:r>
            <a:endParaRPr/>
          </a:p>
          <a:p>
            <a:pPr indent="0" lvl="0" marL="457200" rtl="0" algn="l">
              <a:lnSpc>
                <a:spcPct val="115000"/>
              </a:lnSpc>
              <a:spcBef>
                <a:spcPts val="360"/>
              </a:spcBef>
              <a:spcAft>
                <a:spcPts val="0"/>
              </a:spcAft>
              <a:buSzPts val="1800"/>
              <a:buNone/>
            </a:pPr>
            <a:r>
              <a:t/>
            </a:r>
            <a:endParaRPr/>
          </a:p>
        </p:txBody>
      </p:sp>
      <p:sp>
        <p:nvSpPr>
          <p:cNvPr id="272" name="Google Shape;272;p9"/>
          <p:cNvSpPr txBox="1"/>
          <p:nvPr>
            <p:ph idx="12" type="sldNum"/>
          </p:nvPr>
        </p:nvSpPr>
        <p:spPr>
          <a:xfrm>
            <a:off x="6553200" y="4767262"/>
            <a:ext cx="2133600" cy="274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fld id="{00000000-1234-1234-1234-123412341234}" type="slidenum">
              <a:rPr lang="en-US"/>
              <a:t>‹#›</a:t>
            </a:fld>
            <a:endParaRPr sz="1000">
              <a:solidFill>
                <a:schemeClr val="lt1"/>
              </a:solidFill>
            </a:endParaRPr>
          </a:p>
        </p:txBody>
      </p:sp>
      <p:sp>
        <p:nvSpPr>
          <p:cNvPr id="273" name="Google Shape;273;p9"/>
          <p:cNvSpPr txBox="1"/>
          <p:nvPr/>
        </p:nvSpPr>
        <p:spPr>
          <a:xfrm>
            <a:off x="5970200" y="972600"/>
            <a:ext cx="32085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1" lang="en-US" sz="1400" u="sng" cap="none" strike="noStrike">
                <a:solidFill>
                  <a:srgbClr val="000000"/>
                </a:solidFill>
                <a:latin typeface="Arial"/>
                <a:ea typeface="Arial"/>
                <a:cs typeface="Arial"/>
                <a:sym typeface="Arial"/>
              </a:rPr>
              <a:t>Control Law</a:t>
            </a:r>
            <a:r>
              <a:rPr b="0" i="0" lang="en-US" sz="1400" u="none" cap="none" strike="noStrike">
                <a:solidFill>
                  <a:srgbClr val="000000"/>
                </a:solidFill>
                <a:latin typeface="Arial"/>
                <a:ea typeface="Arial"/>
                <a:cs typeface="Arial"/>
                <a:sym typeface="Arial"/>
              </a:rPr>
              <a:t>: </a:t>
            </a:r>
            <a:r>
              <a:rPr b="1" i="0" lang="en-US" sz="1400" u="none" cap="none" strike="noStrike">
                <a:solidFill>
                  <a:srgbClr val="000000"/>
                </a:solidFill>
                <a:latin typeface="Arial"/>
                <a:ea typeface="Arial"/>
                <a:cs typeface="Arial"/>
                <a:sym typeface="Arial"/>
              </a:rPr>
              <a:t>mathematical bridge</a:t>
            </a:r>
            <a:r>
              <a:rPr b="0" i="0" lang="en-US" sz="1400" u="none" cap="none" strike="noStrike">
                <a:solidFill>
                  <a:srgbClr val="000000"/>
                </a:solidFill>
                <a:latin typeface="Arial"/>
                <a:ea typeface="Arial"/>
                <a:cs typeface="Arial"/>
                <a:sym typeface="Arial"/>
              </a:rPr>
              <a:t> between the </a:t>
            </a:r>
            <a:r>
              <a:rPr b="0" i="1" lang="en-US" sz="1400" u="none" cap="none" strike="noStrike">
                <a:solidFill>
                  <a:srgbClr val="000000"/>
                </a:solidFill>
                <a:latin typeface="Arial"/>
                <a:ea typeface="Arial"/>
                <a:cs typeface="Arial"/>
                <a:sym typeface="Arial"/>
              </a:rPr>
              <a:t>physics</a:t>
            </a:r>
            <a:r>
              <a:rPr b="0" i="0" lang="en-US" sz="1400" u="none" cap="none" strike="noStrike">
                <a:solidFill>
                  <a:srgbClr val="000000"/>
                </a:solidFill>
                <a:latin typeface="Arial"/>
                <a:ea typeface="Arial"/>
                <a:cs typeface="Arial"/>
                <a:sym typeface="Arial"/>
              </a:rPr>
              <a:t> of the thermal system (the energy‑balance equation) and the </a:t>
            </a:r>
            <a:r>
              <a:rPr b="0" i="1" lang="en-US" sz="1400" u="none" cap="none" strike="noStrike">
                <a:solidFill>
                  <a:srgbClr val="000000"/>
                </a:solidFill>
                <a:latin typeface="Arial"/>
                <a:ea typeface="Arial"/>
                <a:cs typeface="Arial"/>
                <a:sym typeface="Arial"/>
              </a:rPr>
              <a:t>action</a:t>
            </a:r>
            <a:r>
              <a:rPr b="0" i="0" lang="en-US" sz="1400" u="none" cap="none" strike="noStrike">
                <a:solidFill>
                  <a:srgbClr val="000000"/>
                </a:solidFill>
                <a:latin typeface="Arial"/>
                <a:ea typeface="Arial"/>
                <a:cs typeface="Arial"/>
                <a:sym typeface="Arial"/>
              </a:rPr>
              <a:t> of the PID controller (the voltage or heater power actually applied). </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0"/>
          <p:cNvSpPr txBox="1"/>
          <p:nvPr>
            <p:ph type="title"/>
          </p:nvPr>
        </p:nvSpPr>
        <p:spPr>
          <a:xfrm>
            <a:off x="457200" y="206375"/>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A50000"/>
              </a:buClr>
              <a:buSzPts val="3000"/>
              <a:buNone/>
            </a:pPr>
            <a:r>
              <a:rPr lang="en-US"/>
              <a:t>PID Temperature Block Diagram</a:t>
            </a:r>
            <a:endParaRPr/>
          </a:p>
        </p:txBody>
      </p:sp>
      <p:sp>
        <p:nvSpPr>
          <p:cNvPr id="279" name="Google Shape;279;p10"/>
          <p:cNvSpPr txBox="1"/>
          <p:nvPr>
            <p:ph idx="1" type="body"/>
          </p:nvPr>
        </p:nvSpPr>
        <p:spPr>
          <a:xfrm>
            <a:off x="457200" y="1200150"/>
            <a:ext cx="8229600" cy="3394200"/>
          </a:xfrm>
          <a:prstGeom prst="rect">
            <a:avLst/>
          </a:prstGeom>
          <a:noFill/>
          <a:ln>
            <a:noFill/>
          </a:ln>
        </p:spPr>
        <p:txBody>
          <a:bodyPr anchorCtr="0" anchor="t" bIns="45700" lIns="91425" spcFirstLastPara="1" rIns="91425" wrap="square" tIns="45700">
            <a:noAutofit/>
          </a:bodyPr>
          <a:lstStyle/>
          <a:p>
            <a:pPr indent="-228600" lvl="0" marL="457200" rtl="0" algn="l">
              <a:lnSpc>
                <a:spcPct val="115000"/>
              </a:lnSpc>
              <a:spcBef>
                <a:spcPts val="360"/>
              </a:spcBef>
              <a:spcAft>
                <a:spcPts val="0"/>
              </a:spcAft>
              <a:buClr>
                <a:schemeClr val="dk1"/>
              </a:buClr>
              <a:buSzPts val="1800"/>
              <a:buNone/>
            </a:pPr>
            <a:r>
              <a:t/>
            </a:r>
            <a:endParaRPr/>
          </a:p>
        </p:txBody>
      </p:sp>
      <p:sp>
        <p:nvSpPr>
          <p:cNvPr id="280" name="Google Shape;280;p10"/>
          <p:cNvSpPr txBox="1"/>
          <p:nvPr>
            <p:ph idx="12" type="sldNum"/>
          </p:nvPr>
        </p:nvSpPr>
        <p:spPr>
          <a:xfrm>
            <a:off x="6553200" y="4767262"/>
            <a:ext cx="2133600" cy="274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fld id="{00000000-1234-1234-1234-123412341234}" type="slidenum">
              <a:rPr lang="en-US"/>
              <a:t>‹#›</a:t>
            </a:fld>
            <a:endParaRPr sz="1000">
              <a:solidFill>
                <a:schemeClr val="lt1"/>
              </a:solidFill>
            </a:endParaRPr>
          </a:p>
        </p:txBody>
      </p:sp>
      <p:pic>
        <p:nvPicPr>
          <p:cNvPr id="281" name="Google Shape;281;p10"/>
          <p:cNvPicPr preferRelativeResize="0"/>
          <p:nvPr/>
        </p:nvPicPr>
        <p:blipFill rotWithShape="1">
          <a:blip r:embed="rId3">
            <a:alphaModFix/>
          </a:blip>
          <a:srcRect b="25408" l="33919" r="35198" t="40822"/>
          <a:stretch/>
        </p:blipFill>
        <p:spPr>
          <a:xfrm>
            <a:off x="628593" y="1130312"/>
            <a:ext cx="5747269" cy="35338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3d333a04153_0_58"/>
          <p:cNvSpPr txBox="1"/>
          <p:nvPr>
            <p:ph type="title"/>
          </p:nvPr>
        </p:nvSpPr>
        <p:spPr>
          <a:xfrm>
            <a:off x="457200" y="206375"/>
            <a:ext cx="8229600" cy="11580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1400"/>
              </a:spcBef>
              <a:spcAft>
                <a:spcPts val="400"/>
              </a:spcAft>
              <a:buSzPts val="3000"/>
              <a:buNone/>
            </a:pPr>
            <a:r>
              <a:rPr b="1" lang="en-US" sz="2600">
                <a:solidFill>
                  <a:srgbClr val="000000"/>
                </a:solidFill>
                <a:latin typeface="Arial"/>
                <a:ea typeface="Arial"/>
                <a:cs typeface="Arial"/>
                <a:sym typeface="Arial"/>
              </a:rPr>
              <a:t>Testing the Controller on Real Hardware</a:t>
            </a:r>
            <a:endParaRPr sz="4300"/>
          </a:p>
        </p:txBody>
      </p:sp>
      <p:sp>
        <p:nvSpPr>
          <p:cNvPr id="288" name="Google Shape;288;g3d333a04153_0_58"/>
          <p:cNvSpPr txBox="1"/>
          <p:nvPr>
            <p:ph idx="1" type="body"/>
          </p:nvPr>
        </p:nvSpPr>
        <p:spPr>
          <a:xfrm>
            <a:off x="457200" y="1200150"/>
            <a:ext cx="8229600" cy="3394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SzPts val="1800"/>
              <a:buNone/>
            </a:pPr>
            <a:r>
              <a:t/>
            </a:r>
            <a:endParaRPr b="1" sz="1300">
              <a:solidFill>
                <a:srgbClr val="000000"/>
              </a:solidFill>
              <a:latin typeface="Arial"/>
              <a:ea typeface="Arial"/>
              <a:cs typeface="Arial"/>
              <a:sym typeface="Arial"/>
            </a:endParaRPr>
          </a:p>
          <a:p>
            <a:pPr indent="-387350" lvl="0" marL="457200" rtl="0" algn="l">
              <a:lnSpc>
                <a:spcPct val="115000"/>
              </a:lnSpc>
              <a:spcBef>
                <a:spcPts val="1200"/>
              </a:spcBef>
              <a:spcAft>
                <a:spcPts val="0"/>
              </a:spcAft>
              <a:buClr>
                <a:srgbClr val="000000"/>
              </a:buClr>
              <a:buSzPts val="2500"/>
              <a:buFont typeface="Arial"/>
              <a:buChar char="●"/>
            </a:pPr>
            <a:r>
              <a:rPr lang="en-US" sz="2500">
                <a:solidFill>
                  <a:srgbClr val="000000"/>
                </a:solidFill>
                <a:latin typeface="Arial"/>
                <a:ea typeface="Arial"/>
                <a:cs typeface="Arial"/>
                <a:sym typeface="Arial"/>
              </a:rPr>
              <a:t>Apply step changes in setpoint</a:t>
            </a:r>
            <a:endParaRPr sz="2500">
              <a:solidFill>
                <a:srgbClr val="000000"/>
              </a:solidFill>
              <a:latin typeface="Arial"/>
              <a:ea typeface="Arial"/>
              <a:cs typeface="Arial"/>
              <a:sym typeface="Arial"/>
            </a:endParaRPr>
          </a:p>
          <a:p>
            <a:pPr indent="-387350" lvl="0" marL="457200" rtl="0" algn="l">
              <a:lnSpc>
                <a:spcPct val="115000"/>
              </a:lnSpc>
              <a:spcBef>
                <a:spcPts val="0"/>
              </a:spcBef>
              <a:spcAft>
                <a:spcPts val="0"/>
              </a:spcAft>
              <a:buClr>
                <a:srgbClr val="000000"/>
              </a:buClr>
              <a:buSzPts val="2500"/>
              <a:buFont typeface="Arial"/>
              <a:buChar char="●"/>
            </a:pPr>
            <a:r>
              <a:rPr lang="en-US" sz="2500">
                <a:solidFill>
                  <a:srgbClr val="000000"/>
                </a:solidFill>
                <a:latin typeface="Arial"/>
                <a:ea typeface="Arial"/>
                <a:cs typeface="Arial"/>
                <a:sym typeface="Arial"/>
              </a:rPr>
              <a:t>Record temperature and heater output</a:t>
            </a:r>
            <a:endParaRPr sz="2500">
              <a:solidFill>
                <a:srgbClr val="000000"/>
              </a:solidFill>
              <a:latin typeface="Arial"/>
              <a:ea typeface="Arial"/>
              <a:cs typeface="Arial"/>
              <a:sym typeface="Arial"/>
            </a:endParaRPr>
          </a:p>
          <a:p>
            <a:pPr indent="-387350" lvl="0" marL="457200" rtl="0" algn="l">
              <a:lnSpc>
                <a:spcPct val="115000"/>
              </a:lnSpc>
              <a:spcBef>
                <a:spcPts val="0"/>
              </a:spcBef>
              <a:spcAft>
                <a:spcPts val="0"/>
              </a:spcAft>
              <a:buClr>
                <a:srgbClr val="000000"/>
              </a:buClr>
              <a:buSzPts val="2500"/>
              <a:buFont typeface="Arial"/>
              <a:buChar char="●"/>
            </a:pPr>
            <a:r>
              <a:rPr lang="en-US" sz="2500">
                <a:solidFill>
                  <a:srgbClr val="000000"/>
                </a:solidFill>
                <a:latin typeface="Arial"/>
                <a:ea typeface="Arial"/>
                <a:cs typeface="Arial"/>
                <a:sym typeface="Arial"/>
              </a:rPr>
              <a:t>Compare measured response to model predictions</a:t>
            </a:r>
            <a:endParaRPr sz="2500">
              <a:solidFill>
                <a:srgbClr val="000000"/>
              </a:solidFill>
              <a:latin typeface="Arial"/>
              <a:ea typeface="Arial"/>
              <a:cs typeface="Arial"/>
              <a:sym typeface="Arial"/>
            </a:endParaRPr>
          </a:p>
          <a:p>
            <a:pPr indent="0" lvl="0" marL="0" rtl="0" algn="l">
              <a:lnSpc>
                <a:spcPct val="115000"/>
              </a:lnSpc>
              <a:spcBef>
                <a:spcPts val="1200"/>
              </a:spcBef>
              <a:spcAft>
                <a:spcPts val="0"/>
              </a:spcAft>
              <a:buSzPts val="1800"/>
              <a:buNone/>
            </a:pPr>
            <a:r>
              <a:t/>
            </a:r>
            <a:endParaRPr/>
          </a:p>
        </p:txBody>
      </p:sp>
      <p:sp>
        <p:nvSpPr>
          <p:cNvPr id="289" name="Google Shape;289;g3d333a04153_0_58"/>
          <p:cNvSpPr txBox="1"/>
          <p:nvPr>
            <p:ph idx="12" type="sldNum"/>
          </p:nvPr>
        </p:nvSpPr>
        <p:spPr>
          <a:xfrm>
            <a:off x="6553200" y="4767262"/>
            <a:ext cx="2133600" cy="274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fld id="{00000000-1234-1234-1234-123412341234}" type="slidenum">
              <a:rPr lang="en-US"/>
              <a:t>‹#›</a:t>
            </a:fld>
            <a:endParaRPr sz="1000">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1"/>
          <p:cNvSpPr txBox="1"/>
          <p:nvPr>
            <p:ph type="title"/>
          </p:nvPr>
        </p:nvSpPr>
        <p:spPr>
          <a:xfrm>
            <a:off x="417399" y="482600"/>
            <a:ext cx="8408194" cy="558627"/>
          </a:xfrm>
          <a:prstGeom prst="rect">
            <a:avLst/>
          </a:prstGeom>
          <a:noFill/>
          <a:ln>
            <a:noFill/>
          </a:ln>
        </p:spPr>
        <p:txBody>
          <a:bodyPr anchorCtr="0" anchor="ctr" bIns="34275" lIns="68575" spcFirstLastPara="1" rIns="68575" wrap="square" tIns="34275">
            <a:normAutofit/>
          </a:bodyPr>
          <a:lstStyle/>
          <a:p>
            <a:pPr indent="0" lvl="0" marL="0" rtl="0" algn="ctr">
              <a:lnSpc>
                <a:spcPct val="100000"/>
              </a:lnSpc>
              <a:spcBef>
                <a:spcPts val="0"/>
              </a:spcBef>
              <a:spcAft>
                <a:spcPts val="0"/>
              </a:spcAft>
              <a:buSzPts val="3000"/>
              <a:buNone/>
            </a:pPr>
            <a:r>
              <a:rPr b="1" lang="en-US" sz="2400">
                <a:solidFill>
                  <a:schemeClr val="lt1"/>
                </a:solidFill>
                <a:latin typeface="Arial"/>
                <a:ea typeface="Arial"/>
                <a:cs typeface="Arial"/>
                <a:sym typeface="Arial"/>
              </a:rPr>
              <a:t>PID Information and Plot</a:t>
            </a:r>
            <a:endParaRPr/>
          </a:p>
        </p:txBody>
      </p:sp>
      <p:pic>
        <p:nvPicPr>
          <p:cNvPr id="295" name="Google Shape;295;p11"/>
          <p:cNvPicPr preferRelativeResize="0"/>
          <p:nvPr>
            <p:ph idx="1" type="body"/>
          </p:nvPr>
        </p:nvPicPr>
        <p:blipFill rotWithShape="1">
          <a:blip r:embed="rId3">
            <a:alphaModFix/>
          </a:blip>
          <a:srcRect b="14869" l="32635" r="34948" t="49443"/>
          <a:stretch/>
        </p:blipFill>
        <p:spPr>
          <a:xfrm>
            <a:off x="2311320" y="0"/>
            <a:ext cx="4514025" cy="2629308"/>
          </a:xfrm>
          <a:prstGeom prst="rect">
            <a:avLst/>
          </a:prstGeom>
          <a:noFill/>
          <a:ln>
            <a:noFill/>
          </a:ln>
        </p:spPr>
      </p:pic>
      <p:sp>
        <p:nvSpPr>
          <p:cNvPr id="296" name="Google Shape;296;p11"/>
          <p:cNvSpPr txBox="1"/>
          <p:nvPr/>
        </p:nvSpPr>
        <p:spPr>
          <a:xfrm>
            <a:off x="335247" y="1328734"/>
            <a:ext cx="1901258"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Times New Roman"/>
                <a:ea typeface="Times New Roman"/>
                <a:cs typeface="Times New Roman"/>
                <a:sym typeface="Times New Roman"/>
              </a:rPr>
              <a:t>Panel 1</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Times New Roman"/>
                <a:ea typeface="Times New Roman"/>
                <a:cs typeface="Times New Roman"/>
                <a:sym typeface="Times New Roman"/>
              </a:rPr>
              <a:t>The red dots represent the measured temperature T1 from the actual hardware, whereas the black dashed line indicates the Setpoint Tsp1. This comparison demonstrates the </a:t>
            </a:r>
            <a:r>
              <a:rPr b="1" i="0" lang="en-US" sz="1400" u="none" cap="none" strike="noStrike">
                <a:solidFill>
                  <a:srgbClr val="000000"/>
                </a:solidFill>
                <a:latin typeface="Times New Roman"/>
                <a:ea typeface="Times New Roman"/>
                <a:cs typeface="Times New Roman"/>
                <a:sym typeface="Times New Roman"/>
              </a:rPr>
              <a:t>closed-loop tracking performance</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297" name="Google Shape;297;p11"/>
          <p:cNvSpPr txBox="1"/>
          <p:nvPr/>
        </p:nvSpPr>
        <p:spPr>
          <a:xfrm>
            <a:off x="6900160" y="856125"/>
            <a:ext cx="2000248" cy="20082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00000"/>
                </a:solidFill>
                <a:latin typeface="Times New Roman"/>
                <a:ea typeface="Times New Roman"/>
                <a:cs typeface="Times New Roman"/>
                <a:sym typeface="Times New Roman"/>
              </a:rPr>
              <a:t>Panel 2 (blue)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00"/>
              </a:spcBef>
              <a:spcAft>
                <a:spcPts val="0"/>
              </a:spcAft>
              <a:buNone/>
            </a:pPr>
            <a:r>
              <a:rPr b="0" i="0" lang="en-US" sz="1400" u="none" cap="none" strike="noStrike">
                <a:solidFill>
                  <a:srgbClr val="000000"/>
                </a:solidFill>
                <a:latin typeface="Times New Roman"/>
                <a:ea typeface="Times New Roman"/>
                <a:cs typeface="Times New Roman"/>
                <a:sym typeface="Times New Roman"/>
              </a:rPr>
              <a:t>Not Analog: rapidly switching ON and OFF (pulse-width modulation)</a:t>
            </a:r>
            <a:endParaRPr/>
          </a:p>
          <a:p>
            <a:pPr indent="0" lvl="0" marL="0" marR="0" rtl="0" algn="l">
              <a:lnSpc>
                <a:spcPct val="100000"/>
              </a:lnSpc>
              <a:spcBef>
                <a:spcPts val="900"/>
              </a:spcBef>
              <a:spcAft>
                <a:spcPts val="0"/>
              </a:spcAft>
              <a:buNone/>
            </a:pPr>
            <a:r>
              <a:rPr b="0" i="0" lang="en-US" sz="1350" u="none" cap="none" strike="noStrike">
                <a:solidFill>
                  <a:srgbClr val="000000"/>
                </a:solidFill>
                <a:latin typeface="Times New Roman"/>
                <a:ea typeface="Times New Roman"/>
                <a:cs typeface="Times New Roman"/>
                <a:sym typeface="Times New Roman"/>
              </a:rPr>
              <a:t>Heater 1 output (% power)</a:t>
            </a:r>
            <a:endParaRPr b="0" i="0" sz="1050" u="none" cap="none" strike="noStrike">
              <a:solidFill>
                <a:srgbClr val="000000"/>
              </a:solidFill>
              <a:latin typeface="Arial"/>
              <a:ea typeface="Arial"/>
              <a:cs typeface="Arial"/>
              <a:sym typeface="Arial"/>
            </a:endParaRPr>
          </a:p>
          <a:p>
            <a:pPr indent="0" lvl="0" marL="171450" marR="0" rtl="0" algn="l">
              <a:lnSpc>
                <a:spcPct val="100000"/>
              </a:lnSpc>
              <a:spcBef>
                <a:spcPts val="0"/>
              </a:spcBef>
              <a:spcAft>
                <a:spcPts val="0"/>
              </a:spcAft>
              <a:buClr>
                <a:srgbClr val="000000"/>
              </a:buClr>
              <a:buSzPts val="1350"/>
              <a:buFont typeface="Arial"/>
              <a:buNone/>
            </a:pPr>
            <a:r>
              <a:rPr b="0" i="0" lang="en-US" sz="1350" u="none" cap="none" strike="noStrike">
                <a:solidFill>
                  <a:srgbClr val="000000"/>
                </a:solidFill>
                <a:latin typeface="Times New Roman"/>
                <a:ea typeface="Times New Roman"/>
                <a:cs typeface="Times New Roman"/>
                <a:sym typeface="Times New Roman"/>
              </a:rPr>
              <a:t>This is the </a:t>
            </a:r>
            <a:r>
              <a:rPr b="1" i="0" lang="en-US" sz="1350" u="none" cap="none" strike="noStrike">
                <a:solidFill>
                  <a:srgbClr val="000000"/>
                </a:solidFill>
                <a:latin typeface="Times New Roman"/>
                <a:ea typeface="Times New Roman"/>
                <a:cs typeface="Times New Roman"/>
                <a:sym typeface="Times New Roman"/>
              </a:rPr>
              <a:t>controller effort</a:t>
            </a:r>
            <a:r>
              <a:rPr b="0" i="0" lang="en-US" sz="1350" u="none" cap="none" strike="noStrike">
                <a:solidFill>
                  <a:srgbClr val="000000"/>
                </a:solidFill>
                <a:latin typeface="Times New Roman"/>
                <a:ea typeface="Times New Roman"/>
                <a:cs typeface="Times New Roman"/>
                <a:sym typeface="Times New Roman"/>
              </a:rPr>
              <a:t>.</a:t>
            </a:r>
            <a:endParaRPr b="0" i="0" sz="1050" u="none" cap="none" strike="noStrike">
              <a:solidFill>
                <a:srgbClr val="000000"/>
              </a:solidFill>
              <a:latin typeface="Arial"/>
              <a:ea typeface="Arial"/>
              <a:cs typeface="Arial"/>
              <a:sym typeface="Arial"/>
            </a:endParaRPr>
          </a:p>
        </p:txBody>
      </p:sp>
      <p:sp>
        <p:nvSpPr>
          <p:cNvPr id="298" name="Google Shape;298;p11"/>
          <p:cNvSpPr txBox="1"/>
          <p:nvPr/>
        </p:nvSpPr>
        <p:spPr>
          <a:xfrm>
            <a:off x="2178150" y="2475202"/>
            <a:ext cx="4722010" cy="2300886"/>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Rise Time </a:t>
            </a:r>
            <a:r>
              <a:rPr b="0" i="0" lang="en-US" sz="1200" u="none" cap="none" strike="noStrike">
                <a:solidFill>
                  <a:srgbClr val="000000"/>
                </a:solidFill>
                <a:latin typeface="Arial"/>
                <a:ea typeface="Arial"/>
                <a:cs typeface="Arial"/>
                <a:sym typeface="Arial"/>
              </a:rPr>
              <a:t>The moment the red output first climbs from its starting value up to the reference level in the top panel.</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Overshoot </a:t>
            </a:r>
            <a:r>
              <a:rPr b="0" i="0" lang="en-US" sz="1200" u="none" cap="none" strike="noStrike">
                <a:solidFill>
                  <a:srgbClr val="000000"/>
                </a:solidFill>
                <a:latin typeface="Arial"/>
                <a:ea typeface="Arial"/>
                <a:cs typeface="Arial"/>
                <a:sym typeface="Arial"/>
              </a:rPr>
              <a:t>The amount by which the red response exceeds the dashed reference during its first peak.</a:t>
            </a:r>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Settling Time </a:t>
            </a:r>
            <a:r>
              <a:rPr b="0" i="0" lang="en-US" sz="1200" u="none" cap="none" strike="noStrike">
                <a:solidFill>
                  <a:srgbClr val="000000"/>
                </a:solidFill>
                <a:latin typeface="Arial"/>
                <a:ea typeface="Arial"/>
                <a:cs typeface="Arial"/>
                <a:sym typeface="Arial"/>
              </a:rPr>
              <a:t>The point where the red response stops oscillating and stays within a narrow band around the reference for the rest of the run.</a:t>
            </a:r>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80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Steady‑State Error </a:t>
            </a:r>
            <a:r>
              <a:rPr b="0" i="0" lang="en-US" sz="1200" u="none" cap="none" strike="noStrike">
                <a:solidFill>
                  <a:srgbClr val="000000"/>
                </a:solidFill>
                <a:latin typeface="Arial"/>
                <a:ea typeface="Arial"/>
                <a:cs typeface="Arial"/>
                <a:sym typeface="Arial"/>
              </a:rPr>
              <a:t>The final difference between the red output and the dashed reference once the response has fully settled.</a:t>
            </a:r>
            <a:endParaRPr b="0" i="0" sz="1200" u="none" cap="none" strike="noStrike">
              <a:solidFill>
                <a:srgbClr val="000000"/>
              </a:solidFill>
              <a:latin typeface="Arial"/>
              <a:ea typeface="Arial"/>
              <a:cs typeface="Arial"/>
              <a:sym typeface="Arial"/>
            </a:endParaRPr>
          </a:p>
        </p:txBody>
      </p:sp>
      <p:sp>
        <p:nvSpPr>
          <p:cNvPr id="299" name="Google Shape;299;p11"/>
          <p:cNvSpPr txBox="1"/>
          <p:nvPr/>
        </p:nvSpPr>
        <p:spPr>
          <a:xfrm>
            <a:off x="342583" y="594515"/>
            <a:ext cx="190125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LIVE PID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Data and Plot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1"/>
          <p:cNvSpPr txBox="1"/>
          <p:nvPr>
            <p:ph type="title"/>
          </p:nvPr>
        </p:nvSpPr>
        <p:spPr>
          <a:xfrm>
            <a:off x="417399" y="482600"/>
            <a:ext cx="8408194" cy="558627"/>
          </a:xfrm>
          <a:prstGeom prst="rect">
            <a:avLst/>
          </a:prstGeom>
          <a:noFill/>
          <a:ln>
            <a:noFill/>
          </a:ln>
        </p:spPr>
        <p:txBody>
          <a:bodyPr anchorCtr="0" anchor="ctr" bIns="34275" lIns="68575" spcFirstLastPara="1" rIns="68575" wrap="square" tIns="34275">
            <a:normAutofit/>
          </a:bodyPr>
          <a:lstStyle/>
          <a:p>
            <a:pPr indent="0" lvl="0" marL="0" rtl="0" algn="ctr">
              <a:lnSpc>
                <a:spcPct val="100000"/>
              </a:lnSpc>
              <a:spcBef>
                <a:spcPts val="0"/>
              </a:spcBef>
              <a:spcAft>
                <a:spcPts val="0"/>
              </a:spcAft>
              <a:buSzPts val="3000"/>
              <a:buNone/>
            </a:pPr>
            <a:r>
              <a:rPr b="1" lang="en-US" sz="2400">
                <a:solidFill>
                  <a:schemeClr val="lt1"/>
                </a:solidFill>
                <a:latin typeface="Arial"/>
                <a:ea typeface="Arial"/>
                <a:cs typeface="Arial"/>
                <a:sym typeface="Arial"/>
              </a:rPr>
              <a:t>PID Information and Plot</a:t>
            </a:r>
            <a:endParaRPr/>
          </a:p>
        </p:txBody>
      </p:sp>
      <p:pic>
        <p:nvPicPr>
          <p:cNvPr id="305" name="Google Shape;305;p21"/>
          <p:cNvPicPr preferRelativeResize="0"/>
          <p:nvPr>
            <p:ph idx="1" type="body"/>
          </p:nvPr>
        </p:nvPicPr>
        <p:blipFill rotWithShape="1">
          <a:blip r:embed="rId3">
            <a:alphaModFix/>
          </a:blip>
          <a:srcRect b="14869" l="28188" r="29736" t="42893"/>
          <a:stretch/>
        </p:blipFill>
        <p:spPr>
          <a:xfrm>
            <a:off x="1589467" y="514696"/>
            <a:ext cx="5858933" cy="3295649"/>
          </a:xfrm>
          <a:prstGeom prst="rect">
            <a:avLst/>
          </a:prstGeom>
          <a:noFill/>
          <a:ln>
            <a:noFill/>
          </a:ln>
        </p:spPr>
      </p:pic>
      <p:sp>
        <p:nvSpPr>
          <p:cNvPr id="306" name="Google Shape;306;p21"/>
          <p:cNvSpPr txBox="1"/>
          <p:nvPr/>
        </p:nvSpPr>
        <p:spPr>
          <a:xfrm>
            <a:off x="6825345" y="1813645"/>
            <a:ext cx="2000248" cy="4154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Arial"/>
              <a:buNone/>
            </a:pPr>
            <a:br>
              <a:rPr b="0" i="0" lang="en-US" sz="1050" u="none" cap="none" strike="noStrike">
                <a:solidFill>
                  <a:srgbClr val="000000"/>
                </a:solidFill>
                <a:latin typeface="Arial"/>
                <a:ea typeface="Arial"/>
                <a:cs typeface="Arial"/>
                <a:sym typeface="Arial"/>
              </a:rPr>
            </a:br>
            <a:endParaRPr b="0" i="0" sz="1050" u="none" cap="none" strike="noStrike">
              <a:solidFill>
                <a:srgbClr val="000000"/>
              </a:solidFill>
              <a:latin typeface="Arial"/>
              <a:ea typeface="Arial"/>
              <a:cs typeface="Arial"/>
              <a:sym typeface="Arial"/>
            </a:endParaRPr>
          </a:p>
        </p:txBody>
      </p:sp>
      <p:sp>
        <p:nvSpPr>
          <p:cNvPr id="307" name="Google Shape;307;p21"/>
          <p:cNvSpPr txBox="1"/>
          <p:nvPr/>
        </p:nvSpPr>
        <p:spPr>
          <a:xfrm>
            <a:off x="0" y="572485"/>
            <a:ext cx="1755323" cy="3416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00000"/>
                </a:solidFill>
                <a:latin typeface="Times New Roman"/>
                <a:ea typeface="Times New Roman"/>
                <a:cs typeface="Times New Roman"/>
                <a:sym typeface="Times New Roman"/>
              </a:rPr>
              <a:t>Panel 3 </a:t>
            </a:r>
            <a:endParaRPr b="0" i="0" sz="1050" u="none" cap="none" strike="noStrike">
              <a:solidFill>
                <a:srgbClr val="000000"/>
              </a:solidFill>
              <a:latin typeface="Arial"/>
              <a:ea typeface="Arial"/>
              <a:cs typeface="Arial"/>
              <a:sym typeface="Arial"/>
            </a:endParaRPr>
          </a:p>
          <a:p>
            <a:pPr indent="0" lvl="0" marL="171450" marR="0" rtl="0" algn="l">
              <a:lnSpc>
                <a:spcPct val="100000"/>
              </a:lnSpc>
              <a:spcBef>
                <a:spcPts val="0"/>
              </a:spcBef>
              <a:spcAft>
                <a:spcPts val="0"/>
              </a:spcAft>
              <a:buClr>
                <a:srgbClr val="000000"/>
              </a:buClr>
              <a:buSzPts val="1350"/>
              <a:buFont typeface="Arial"/>
              <a:buNone/>
            </a:pPr>
            <a:r>
              <a:rPr b="0" i="0" lang="en-US" sz="1350" u="none" cap="none" strike="noStrike">
                <a:solidFill>
                  <a:srgbClr val="000000"/>
                </a:solidFill>
                <a:latin typeface="Times New Roman"/>
                <a:ea typeface="Times New Roman"/>
                <a:cs typeface="Times New Roman"/>
                <a:sym typeface="Times New Roman"/>
              </a:rPr>
              <a:t>Red dots: Real measured T1</a:t>
            </a:r>
            <a:endParaRPr b="0" i="0" sz="1050" u="none" cap="none" strike="noStrike">
              <a:solidFill>
                <a:srgbClr val="000000"/>
              </a:solidFill>
              <a:latin typeface="Arial"/>
              <a:ea typeface="Arial"/>
              <a:cs typeface="Arial"/>
              <a:sym typeface="Arial"/>
            </a:endParaRPr>
          </a:p>
          <a:p>
            <a:pPr indent="0" lvl="0" marL="171450" marR="0" rtl="0" algn="l">
              <a:lnSpc>
                <a:spcPct val="100000"/>
              </a:lnSpc>
              <a:spcBef>
                <a:spcPts val="0"/>
              </a:spcBef>
              <a:spcAft>
                <a:spcPts val="0"/>
              </a:spcAft>
              <a:buClr>
                <a:srgbClr val="000000"/>
              </a:buClr>
              <a:buSzPts val="1350"/>
              <a:buFont typeface="Arial"/>
              <a:buNone/>
            </a:pPr>
            <a:r>
              <a:rPr b="0" i="0" lang="en-US" sz="1350" u="none" cap="none" strike="noStrike">
                <a:solidFill>
                  <a:srgbClr val="000000"/>
                </a:solidFill>
                <a:latin typeface="Times New Roman"/>
                <a:ea typeface="Times New Roman"/>
                <a:cs typeface="Times New Roman"/>
                <a:sym typeface="Times New Roman"/>
              </a:rPr>
              <a:t>Black line: </a:t>
            </a:r>
            <a:r>
              <a:rPr b="0" i="1" lang="en-US" sz="1350" u="none" cap="none" strike="noStrike">
                <a:solidFill>
                  <a:srgbClr val="000000"/>
                </a:solidFill>
                <a:latin typeface="Times New Roman"/>
                <a:ea typeface="Times New Roman"/>
                <a:cs typeface="Times New Roman"/>
                <a:sym typeface="Times New Roman"/>
              </a:rPr>
              <a:t>Energy balance model prediction (Tp) tracks shape fairly well.</a:t>
            </a:r>
            <a:endParaRPr b="0" i="1" sz="1050" u="none" cap="none" strike="noStrike">
              <a:solidFill>
                <a:srgbClr val="000000"/>
              </a:solidFill>
              <a:latin typeface="Arial"/>
              <a:ea typeface="Arial"/>
              <a:cs typeface="Arial"/>
              <a:sym typeface="Arial"/>
            </a:endParaRPr>
          </a:p>
          <a:p>
            <a:pPr indent="0" lvl="0" marL="171450" marR="0" rtl="0" algn="l">
              <a:lnSpc>
                <a:spcPct val="100000"/>
              </a:lnSpc>
              <a:spcBef>
                <a:spcPts val="0"/>
              </a:spcBef>
              <a:spcAft>
                <a:spcPts val="0"/>
              </a:spcAft>
              <a:buClr>
                <a:srgbClr val="000000"/>
              </a:buClr>
              <a:buSzPts val="1350"/>
              <a:buFont typeface="Arial"/>
              <a:buNone/>
            </a:pPr>
            <a:r>
              <a:rPr b="0" i="0" lang="en-US" sz="1350" u="none" cap="none" strike="noStrike">
                <a:solidFill>
                  <a:srgbClr val="000000"/>
                </a:solidFill>
                <a:latin typeface="Times New Roman"/>
                <a:ea typeface="Times New Roman"/>
                <a:cs typeface="Times New Roman"/>
                <a:sym typeface="Times New Roman"/>
              </a:rPr>
              <a:t>Green line: FOPDT model prediction (Tpl) observe both deviate slightly during large transients</a:t>
            </a:r>
            <a:endParaRPr b="0" i="0" sz="1050" u="none" cap="none" strike="noStrike">
              <a:solidFill>
                <a:srgbClr val="000000"/>
              </a:solidFill>
              <a:latin typeface="Arial"/>
              <a:ea typeface="Arial"/>
              <a:cs typeface="Arial"/>
              <a:sym typeface="Arial"/>
            </a:endParaRPr>
          </a:p>
          <a:p>
            <a:pPr indent="0" lvl="0" marL="171450" marR="0" rtl="0" algn="l">
              <a:lnSpc>
                <a:spcPct val="100000"/>
              </a:lnSpc>
              <a:spcBef>
                <a:spcPts val="0"/>
              </a:spcBef>
              <a:spcAft>
                <a:spcPts val="0"/>
              </a:spcAft>
              <a:buClr>
                <a:srgbClr val="000000"/>
              </a:buClr>
              <a:buSzPts val="1350"/>
              <a:buFont typeface="Arial"/>
              <a:buNone/>
            </a:pPr>
            <a:r>
              <a:rPr b="0" i="0" lang="en-US" sz="1350" u="none" cap="none" strike="noStrike">
                <a:solidFill>
                  <a:srgbClr val="000000"/>
                </a:solidFill>
                <a:latin typeface="Times New Roman"/>
                <a:ea typeface="Times New Roman"/>
                <a:cs typeface="Times New Roman"/>
                <a:sym typeface="Times New Roman"/>
              </a:rPr>
              <a:t>This is the </a:t>
            </a:r>
            <a:r>
              <a:rPr b="1" i="0" lang="en-US" sz="1350" u="none" cap="none" strike="noStrike">
                <a:solidFill>
                  <a:srgbClr val="000000"/>
                </a:solidFill>
                <a:latin typeface="Times New Roman"/>
                <a:ea typeface="Times New Roman"/>
                <a:cs typeface="Times New Roman"/>
                <a:sym typeface="Times New Roman"/>
              </a:rPr>
              <a:t>model validation plot</a:t>
            </a:r>
            <a:r>
              <a:rPr b="0" i="0" lang="en-US" sz="1350" u="none" cap="none" strike="noStrike">
                <a:solidFill>
                  <a:srgbClr val="000000"/>
                </a:solidFill>
                <a:latin typeface="Times New Roman"/>
                <a:ea typeface="Times New Roman"/>
                <a:cs typeface="Times New Roman"/>
                <a:sym typeface="Times New Roman"/>
              </a:rPr>
              <a:t>.</a:t>
            </a:r>
            <a:endParaRPr b="0" i="0" sz="1050" u="none" cap="none" strike="noStrike">
              <a:solidFill>
                <a:srgbClr val="000000"/>
              </a:solidFill>
              <a:latin typeface="Arial"/>
              <a:ea typeface="Arial"/>
              <a:cs typeface="Arial"/>
              <a:sym typeface="Arial"/>
            </a:endParaRPr>
          </a:p>
        </p:txBody>
      </p:sp>
      <p:sp>
        <p:nvSpPr>
          <p:cNvPr id="308" name="Google Shape;308;p21"/>
          <p:cNvSpPr txBox="1"/>
          <p:nvPr/>
        </p:nvSpPr>
        <p:spPr>
          <a:xfrm>
            <a:off x="7282544" y="232442"/>
            <a:ext cx="1542900" cy="28776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00000"/>
                </a:solidFill>
                <a:latin typeface="Times New Roman"/>
                <a:ea typeface="Times New Roman"/>
                <a:cs typeface="Times New Roman"/>
                <a:sym typeface="Times New Roman"/>
              </a:rPr>
              <a:t>Panel 4 </a:t>
            </a:r>
            <a:endParaRPr b="0" i="0" sz="1050" u="none" cap="none" strike="noStrike">
              <a:solidFill>
                <a:srgbClr val="000000"/>
              </a:solidFill>
              <a:latin typeface="Arial"/>
              <a:ea typeface="Arial"/>
              <a:cs typeface="Arial"/>
              <a:sym typeface="Arial"/>
            </a:endParaRPr>
          </a:p>
          <a:p>
            <a:pPr indent="0" lvl="0" marL="171450" marR="0" rtl="0" algn="l">
              <a:lnSpc>
                <a:spcPct val="100000"/>
              </a:lnSpc>
              <a:spcBef>
                <a:spcPts val="0"/>
              </a:spcBef>
              <a:spcAft>
                <a:spcPts val="0"/>
              </a:spcAft>
              <a:buClr>
                <a:srgbClr val="000000"/>
              </a:buClr>
              <a:buSzPts val="1350"/>
              <a:buFont typeface="Arial"/>
              <a:buNone/>
            </a:pPr>
            <a:r>
              <a:rPr b="1" i="0" lang="en-US" sz="1350" u="none" cap="none" strike="noStrike">
                <a:solidFill>
                  <a:srgbClr val="000000"/>
                </a:solidFill>
                <a:latin typeface="Times New Roman"/>
                <a:ea typeface="Times New Roman"/>
                <a:cs typeface="Times New Roman"/>
                <a:sym typeface="Times New Roman"/>
              </a:rPr>
              <a:t>What it shows:</a:t>
            </a:r>
            <a:endParaRPr b="0" i="0" sz="1050" u="none" cap="none" strike="noStrike">
              <a:solidFill>
                <a:srgbClr val="000000"/>
              </a:solidFill>
              <a:latin typeface="Arial"/>
              <a:ea typeface="Arial"/>
              <a:cs typeface="Arial"/>
              <a:sym typeface="Arial"/>
            </a:endParaRPr>
          </a:p>
          <a:p>
            <a:pPr indent="0" lvl="0" marL="17145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This evaluates model accuracy via prediction error; the energy balance model achieves the lowest error magnitude and variability.</a:t>
            </a:r>
            <a:endParaRPr b="0" i="0" sz="1400" u="none" cap="none" strike="noStrike">
              <a:solidFill>
                <a:srgbClr val="000000"/>
              </a:solidFill>
              <a:latin typeface="Arial"/>
              <a:ea typeface="Arial"/>
              <a:cs typeface="Arial"/>
              <a:sym typeface="Arial"/>
            </a:endParaRPr>
          </a:p>
        </p:txBody>
      </p:sp>
      <p:sp>
        <p:nvSpPr>
          <p:cNvPr id="309" name="Google Shape;309;p21"/>
          <p:cNvSpPr txBox="1"/>
          <p:nvPr/>
        </p:nvSpPr>
        <p:spPr>
          <a:xfrm>
            <a:off x="3336597" y="4353123"/>
            <a:ext cx="218305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Kp=10,Ki=0.2,Kd=10</a:t>
            </a:r>
            <a:endParaRPr b="1" i="0" sz="1400" u="none" cap="none" strike="noStrike">
              <a:solidFill>
                <a:srgbClr val="000000"/>
              </a:solidFill>
              <a:latin typeface="Arial"/>
              <a:ea typeface="Arial"/>
              <a:cs typeface="Arial"/>
              <a:sym typeface="Arial"/>
            </a:endParaRPr>
          </a:p>
        </p:txBody>
      </p:sp>
      <p:sp>
        <p:nvSpPr>
          <p:cNvPr id="310" name="Google Shape;310;p21"/>
          <p:cNvSpPr txBox="1"/>
          <p:nvPr/>
        </p:nvSpPr>
        <p:spPr>
          <a:xfrm>
            <a:off x="2331340" y="3816116"/>
            <a:ext cx="458031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a:t>
            </a:r>
            <a:r>
              <a:rPr b="1" i="0" lang="en-US" sz="1400" u="none" cap="none" strike="noStrike">
                <a:solidFill>
                  <a:srgbClr val="000000"/>
                </a:solidFill>
                <a:latin typeface="Arial"/>
                <a:ea typeface="Arial"/>
                <a:cs typeface="Arial"/>
                <a:sym typeface="Arial"/>
              </a:rPr>
              <a:t>energy balance model </a:t>
            </a:r>
            <a:r>
              <a:rPr b="0" i="0" lang="en-US" sz="1400" u="none" cap="none" strike="noStrike">
                <a:solidFill>
                  <a:srgbClr val="000000"/>
                </a:solidFill>
                <a:latin typeface="Arial"/>
                <a:ea typeface="Arial"/>
                <a:cs typeface="Arial"/>
                <a:sym typeface="Arial"/>
              </a:rPr>
              <a:t>provides the closest match to the measured response.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d333a04153_0_68"/>
          <p:cNvSpPr txBox="1"/>
          <p:nvPr>
            <p:ph type="title"/>
          </p:nvPr>
        </p:nvSpPr>
        <p:spPr>
          <a:xfrm>
            <a:off x="457200" y="206375"/>
            <a:ext cx="8229600" cy="910200"/>
          </a:xfrm>
          <a:prstGeom prst="rect">
            <a:avLst/>
          </a:prstGeom>
          <a:noFill/>
          <a:ln>
            <a:noFill/>
          </a:ln>
        </p:spPr>
        <p:txBody>
          <a:bodyPr anchorCtr="0" anchor="ctr" bIns="45700" lIns="91425" spcFirstLastPara="1" rIns="91425" wrap="square" tIns="45700">
            <a:noAutofit/>
          </a:bodyPr>
          <a:lstStyle/>
          <a:p>
            <a:pPr indent="0" lvl="0" marL="0" rtl="0" algn="ctr">
              <a:lnSpc>
                <a:spcPct val="115000"/>
              </a:lnSpc>
              <a:spcBef>
                <a:spcPts val="1400"/>
              </a:spcBef>
              <a:spcAft>
                <a:spcPts val="0"/>
              </a:spcAft>
              <a:buSzPts val="3000"/>
              <a:buNone/>
            </a:pPr>
            <a:r>
              <a:rPr b="1" lang="en-US" sz="2600">
                <a:solidFill>
                  <a:srgbClr val="000000"/>
                </a:solidFill>
                <a:latin typeface="Arial"/>
                <a:ea typeface="Arial"/>
                <a:cs typeface="Arial"/>
                <a:sym typeface="Arial"/>
              </a:rPr>
              <a:t>Part 1 TCLab Conclusions</a:t>
            </a:r>
            <a:endParaRPr b="1" sz="2600">
              <a:solidFill>
                <a:srgbClr val="000000"/>
              </a:solidFill>
              <a:latin typeface="Arial"/>
              <a:ea typeface="Arial"/>
              <a:cs typeface="Arial"/>
              <a:sym typeface="Arial"/>
            </a:endParaRPr>
          </a:p>
          <a:p>
            <a:pPr indent="0" lvl="0" marL="0" rtl="0" algn="ctr">
              <a:lnSpc>
                <a:spcPct val="100000"/>
              </a:lnSpc>
              <a:spcBef>
                <a:spcPts val="400"/>
              </a:spcBef>
              <a:spcAft>
                <a:spcPts val="0"/>
              </a:spcAft>
              <a:buSzPts val="3000"/>
              <a:buNone/>
            </a:pPr>
            <a:r>
              <a:t/>
            </a:r>
            <a:endParaRPr/>
          </a:p>
        </p:txBody>
      </p:sp>
      <p:sp>
        <p:nvSpPr>
          <p:cNvPr id="317" name="Google Shape;317;g3d333a04153_0_68"/>
          <p:cNvSpPr txBox="1"/>
          <p:nvPr>
            <p:ph idx="12" type="sldNum"/>
          </p:nvPr>
        </p:nvSpPr>
        <p:spPr>
          <a:xfrm>
            <a:off x="6553200" y="4767262"/>
            <a:ext cx="2133600" cy="274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898989"/>
              </a:buClr>
              <a:buSzPts val="1800"/>
              <a:buFont typeface="Arial"/>
              <a:buNone/>
            </a:pPr>
            <a:fld id="{00000000-1234-1234-1234-123412341234}" type="slidenum">
              <a:rPr lang="en-US"/>
              <a:t>‹#›</a:t>
            </a:fld>
            <a:endParaRPr sz="1000">
              <a:solidFill>
                <a:schemeClr val="lt1"/>
              </a:solidFill>
            </a:endParaRPr>
          </a:p>
        </p:txBody>
      </p:sp>
      <p:sp>
        <p:nvSpPr>
          <p:cNvPr id="318" name="Google Shape;318;g3d333a04153_0_68"/>
          <p:cNvSpPr txBox="1"/>
          <p:nvPr/>
        </p:nvSpPr>
        <p:spPr>
          <a:xfrm>
            <a:off x="1681925" y="1329875"/>
            <a:ext cx="5064000" cy="2444485"/>
          </a:xfrm>
          <a:prstGeom prst="rect">
            <a:avLst/>
          </a:prstGeom>
          <a:noFill/>
          <a:ln>
            <a:noFill/>
          </a:ln>
        </p:spPr>
        <p:txBody>
          <a:bodyPr anchorCtr="0" anchor="t" bIns="91425" lIns="91425" spcFirstLastPara="1" rIns="91425" wrap="square" tIns="91425">
            <a:spAutoFit/>
          </a:bodyPr>
          <a:lstStyle/>
          <a:p>
            <a:pPr indent="-336550" lvl="0" marL="457200" marR="0" rtl="0" algn="l">
              <a:lnSpc>
                <a:spcPct val="115000"/>
              </a:lnSpc>
              <a:spcBef>
                <a:spcPts val="1200"/>
              </a:spcBef>
              <a:spcAft>
                <a:spcPts val="0"/>
              </a:spcAft>
              <a:buClr>
                <a:srgbClr val="000000"/>
              </a:buClr>
              <a:buSzPts val="1700"/>
              <a:buFont typeface="Arial"/>
              <a:buChar char="●"/>
            </a:pPr>
            <a:r>
              <a:rPr b="0" i="0" lang="en-US" sz="1700" u="none" cap="none" strike="noStrike">
                <a:solidFill>
                  <a:srgbClr val="000000"/>
                </a:solidFill>
                <a:latin typeface="Arial"/>
                <a:ea typeface="Arial"/>
                <a:cs typeface="Arial"/>
                <a:sym typeface="Arial"/>
              </a:rPr>
              <a:t>FOPDT model captures main dynamics; but, </a:t>
            </a:r>
            <a:r>
              <a:rPr b="1" i="0" lang="en-US" sz="1700" u="none" cap="none" strike="noStrike">
                <a:solidFill>
                  <a:srgbClr val="000000"/>
                </a:solidFill>
                <a:latin typeface="Arial"/>
                <a:ea typeface="Arial"/>
                <a:cs typeface="Arial"/>
                <a:sym typeface="Arial"/>
              </a:rPr>
              <a:t>energy balance model </a:t>
            </a:r>
            <a:r>
              <a:rPr b="0" i="0" lang="en-US" sz="1700" u="none" cap="none" strike="noStrike">
                <a:solidFill>
                  <a:srgbClr val="000000"/>
                </a:solidFill>
                <a:latin typeface="Arial"/>
                <a:ea typeface="Arial"/>
                <a:cs typeface="Arial"/>
                <a:sym typeface="Arial"/>
              </a:rPr>
              <a:t>is more accurate</a:t>
            </a:r>
            <a:endParaRPr b="0" i="0" sz="1700" u="none" cap="none" strike="noStrike">
              <a:solidFill>
                <a:srgbClr val="000000"/>
              </a:solidFill>
              <a:latin typeface="Arial"/>
              <a:ea typeface="Arial"/>
              <a:cs typeface="Arial"/>
              <a:sym typeface="Arial"/>
            </a:endParaRPr>
          </a:p>
          <a:p>
            <a:pPr indent="-336550" lvl="0" marL="457200" marR="0" rtl="0" algn="l">
              <a:lnSpc>
                <a:spcPct val="115000"/>
              </a:lnSpc>
              <a:spcBef>
                <a:spcPts val="0"/>
              </a:spcBef>
              <a:spcAft>
                <a:spcPts val="0"/>
              </a:spcAft>
              <a:buClr>
                <a:srgbClr val="000000"/>
              </a:buClr>
              <a:buSzPts val="1700"/>
              <a:buFont typeface="Arial"/>
              <a:buChar char="●"/>
            </a:pPr>
            <a:r>
              <a:rPr b="0" i="0" lang="en-US" sz="1700" u="none" cap="none" strike="noStrike">
                <a:solidFill>
                  <a:srgbClr val="000000"/>
                </a:solidFill>
                <a:latin typeface="Arial"/>
                <a:ea typeface="Arial"/>
                <a:cs typeface="Arial"/>
                <a:sym typeface="Arial"/>
              </a:rPr>
              <a:t>PID controller achieves stable tracking with minimal overshoot</a:t>
            </a:r>
            <a:endParaRPr b="0" i="0" sz="1700" u="none" cap="none" strike="noStrike">
              <a:solidFill>
                <a:srgbClr val="000000"/>
              </a:solidFill>
              <a:latin typeface="Arial"/>
              <a:ea typeface="Arial"/>
              <a:cs typeface="Arial"/>
              <a:sym typeface="Arial"/>
            </a:endParaRPr>
          </a:p>
          <a:p>
            <a:pPr indent="-336550" lvl="0" marL="457200" marR="0" rtl="0" algn="l">
              <a:lnSpc>
                <a:spcPct val="115000"/>
              </a:lnSpc>
              <a:spcBef>
                <a:spcPts val="0"/>
              </a:spcBef>
              <a:spcAft>
                <a:spcPts val="0"/>
              </a:spcAft>
              <a:buClr>
                <a:srgbClr val="000000"/>
              </a:buClr>
              <a:buSzPts val="1700"/>
              <a:buFont typeface="Arial"/>
              <a:buChar char="●"/>
            </a:pPr>
            <a:r>
              <a:rPr b="0" i="0" lang="en-US" sz="1700" u="none" cap="none" strike="noStrike">
                <a:solidFill>
                  <a:srgbClr val="000000"/>
                </a:solidFill>
                <a:latin typeface="Arial"/>
                <a:ea typeface="Arial"/>
                <a:cs typeface="Arial"/>
                <a:sym typeface="Arial"/>
              </a:rPr>
              <a:t>Real data matches model predictions closely</a:t>
            </a:r>
            <a:endParaRPr b="0" i="0" sz="1700" u="none" cap="none" strike="noStrike">
              <a:solidFill>
                <a:srgbClr val="000000"/>
              </a:solidFill>
              <a:latin typeface="Arial"/>
              <a:ea typeface="Arial"/>
              <a:cs typeface="Arial"/>
              <a:sym typeface="Arial"/>
            </a:endParaRPr>
          </a:p>
          <a:p>
            <a:pPr indent="-336550" lvl="0" marL="457200" marR="0" rtl="0" algn="l">
              <a:lnSpc>
                <a:spcPct val="115000"/>
              </a:lnSpc>
              <a:spcBef>
                <a:spcPts val="0"/>
              </a:spcBef>
              <a:spcAft>
                <a:spcPts val="0"/>
              </a:spcAft>
              <a:buClr>
                <a:srgbClr val="000000"/>
              </a:buClr>
              <a:buSzPts val="1700"/>
              <a:buFont typeface="Arial"/>
              <a:buChar char="●"/>
            </a:pPr>
            <a:r>
              <a:rPr b="0" i="0" lang="en-US" sz="1700" u="none" cap="none" strike="noStrike">
                <a:solidFill>
                  <a:srgbClr val="000000"/>
                </a:solidFill>
                <a:latin typeface="Arial"/>
                <a:ea typeface="Arial"/>
                <a:cs typeface="Arial"/>
                <a:sym typeface="Arial"/>
              </a:rPr>
              <a:t>TCLab provides a reliable platform for teaching modeling and control</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3"/>
          <p:cNvSpPr txBox="1"/>
          <p:nvPr>
            <p:ph type="title"/>
          </p:nvPr>
        </p:nvSpPr>
        <p:spPr>
          <a:xfrm>
            <a:off x="386515" y="98710"/>
            <a:ext cx="8520600" cy="6078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3000"/>
              <a:buNone/>
            </a:pPr>
            <a:r>
              <a:rPr b="1" lang="en-US" sz="1800"/>
              <a:t>PART 2 – Quanser QUBE-Servo 2 System</a:t>
            </a:r>
            <a:endParaRPr sz="1800"/>
          </a:p>
        </p:txBody>
      </p:sp>
      <p:sp>
        <p:nvSpPr>
          <p:cNvPr id="324" name="Google Shape;324;p2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90000"/>
              </a:lnSpc>
              <a:spcBef>
                <a:spcPts val="0"/>
              </a:spcBef>
              <a:spcAft>
                <a:spcPts val="600"/>
              </a:spcAft>
              <a:buSzPts val="1000"/>
              <a:buNone/>
            </a:pPr>
            <a:fld id="{00000000-1234-1234-1234-123412341234}" type="slidenum">
              <a:rPr lang="en-US" sz="900"/>
              <a:t>‹#›</a:t>
            </a:fld>
            <a:endParaRPr sz="900"/>
          </a:p>
        </p:txBody>
      </p:sp>
      <p:pic>
        <p:nvPicPr>
          <p:cNvPr descr="Qube-Servo 2 - Quanser" id="325" name="Google Shape;325;p23"/>
          <p:cNvPicPr preferRelativeResize="0"/>
          <p:nvPr/>
        </p:nvPicPr>
        <p:blipFill rotWithShape="1">
          <a:blip r:embed="rId3">
            <a:alphaModFix/>
          </a:blip>
          <a:srcRect b="3" l="2794" r="3" t="0"/>
          <a:stretch/>
        </p:blipFill>
        <p:spPr>
          <a:xfrm>
            <a:off x="295625" y="599800"/>
            <a:ext cx="2441879" cy="3264408"/>
          </a:xfrm>
          <a:prstGeom prst="rect">
            <a:avLst/>
          </a:prstGeom>
          <a:solidFill>
            <a:srgbClr val="FFFFFF"/>
          </a:solidFill>
          <a:ln>
            <a:noFill/>
          </a:ln>
        </p:spPr>
      </p:pic>
      <p:sp>
        <p:nvSpPr>
          <p:cNvPr id="326" name="Google Shape;326;p23"/>
          <p:cNvSpPr txBox="1"/>
          <p:nvPr>
            <p:ph idx="4294967295" type="body"/>
          </p:nvPr>
        </p:nvSpPr>
        <p:spPr>
          <a:xfrm>
            <a:off x="2655800" y="529800"/>
            <a:ext cx="5745900" cy="3520200"/>
          </a:xfrm>
          <a:prstGeom prst="rect">
            <a:avLst/>
          </a:prstGeom>
          <a:noFill/>
          <a:ln>
            <a:noFill/>
          </a:ln>
        </p:spPr>
        <p:txBody>
          <a:bodyPr anchorCtr="0" anchor="t" bIns="91425" lIns="91425" spcFirstLastPara="1" rIns="91425" wrap="square" tIns="91425">
            <a:normAutofit fontScale="92500" lnSpcReduction="10000"/>
          </a:bodyPr>
          <a:lstStyle/>
          <a:p>
            <a:pPr indent="-339749" lvl="0" marL="457200" rtl="0" algn="l">
              <a:lnSpc>
                <a:spcPct val="105000"/>
              </a:lnSpc>
              <a:spcBef>
                <a:spcPts val="0"/>
              </a:spcBef>
              <a:spcAft>
                <a:spcPts val="0"/>
              </a:spcAft>
              <a:buClr>
                <a:srgbClr val="000000"/>
              </a:buClr>
              <a:buSzPct val="151503"/>
              <a:buFont typeface="Arial"/>
              <a:buChar char="●"/>
            </a:pPr>
            <a:r>
              <a:rPr b="0" i="0" lang="en-US" sz="1359" u="none" cap="none" strike="noStrike">
                <a:solidFill>
                  <a:srgbClr val="A50000"/>
                </a:solidFill>
              </a:rPr>
              <a:t>DC motor-driven rotary arm equipped with a high-resolution encoder.</a:t>
            </a:r>
            <a:endParaRPr b="0" i="0" sz="1359" u="none" cap="none" strike="noStrike">
              <a:solidFill>
                <a:srgbClr val="A50000"/>
              </a:solidFill>
            </a:endParaRPr>
          </a:p>
          <a:p>
            <a:pPr indent="-339749" lvl="0" marL="457200" rtl="0" algn="l">
              <a:lnSpc>
                <a:spcPct val="105000"/>
              </a:lnSpc>
              <a:spcBef>
                <a:spcPts val="600"/>
              </a:spcBef>
              <a:spcAft>
                <a:spcPts val="0"/>
              </a:spcAft>
              <a:buClr>
                <a:srgbClr val="000000"/>
              </a:buClr>
              <a:buSzPct val="151503"/>
              <a:buFont typeface="Arial"/>
              <a:buChar char="●"/>
            </a:pPr>
            <a:r>
              <a:rPr b="0" i="0" lang="en-US" sz="1359" u="none" cap="none" strike="noStrike">
                <a:solidFill>
                  <a:srgbClr val="A50000"/>
                </a:solidFill>
              </a:rPr>
              <a:t>System components:</a:t>
            </a:r>
            <a:endParaRPr b="0" i="0" sz="1359" u="none" cap="none" strike="noStrike">
              <a:solidFill>
                <a:srgbClr val="A50000"/>
              </a:solidFill>
            </a:endParaRPr>
          </a:p>
          <a:p>
            <a:pPr indent="0" lvl="0" marL="114300" rtl="0" algn="l">
              <a:lnSpc>
                <a:spcPct val="105000"/>
              </a:lnSpc>
              <a:spcBef>
                <a:spcPts val="600"/>
              </a:spcBef>
              <a:spcAft>
                <a:spcPts val="0"/>
              </a:spcAft>
              <a:buClr>
                <a:srgbClr val="000000"/>
              </a:buClr>
              <a:buSzPct val="132437"/>
              <a:buNone/>
            </a:pPr>
            <a:r>
              <a:rPr b="0" i="0" lang="en-US" sz="1359" u="none" cap="none" strike="noStrike">
                <a:solidFill>
                  <a:srgbClr val="A50000"/>
                </a:solidFill>
              </a:rPr>
              <a:t>          Input: Motor voltage (±10V)</a:t>
            </a:r>
            <a:endParaRPr sz="2059"/>
          </a:p>
          <a:p>
            <a:pPr indent="0" lvl="0" marL="114300" rtl="0" algn="l">
              <a:lnSpc>
                <a:spcPct val="105000"/>
              </a:lnSpc>
              <a:spcBef>
                <a:spcPts val="600"/>
              </a:spcBef>
              <a:spcAft>
                <a:spcPts val="0"/>
              </a:spcAft>
              <a:buClr>
                <a:srgbClr val="000000"/>
              </a:buClr>
              <a:buSzPct val="132437"/>
              <a:buNone/>
            </a:pPr>
            <a:r>
              <a:rPr b="0" i="0" lang="en-US" sz="1359" u="none" cap="none" strike="noStrike">
                <a:solidFill>
                  <a:srgbClr val="A50000"/>
                </a:solidFill>
              </a:rPr>
              <a:t>          Output: Angular position (rad)</a:t>
            </a:r>
            <a:endParaRPr sz="2059"/>
          </a:p>
          <a:p>
            <a:pPr indent="0" lvl="0" marL="114300" rtl="0" algn="l">
              <a:lnSpc>
                <a:spcPct val="105000"/>
              </a:lnSpc>
              <a:spcBef>
                <a:spcPts val="600"/>
              </a:spcBef>
              <a:spcAft>
                <a:spcPts val="0"/>
              </a:spcAft>
              <a:buClr>
                <a:srgbClr val="000000"/>
              </a:buClr>
              <a:buSzPct val="132437"/>
              <a:buNone/>
            </a:pPr>
            <a:r>
              <a:rPr b="0" i="0" lang="en-US" sz="1359" u="none" cap="none" strike="noStrike">
                <a:solidFill>
                  <a:srgbClr val="A50000"/>
                </a:solidFill>
              </a:rPr>
              <a:t>          Encoder resolution: 2048 counts/rev</a:t>
            </a:r>
            <a:endParaRPr sz="2059"/>
          </a:p>
          <a:p>
            <a:pPr indent="-339749" lvl="0" marL="457200" rtl="0" algn="l">
              <a:lnSpc>
                <a:spcPct val="105000"/>
              </a:lnSpc>
              <a:spcBef>
                <a:spcPts val="600"/>
              </a:spcBef>
              <a:spcAft>
                <a:spcPts val="0"/>
              </a:spcAft>
              <a:buClr>
                <a:srgbClr val="000000"/>
              </a:buClr>
              <a:buSzPct val="151503"/>
              <a:buFont typeface="Arial"/>
              <a:buChar char="●"/>
            </a:pPr>
            <a:r>
              <a:rPr b="0" i="0" lang="en-US" sz="1359" u="none" cap="none" strike="noStrike">
                <a:solidFill>
                  <a:srgbClr val="A50000"/>
                </a:solidFill>
              </a:rPr>
              <a:t>Fast electromechanical dynamics</a:t>
            </a:r>
            <a:endParaRPr sz="2059"/>
          </a:p>
          <a:p>
            <a:pPr indent="-339749" lvl="0" marL="457200" rtl="0" algn="l">
              <a:lnSpc>
                <a:spcPct val="105000"/>
              </a:lnSpc>
              <a:spcBef>
                <a:spcPts val="600"/>
              </a:spcBef>
              <a:spcAft>
                <a:spcPts val="0"/>
              </a:spcAft>
              <a:buClr>
                <a:srgbClr val="000000"/>
              </a:buClr>
              <a:buSzPct val="151503"/>
              <a:buFont typeface="Arial"/>
              <a:buChar char="●"/>
            </a:pPr>
            <a:r>
              <a:rPr b="0" i="0" lang="en-US" sz="1359" u="none" cap="none" strike="noStrike">
                <a:solidFill>
                  <a:srgbClr val="A50000"/>
                </a:solidFill>
              </a:rPr>
              <a:t>Unlike TCLab, this system is:</a:t>
            </a:r>
            <a:endParaRPr b="0" i="0" sz="1359" u="none" cap="none" strike="noStrike">
              <a:solidFill>
                <a:srgbClr val="A50000"/>
              </a:solidFill>
            </a:endParaRPr>
          </a:p>
          <a:p>
            <a:pPr indent="0" lvl="0" marL="114300" rtl="0" algn="l">
              <a:lnSpc>
                <a:spcPct val="105000"/>
              </a:lnSpc>
              <a:spcBef>
                <a:spcPts val="600"/>
              </a:spcBef>
              <a:spcAft>
                <a:spcPts val="0"/>
              </a:spcAft>
              <a:buClr>
                <a:srgbClr val="000000"/>
              </a:buClr>
              <a:buSzPct val="132437"/>
              <a:buNone/>
            </a:pPr>
            <a:r>
              <a:rPr b="0" i="0" lang="en-US" sz="1359" u="none" cap="none" strike="noStrike">
                <a:solidFill>
                  <a:srgbClr val="A50000"/>
                </a:solidFill>
              </a:rPr>
              <a:t>             Fast</a:t>
            </a:r>
            <a:endParaRPr sz="2059"/>
          </a:p>
          <a:p>
            <a:pPr indent="0" lvl="0" marL="114300" rtl="0" algn="l">
              <a:lnSpc>
                <a:spcPct val="105000"/>
              </a:lnSpc>
              <a:spcBef>
                <a:spcPts val="600"/>
              </a:spcBef>
              <a:spcAft>
                <a:spcPts val="0"/>
              </a:spcAft>
              <a:buClr>
                <a:srgbClr val="000000"/>
              </a:buClr>
              <a:buSzPct val="132437"/>
              <a:buNone/>
            </a:pPr>
            <a:r>
              <a:rPr b="0" i="0" lang="en-US" sz="1359" u="none" cap="none" strike="noStrike">
                <a:solidFill>
                  <a:srgbClr val="A50000"/>
                </a:solidFill>
              </a:rPr>
              <a:t>             Sensitive</a:t>
            </a:r>
            <a:endParaRPr sz="2059"/>
          </a:p>
          <a:p>
            <a:pPr indent="0" lvl="0" marL="114300" rtl="0" algn="l">
              <a:lnSpc>
                <a:spcPct val="105000"/>
              </a:lnSpc>
              <a:spcBef>
                <a:spcPts val="600"/>
              </a:spcBef>
              <a:spcAft>
                <a:spcPts val="0"/>
              </a:spcAft>
              <a:buClr>
                <a:srgbClr val="000000"/>
              </a:buClr>
              <a:buSzPct val="132437"/>
              <a:buNone/>
            </a:pPr>
            <a:r>
              <a:rPr b="0" i="0" lang="en-US" sz="1359" u="none" cap="none" strike="noStrike">
                <a:solidFill>
                  <a:srgbClr val="A50000"/>
                </a:solidFill>
              </a:rPr>
              <a:t>             Quantized</a:t>
            </a:r>
            <a:endParaRPr sz="2059"/>
          </a:p>
          <a:p>
            <a:pPr indent="-339749" lvl="0" marL="457200" rtl="0" algn="l">
              <a:lnSpc>
                <a:spcPct val="105000"/>
              </a:lnSpc>
              <a:spcBef>
                <a:spcPts val="600"/>
              </a:spcBef>
              <a:spcAft>
                <a:spcPts val="0"/>
              </a:spcAft>
              <a:buClr>
                <a:srgbClr val="000000"/>
              </a:buClr>
              <a:buSzPct val="151503"/>
              <a:buFont typeface="Arial"/>
              <a:buChar char="●"/>
            </a:pPr>
            <a:r>
              <a:rPr b="0" i="0" lang="en-US" sz="1359" u="none" cap="none" strike="noStrike">
                <a:solidFill>
                  <a:srgbClr val="A50000"/>
                </a:solidFill>
              </a:rPr>
              <a:t>Noise-prone when differentiating (produces sensor noise at high</a:t>
            </a:r>
            <a:r>
              <a:rPr lang="en-US" sz="1359">
                <a:solidFill>
                  <a:srgbClr val="A50000"/>
                </a:solidFill>
              </a:rPr>
              <a:t> frequencies</a:t>
            </a:r>
            <a:r>
              <a:rPr b="0" i="0" lang="en-US" sz="1359" u="none" cap="none" strike="noStrike">
                <a:solidFill>
                  <a:srgbClr val="A50000"/>
                </a:solidFill>
              </a:rPr>
              <a:t>)</a:t>
            </a:r>
            <a:endParaRPr sz="2059"/>
          </a:p>
          <a:p>
            <a:pPr indent="-228600" lvl="0" marL="457200" rtl="0" algn="l">
              <a:lnSpc>
                <a:spcPct val="105000"/>
              </a:lnSpc>
              <a:spcBef>
                <a:spcPts val="600"/>
              </a:spcBef>
              <a:spcAft>
                <a:spcPts val="600"/>
              </a:spcAft>
              <a:buClr>
                <a:srgbClr val="000000"/>
              </a:buClr>
              <a:buSzPct val="163636"/>
              <a:buFont typeface="Arial"/>
              <a:buNone/>
            </a:pPr>
            <a:r>
              <a:t/>
            </a:r>
            <a:endParaRPr b="0" i="0" sz="1100" u="none" cap="none" strike="noStrike">
              <a:solidFill>
                <a:srgbClr val="A50000"/>
              </a:solidFill>
            </a:endParaRPr>
          </a:p>
        </p:txBody>
      </p:sp>
      <p:sp>
        <p:nvSpPr>
          <p:cNvPr id="327" name="Google Shape;327;p23"/>
          <p:cNvSpPr txBox="1"/>
          <p:nvPr/>
        </p:nvSpPr>
        <p:spPr>
          <a:xfrm>
            <a:off x="6726950" y="1439200"/>
            <a:ext cx="2442000" cy="523200"/>
          </a:xfrm>
          <a:prstGeom prst="rect">
            <a:avLst/>
          </a:prstGeom>
          <a:blipFill rotWithShape="1">
            <a:blip r:embed="rId4">
              <a:alphaModFix/>
            </a:blip>
            <a:stretch>
              <a:fillRect b="0" l="-840" r="0" t="-232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328" name="Google Shape;328;p23"/>
          <p:cNvSpPr txBox="1"/>
          <p:nvPr/>
        </p:nvSpPr>
        <p:spPr>
          <a:xfrm>
            <a:off x="6726950" y="785764"/>
            <a:ext cx="895811" cy="3077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Voltage: </a:t>
            </a:r>
            <a:endParaRPr b="0" i="0" sz="1400" u="none" cap="none" strike="noStrike">
              <a:solidFill>
                <a:srgbClr val="000000"/>
              </a:solidFill>
              <a:latin typeface="Arial"/>
              <a:ea typeface="Arial"/>
              <a:cs typeface="Arial"/>
              <a:sym typeface="Arial"/>
            </a:endParaRPr>
          </a:p>
        </p:txBody>
      </p:sp>
      <p:sp>
        <p:nvSpPr>
          <p:cNvPr id="329" name="Google Shape;329;p23"/>
          <p:cNvSpPr txBox="1"/>
          <p:nvPr/>
        </p:nvSpPr>
        <p:spPr>
          <a:xfrm>
            <a:off x="295614" y="4173608"/>
            <a:ext cx="63735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Simple Block Diagram: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Voltage → Motor → Arm Dynamics → Angle → Encoder → Measurement</a:t>
            </a:r>
            <a:endParaRPr b="0" i="0" sz="1400" u="none" cap="none" strike="noStrike">
              <a:solidFill>
                <a:srgbClr val="000000"/>
              </a:solidFill>
              <a:latin typeface="Arial"/>
              <a:ea typeface="Arial"/>
              <a:cs typeface="Arial"/>
              <a:sym typeface="Arial"/>
            </a:endParaRPr>
          </a:p>
        </p:txBody>
      </p:sp>
      <p:sp>
        <p:nvSpPr>
          <p:cNvPr id="330" name="Google Shape;330;p23"/>
          <p:cNvSpPr txBox="1"/>
          <p:nvPr/>
        </p:nvSpPr>
        <p:spPr>
          <a:xfrm>
            <a:off x="6315961" y="1864082"/>
            <a:ext cx="31476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000000"/>
                </a:solidFill>
                <a:latin typeface="Arial"/>
                <a:ea typeface="Arial"/>
                <a:cs typeface="Arial"/>
                <a:sym typeface="Arial"/>
              </a:rPr>
              <a:t>core physical laws</a:t>
            </a:r>
            <a:r>
              <a:rPr b="0" i="0" lang="en-US" sz="1100" u="none" cap="none" strike="noStrike">
                <a:solidFill>
                  <a:srgbClr val="000000"/>
                </a:solidFill>
                <a:latin typeface="Arial"/>
                <a:ea typeface="Arial"/>
                <a:cs typeface="Arial"/>
                <a:sym typeface="Arial"/>
              </a:rPr>
              <a:t> that explain how the </a:t>
            </a: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QUBE‑Servo 2 converts electrical input (voltage) into mechanical motion (torque and angular acceleration). </a:t>
            </a:r>
            <a:endParaRPr b="0" i="0" sz="1400" u="none" cap="none" strike="noStrike">
              <a:solidFill>
                <a:srgbClr val="000000"/>
              </a:solidFill>
              <a:latin typeface="Arial"/>
              <a:ea typeface="Arial"/>
              <a:cs typeface="Arial"/>
              <a:sym typeface="Arial"/>
            </a:endParaRPr>
          </a:p>
        </p:txBody>
      </p:sp>
      <p:pic>
        <p:nvPicPr>
          <p:cNvPr id="331" name="Google Shape;331;p23"/>
          <p:cNvPicPr preferRelativeResize="0"/>
          <p:nvPr/>
        </p:nvPicPr>
        <p:blipFill rotWithShape="1">
          <a:blip r:embed="rId5">
            <a:alphaModFix/>
          </a:blip>
          <a:srcRect b="48490" l="53333" r="36025" t="46040"/>
          <a:stretch/>
        </p:blipFill>
        <p:spPr>
          <a:xfrm>
            <a:off x="6726950" y="1093499"/>
            <a:ext cx="1411210" cy="40806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4"/>
          <p:cNvSpPr txBox="1"/>
          <p:nvPr>
            <p:ph type="title"/>
          </p:nvPr>
        </p:nvSpPr>
        <p:spPr>
          <a:xfrm>
            <a:off x="457200" y="206375"/>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000"/>
              <a:buNone/>
            </a:pPr>
            <a:r>
              <a:rPr lang="en-US"/>
              <a:t>Demonstration</a:t>
            </a:r>
            <a:endParaRPr/>
          </a:p>
        </p:txBody>
      </p:sp>
      <p:sp>
        <p:nvSpPr>
          <p:cNvPr id="337" name="Google Shape;337;p24"/>
          <p:cNvSpPr txBox="1"/>
          <p:nvPr>
            <p:ph idx="1" type="body"/>
          </p:nvPr>
        </p:nvSpPr>
        <p:spPr>
          <a:xfrm>
            <a:off x="457200" y="1200150"/>
            <a:ext cx="8229600" cy="33942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360"/>
              </a:spcBef>
              <a:spcAft>
                <a:spcPts val="0"/>
              </a:spcAft>
              <a:buClr>
                <a:schemeClr val="dk1"/>
              </a:buClr>
              <a:buSzPts val="1800"/>
              <a:buChar char="●"/>
            </a:pPr>
            <a:r>
              <a:rPr lang="en-US"/>
              <a:t>Live Swing Up (or possibly a video)</a:t>
            </a:r>
            <a:endParaRPr/>
          </a:p>
          <a:p>
            <a:pPr indent="0" lvl="0" marL="0" rtl="0" algn="l">
              <a:lnSpc>
                <a:spcPct val="115000"/>
              </a:lnSpc>
              <a:spcBef>
                <a:spcPts val="360"/>
              </a:spcBef>
              <a:spcAft>
                <a:spcPts val="0"/>
              </a:spcAft>
              <a:buSzPts val="1800"/>
              <a:buNone/>
            </a:pPr>
            <a:r>
              <a:t/>
            </a:r>
            <a:endParaRPr/>
          </a:p>
        </p:txBody>
      </p:sp>
      <p:pic>
        <p:nvPicPr>
          <p:cNvPr id="338" name="Google Shape;338;p24"/>
          <p:cNvPicPr preferRelativeResize="0"/>
          <p:nvPr/>
        </p:nvPicPr>
        <p:blipFill rotWithShape="1">
          <a:blip r:embed="rId3">
            <a:alphaModFix/>
          </a:blip>
          <a:srcRect b="23968" l="26786" r="56964" t="29365"/>
          <a:stretch/>
        </p:blipFill>
        <p:spPr>
          <a:xfrm>
            <a:off x="3682093" y="2194050"/>
            <a:ext cx="1485900" cy="2400300"/>
          </a:xfrm>
          <a:prstGeom prst="rect">
            <a:avLst/>
          </a:prstGeom>
          <a:noFill/>
          <a:ln>
            <a:noFill/>
          </a:ln>
        </p:spPr>
      </p:pic>
      <p:sp>
        <p:nvSpPr>
          <p:cNvPr id="339" name="Google Shape;339;p24"/>
          <p:cNvSpPr txBox="1"/>
          <p:nvPr/>
        </p:nvSpPr>
        <p:spPr>
          <a:xfrm>
            <a:off x="2139043" y="1670830"/>
            <a:ext cx="589936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sng" cap="none" strike="noStrike">
                <a:solidFill>
                  <a:srgbClr val="000000"/>
                </a:solidFill>
                <a:latin typeface="Arial"/>
                <a:ea typeface="Arial"/>
                <a:cs typeface="Arial"/>
                <a:sym typeface="Arial"/>
                <a:hlinkClick r:id="rId4">
                  <a:extLst>
                    <a:ext uri="{A12FA001-AC4F-418D-AE19-62706E023703}">
                      <ahyp:hlinkClr val="tx"/>
                    </a:ext>
                  </a:extLst>
                </a:hlinkClick>
              </a:rPr>
              <a:t>https://youtube.com/shorts/SxaPog4d3mc?si=RUAmaacKPETWITfL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rgbClr val="A50000"/>
              </a:buClr>
              <a:buSzPct val="111111"/>
              <a:buNone/>
            </a:pPr>
            <a:r>
              <a:rPr lang="en-US"/>
              <a:t>Four Stages for Upright Pendulum Behavior:</a:t>
            </a:r>
            <a:endParaRPr/>
          </a:p>
        </p:txBody>
      </p:sp>
      <p:sp>
        <p:nvSpPr>
          <p:cNvPr id="345" name="Google Shape;345;p2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46" name="Google Shape;346;p25"/>
          <p:cNvSpPr txBox="1"/>
          <p:nvPr/>
        </p:nvSpPr>
        <p:spPr>
          <a:xfrm>
            <a:off x="78943" y="959611"/>
            <a:ext cx="6579551" cy="29238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chemeClr val="accent4"/>
                </a:solidFill>
                <a:latin typeface="Arial"/>
                <a:ea typeface="Arial"/>
                <a:cs typeface="Arial"/>
                <a:sym typeface="Arial"/>
              </a:rPr>
              <a:t>1) Interfacing (Computer/Cube Communication)</a:t>
            </a:r>
            <a:endParaRPr b="0" i="0" sz="1400" u="none" cap="none" strike="noStrike">
              <a:solidFill>
                <a:srgbClr val="000000"/>
              </a:solidFill>
              <a:latin typeface="Arial"/>
              <a:ea typeface="Arial"/>
              <a:cs typeface="Arial"/>
              <a:sym typeface="Arial"/>
            </a:endParaRPr>
          </a:p>
          <a:p>
            <a:pPr indent="-241300" lvl="0" marL="3429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accent4"/>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accent4"/>
                </a:solidFill>
                <a:latin typeface="Arial"/>
                <a:ea typeface="Arial"/>
                <a:cs typeface="Arial"/>
                <a:sym typeface="Arial"/>
              </a:rPr>
              <a:t>2) Filtering (getting the ‘kinks’ out of the Communication)</a:t>
            </a:r>
            <a:endParaRPr b="0" i="0" sz="1400" u="none" cap="none" strike="noStrike">
              <a:solidFill>
                <a:srgbClr val="000000"/>
              </a:solidFill>
              <a:latin typeface="Arial"/>
              <a:ea typeface="Arial"/>
              <a:cs typeface="Arial"/>
              <a:sym typeface="Arial"/>
            </a:endParaRPr>
          </a:p>
          <a:p>
            <a:pPr indent="-241300" lvl="0" marL="34290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3) PID (like TCLab needed to predict behavior through feedback)</a:t>
            </a:r>
            <a:endParaRPr b="0" i="0" sz="1400" u="none" cap="none" strike="noStrike">
              <a:solidFill>
                <a:srgbClr val="000000"/>
              </a:solidFill>
              <a:latin typeface="Arial"/>
              <a:ea typeface="Arial"/>
              <a:cs typeface="Arial"/>
              <a:sym typeface="Arial"/>
            </a:endParaRPr>
          </a:p>
          <a:p>
            <a:pPr indent="-241300" lvl="0" marL="34290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600" u="none" cap="none" strike="noStrike">
                <a:solidFill>
                  <a:srgbClr val="000000"/>
                </a:solidFill>
                <a:latin typeface="Arial"/>
                <a:ea typeface="Arial"/>
                <a:cs typeface="Arial"/>
                <a:sym typeface="Arial"/>
              </a:rPr>
              <a:t>4) Stability (speaks for itself)</a:t>
            </a:r>
            <a:endParaRPr b="0" i="0" sz="1400" u="none" cap="none" strike="noStrike">
              <a:solidFill>
                <a:srgbClr val="000000"/>
              </a:solidFill>
              <a:latin typeface="Arial"/>
              <a:ea typeface="Arial"/>
              <a:cs typeface="Arial"/>
              <a:sym typeface="Arial"/>
            </a:endParaRPr>
          </a:p>
          <a:p>
            <a:pPr indent="-190500" lvl="0" marL="34290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 After these 4 steps … Swing Up the arm!!!!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However, PID and Stability will be covered.</a:t>
            </a:r>
            <a:endParaRPr b="0" i="0" sz="2400" u="none" cap="none" strike="noStrike">
              <a:solidFill>
                <a:srgbClr val="000000"/>
              </a:solidFill>
              <a:latin typeface="Arial"/>
              <a:ea typeface="Arial"/>
              <a:cs typeface="Arial"/>
              <a:sym typeface="Arial"/>
            </a:endParaRPr>
          </a:p>
        </p:txBody>
      </p:sp>
      <p:sp>
        <p:nvSpPr>
          <p:cNvPr id="347" name="Google Shape;347;p25"/>
          <p:cNvSpPr txBox="1"/>
          <p:nvPr/>
        </p:nvSpPr>
        <p:spPr>
          <a:xfrm>
            <a:off x="7219969" y="1013135"/>
            <a:ext cx="1514812" cy="2462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Computer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DAQ interface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Signal filtering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PID controller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Motor actuator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Pendulum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6"/>
          <p:cNvSpPr txBox="1"/>
          <p:nvPr>
            <p:ph type="title"/>
          </p:nvPr>
        </p:nvSpPr>
        <p:spPr>
          <a:xfrm>
            <a:off x="95569" y="125117"/>
            <a:ext cx="7070002" cy="6078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US"/>
              <a:t>PID Controller for Quanser Qube Servo_2</a:t>
            </a:r>
            <a:endParaRPr/>
          </a:p>
        </p:txBody>
      </p:sp>
      <p:sp>
        <p:nvSpPr>
          <p:cNvPr id="353" name="Google Shape;353;p2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54" name="Google Shape;354;p26"/>
          <p:cNvSpPr txBox="1"/>
          <p:nvPr/>
        </p:nvSpPr>
        <p:spPr>
          <a:xfrm>
            <a:off x="311700" y="1017800"/>
            <a:ext cx="6579551" cy="2462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Shapes the motor arm into a </a:t>
            </a:r>
            <a:r>
              <a:rPr b="1" i="0" lang="en-US" sz="1400" u="none" cap="none" strike="noStrike">
                <a:solidFill>
                  <a:srgbClr val="000000"/>
                </a:solidFill>
                <a:latin typeface="Arial"/>
                <a:ea typeface="Arial"/>
                <a:cs typeface="Arial"/>
                <a:sym typeface="Arial"/>
              </a:rPr>
              <a:t>stable, predictable subsystem</a:t>
            </a:r>
            <a:r>
              <a:rPr b="0" i="0" lang="en-US" sz="1400" u="none" cap="none" strike="noStrike">
                <a:solidFill>
                  <a:srgbClr val="000000"/>
                </a:solidFill>
                <a:latin typeface="Arial"/>
                <a:ea typeface="Arial"/>
                <a:cs typeface="Arial"/>
                <a:sym typeface="Arial"/>
              </a:rPr>
              <a:t> required before any pendulum control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Uses </a:t>
            </a:r>
            <a:r>
              <a:rPr b="1" i="0" lang="en-US" sz="1400" u="none" cap="none" strike="noStrike">
                <a:solidFill>
                  <a:srgbClr val="000000"/>
                </a:solidFill>
                <a:latin typeface="Arial"/>
                <a:ea typeface="Arial"/>
                <a:cs typeface="Arial"/>
                <a:sym typeface="Arial"/>
              </a:rPr>
              <a:t>proportional action for responsiveness</a:t>
            </a:r>
            <a:r>
              <a:rPr b="0" i="0" lang="en-US" sz="1400" u="none" cap="none" strike="noStrike">
                <a:solidFill>
                  <a:srgbClr val="000000"/>
                </a:solidFill>
                <a:latin typeface="Arial"/>
                <a:ea typeface="Arial"/>
                <a:cs typeface="Arial"/>
                <a:sym typeface="Arial"/>
              </a:rPr>
              <a:t> and </a:t>
            </a:r>
            <a:r>
              <a:rPr b="1" i="0" lang="en-US" sz="1400" u="none" cap="none" strike="noStrike">
                <a:solidFill>
                  <a:srgbClr val="000000"/>
                </a:solidFill>
                <a:latin typeface="Arial"/>
                <a:ea typeface="Arial"/>
                <a:cs typeface="Arial"/>
                <a:sym typeface="Arial"/>
              </a:rPr>
              <a:t>filtered derivative action</a:t>
            </a:r>
            <a:r>
              <a:rPr b="0" i="0" lang="en-US" sz="1400" u="none" cap="none" strike="noStrike">
                <a:solidFill>
                  <a:srgbClr val="000000"/>
                </a:solidFill>
                <a:latin typeface="Arial"/>
                <a:ea typeface="Arial"/>
                <a:cs typeface="Arial"/>
                <a:sym typeface="Arial"/>
              </a:rPr>
              <a:t> to damp oscillations without amplifying encoder noise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Requires </a:t>
            </a:r>
            <a:r>
              <a:rPr b="1" i="0" lang="en-US" sz="1400" u="none" cap="none" strike="noStrike">
                <a:solidFill>
                  <a:srgbClr val="000000"/>
                </a:solidFill>
                <a:latin typeface="Arial"/>
                <a:ea typeface="Arial"/>
                <a:cs typeface="Arial"/>
                <a:sym typeface="Arial"/>
              </a:rPr>
              <a:t>careful gain tuning</a:t>
            </a:r>
            <a:r>
              <a:rPr b="0" i="0" lang="en-US" sz="1400" u="none" cap="none" strike="noStrike">
                <a:solidFill>
                  <a:srgbClr val="000000"/>
                </a:solidFill>
                <a:latin typeface="Arial"/>
                <a:ea typeface="Arial"/>
                <a:cs typeface="Arial"/>
                <a:sym typeface="Arial"/>
              </a:rPr>
              <a:t>, since high gains can easily introduce oscillation or drive the actuator into saturation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Must run with </a:t>
            </a:r>
            <a:r>
              <a:rPr b="1" i="0" lang="en-US" sz="1400" u="none" cap="none" strike="noStrike">
                <a:solidFill>
                  <a:srgbClr val="000000"/>
                </a:solidFill>
                <a:latin typeface="Arial"/>
                <a:ea typeface="Arial"/>
                <a:cs typeface="Arial"/>
                <a:sym typeface="Arial"/>
              </a:rPr>
              <a:t>fixed‑step timing</a:t>
            </a:r>
            <a:r>
              <a:rPr b="0" i="0" lang="en-US" sz="1400" u="none" cap="none" strike="noStrike">
                <a:solidFill>
                  <a:srgbClr val="000000"/>
                </a:solidFill>
                <a:latin typeface="Arial"/>
                <a:ea typeface="Arial"/>
                <a:cs typeface="Arial"/>
                <a:sym typeface="Arial"/>
              </a:rPr>
              <a:t> and include saturation limits to maintain safe, stable behavior: </a:t>
            </a:r>
            <a:r>
              <a:rPr b="1" i="0" lang="en-US" sz="1400" u="none" cap="none" strike="noStrike">
                <a:solidFill>
                  <a:srgbClr val="000000"/>
                </a:solidFill>
                <a:latin typeface="Arial"/>
                <a:ea typeface="Arial"/>
                <a:cs typeface="Arial"/>
                <a:sym typeface="Arial"/>
              </a:rPr>
              <a:t>Mathematically -</a:t>
            </a:r>
            <a:endParaRPr b="1" i="0" sz="1400" u="none" cap="none" strike="noStrike">
              <a:solidFill>
                <a:srgbClr val="000000"/>
              </a:solidFill>
              <a:latin typeface="Arial"/>
              <a:ea typeface="Arial"/>
              <a:cs typeface="Arial"/>
              <a:sym typeface="Arial"/>
            </a:endParaRPr>
          </a:p>
        </p:txBody>
      </p:sp>
      <p:sp>
        <p:nvSpPr>
          <p:cNvPr id="355" name="Google Shape;355;p26"/>
          <p:cNvSpPr txBox="1"/>
          <p:nvPr/>
        </p:nvSpPr>
        <p:spPr>
          <a:xfrm>
            <a:off x="7165570" y="156692"/>
            <a:ext cx="1843560" cy="33239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This controller has two parts: </a:t>
            </a:r>
            <a:r>
              <a:rPr b="1" i="0" lang="en-US" sz="1400" u="none" cap="none" strike="noStrike">
                <a:solidFill>
                  <a:srgbClr val="000000"/>
                </a:solidFill>
                <a:latin typeface="Arial"/>
                <a:ea typeface="Arial"/>
                <a:cs typeface="Arial"/>
                <a:sym typeface="Arial"/>
              </a:rPr>
              <a:t>First term </a:t>
            </a:r>
            <a:r>
              <a:rPr b="0" i="0" lang="en-US" sz="1400" u="none" cap="none" strike="noStrike">
                <a:solidFill>
                  <a:srgbClr val="000000"/>
                </a:solidFill>
                <a:latin typeface="Arial"/>
                <a:ea typeface="Arial"/>
                <a:cs typeface="Arial"/>
                <a:sym typeface="Arial"/>
              </a:rPr>
              <a:t>drives system toward desired position based on the error between where we want to be and where it 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Second term </a:t>
            </a:r>
            <a:r>
              <a:rPr b="0" i="0" lang="en-US" sz="1400" u="none" cap="none" strike="noStrike">
                <a:solidFill>
                  <a:srgbClr val="000000"/>
                </a:solidFill>
                <a:latin typeface="Arial"/>
                <a:ea typeface="Arial"/>
                <a:cs typeface="Arial"/>
                <a:sym typeface="Arial"/>
              </a:rPr>
              <a:t>acts like damping slowing the system down based on how fast it’s moving, preventing overshoot and oscillations.</a:t>
            </a:r>
            <a:endParaRPr b="0" i="0" sz="1400" u="none" cap="none" strike="noStrike">
              <a:solidFill>
                <a:srgbClr val="000000"/>
              </a:solidFill>
              <a:latin typeface="Arial"/>
              <a:ea typeface="Arial"/>
              <a:cs typeface="Arial"/>
              <a:sym typeface="Arial"/>
            </a:endParaRPr>
          </a:p>
        </p:txBody>
      </p:sp>
      <p:pic>
        <p:nvPicPr>
          <p:cNvPr id="356" name="Google Shape;356;p26"/>
          <p:cNvPicPr preferRelativeResize="0"/>
          <p:nvPr/>
        </p:nvPicPr>
        <p:blipFill rotWithShape="1">
          <a:blip r:embed="rId3">
            <a:alphaModFix/>
          </a:blip>
          <a:srcRect b="66841" l="46503" r="29004" t="30462"/>
          <a:stretch/>
        </p:blipFill>
        <p:spPr>
          <a:xfrm>
            <a:off x="95569" y="3902151"/>
            <a:ext cx="3831678" cy="236465"/>
          </a:xfrm>
          <a:prstGeom prst="rect">
            <a:avLst/>
          </a:prstGeom>
          <a:noFill/>
          <a:ln>
            <a:noFill/>
          </a:ln>
        </p:spPr>
      </p:pic>
      <p:pic>
        <p:nvPicPr>
          <p:cNvPr id="357" name="Google Shape;357;p26"/>
          <p:cNvPicPr preferRelativeResize="0"/>
          <p:nvPr/>
        </p:nvPicPr>
        <p:blipFill rotWithShape="1">
          <a:blip r:embed="rId3">
            <a:alphaModFix/>
          </a:blip>
          <a:srcRect b="47446" l="49657" r="32693" t="45205"/>
          <a:stretch/>
        </p:blipFill>
        <p:spPr>
          <a:xfrm>
            <a:off x="4099254" y="3695454"/>
            <a:ext cx="2513792" cy="588785"/>
          </a:xfrm>
          <a:prstGeom prst="rect">
            <a:avLst/>
          </a:prstGeom>
          <a:noFill/>
          <a:ln>
            <a:noFill/>
          </a:ln>
        </p:spPr>
      </p:pic>
      <p:pic>
        <p:nvPicPr>
          <p:cNvPr id="358" name="Google Shape;358;p26"/>
          <p:cNvPicPr preferRelativeResize="0"/>
          <p:nvPr/>
        </p:nvPicPr>
        <p:blipFill rotWithShape="1">
          <a:blip r:embed="rId3">
            <a:alphaModFix/>
          </a:blip>
          <a:srcRect b="25822" l="50590" r="33217" t="68801"/>
          <a:stretch/>
        </p:blipFill>
        <p:spPr>
          <a:xfrm>
            <a:off x="6993563" y="3695454"/>
            <a:ext cx="2187575" cy="40830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7"/>
          <p:cNvSpPr txBox="1"/>
          <p:nvPr>
            <p:ph type="title"/>
          </p:nvPr>
        </p:nvSpPr>
        <p:spPr>
          <a:xfrm>
            <a:off x="311700" y="410000"/>
            <a:ext cx="8520600" cy="607800"/>
          </a:xfrm>
          <a:prstGeom prst="rect">
            <a:avLst/>
          </a:prstGeom>
          <a:noFill/>
          <a:ln>
            <a:noFill/>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SzPts val="3000"/>
              <a:buNone/>
            </a:pPr>
            <a:r>
              <a:rPr lang="en-US"/>
              <a:t>PID Block Diagram</a:t>
            </a:r>
            <a:endParaRPr/>
          </a:p>
        </p:txBody>
      </p:sp>
      <p:sp>
        <p:nvSpPr>
          <p:cNvPr id="364" name="Google Shape;364;p2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90000"/>
              </a:lnSpc>
              <a:spcBef>
                <a:spcPts val="0"/>
              </a:spcBef>
              <a:spcAft>
                <a:spcPts val="600"/>
              </a:spcAft>
              <a:buSzPts val="1000"/>
              <a:buNone/>
            </a:pPr>
            <a:fld id="{00000000-1234-1234-1234-123412341234}" type="slidenum">
              <a:rPr lang="en-US" sz="900"/>
              <a:t>‹#›</a:t>
            </a:fld>
            <a:endParaRPr sz="900"/>
          </a:p>
        </p:txBody>
      </p:sp>
      <p:sp>
        <p:nvSpPr>
          <p:cNvPr id="365" name="Google Shape;365;p27"/>
          <p:cNvSpPr txBox="1"/>
          <p:nvPr>
            <p:ph idx="4294967295" type="body"/>
          </p:nvPr>
        </p:nvSpPr>
        <p:spPr>
          <a:xfrm>
            <a:off x="311700" y="922713"/>
            <a:ext cx="4069800" cy="3549995"/>
          </a:xfrm>
          <a:prstGeom prst="rect">
            <a:avLst/>
          </a:prstGeom>
          <a:blipFill rotWithShape="1">
            <a:blip r:embed="rId3">
              <a:alphaModFix/>
            </a:blip>
            <a:stretch>
              <a:fillRect b="0" l="0" r="-299" t="0"/>
            </a:stretch>
          </a:blipFill>
          <a:ln>
            <a:noFill/>
          </a:ln>
        </p:spPr>
        <p:txBody>
          <a:bodyPr anchorCtr="0" anchor="t" bIns="91425" lIns="91425" spcFirstLastPara="1" rIns="91425" wrap="square" tIns="91425">
            <a:normAutofit/>
          </a:bodyPr>
          <a:lstStyle/>
          <a:p>
            <a:pPr indent="0" lvl="0" marL="457200" marR="0" rtl="0" algn="l">
              <a:lnSpc>
                <a:spcPct val="115000"/>
              </a:lnSpc>
              <a:spcBef>
                <a:spcPts val="0"/>
              </a:spcBef>
              <a:spcAft>
                <a:spcPts val="0"/>
              </a:spcAft>
              <a:buSzPts val="1800"/>
              <a:buNone/>
            </a:pPr>
            <a:r>
              <a:rPr lang="en-US"/>
              <a:t> </a:t>
            </a:r>
            <a:endParaRPr/>
          </a:p>
        </p:txBody>
      </p:sp>
      <p:pic>
        <p:nvPicPr>
          <p:cNvPr id="366" name="Google Shape;366;p27"/>
          <p:cNvPicPr preferRelativeResize="0"/>
          <p:nvPr/>
        </p:nvPicPr>
        <p:blipFill rotWithShape="1">
          <a:blip r:embed="rId4">
            <a:alphaModFix/>
          </a:blip>
          <a:srcRect b="33171" l="37460" r="35324" t="47021"/>
          <a:stretch/>
        </p:blipFill>
        <p:spPr>
          <a:xfrm>
            <a:off x="4568825" y="1375250"/>
            <a:ext cx="4645450" cy="20246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1" lang="en-US"/>
              <a:t>What Hardware‑in‑the‑Loop (HIL) Means for Simulink</a:t>
            </a:r>
            <a:endParaRPr/>
          </a:p>
        </p:txBody>
      </p:sp>
      <p:sp>
        <p:nvSpPr>
          <p:cNvPr id="372" name="Google Shape;372;p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73" name="Google Shape;373;p4"/>
          <p:cNvSpPr txBox="1"/>
          <p:nvPr/>
        </p:nvSpPr>
        <p:spPr>
          <a:xfrm>
            <a:off x="1172095" y="2170334"/>
            <a:ext cx="5644342"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Hardware‑in‑the‑Loop (HIL)</a:t>
            </a:r>
            <a:r>
              <a:rPr b="0" i="0" lang="en-US" sz="2400" u="none" cap="none" strike="noStrike">
                <a:solidFill>
                  <a:srgbClr val="000000"/>
                </a:solidFill>
                <a:latin typeface="Arial"/>
                <a:ea typeface="Arial"/>
                <a:cs typeface="Arial"/>
                <a:sym typeface="Arial"/>
              </a:rPr>
              <a:t> is when a Simulink model runs in real time and exchanges signals directly with the physical QUBE hardware. Instead of simulating the plant, Simulink “talks” to the actual motor, encoders, and sensors during execution.</a:t>
            </a:r>
            <a:endParaRPr b="0" i="0" sz="2400" u="none" cap="none" strike="noStrike">
              <a:solidFill>
                <a:srgbClr val="000000"/>
              </a:solidFill>
              <a:latin typeface="Arial"/>
              <a:ea typeface="Arial"/>
              <a:cs typeface="Arial"/>
              <a:sym typeface="Arial"/>
            </a:endParaRPr>
          </a:p>
        </p:txBody>
      </p:sp>
      <p:pic>
        <p:nvPicPr>
          <p:cNvPr id="374" name="Google Shape;374;p4"/>
          <p:cNvPicPr preferRelativeResize="0"/>
          <p:nvPr/>
        </p:nvPicPr>
        <p:blipFill rotWithShape="1">
          <a:blip r:embed="rId3">
            <a:alphaModFix/>
          </a:blip>
          <a:srcRect b="27238" l="59539" r="18412" t="55389"/>
          <a:stretch/>
        </p:blipFill>
        <p:spPr>
          <a:xfrm>
            <a:off x="6229695" y="1105694"/>
            <a:ext cx="2124595" cy="115253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80" name="Google Shape;380;p28"/>
          <p:cNvSpPr txBox="1"/>
          <p:nvPr/>
        </p:nvSpPr>
        <p:spPr>
          <a:xfrm>
            <a:off x="2986333" y="0"/>
            <a:ext cx="317133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PID - Simulink Model</a:t>
            </a:r>
            <a:endParaRPr b="0" i="0" sz="1400" u="none" cap="none" strike="noStrike">
              <a:solidFill>
                <a:srgbClr val="000000"/>
              </a:solidFill>
              <a:latin typeface="Arial"/>
              <a:ea typeface="Arial"/>
              <a:cs typeface="Arial"/>
              <a:sym typeface="Arial"/>
            </a:endParaRPr>
          </a:p>
        </p:txBody>
      </p:sp>
      <p:sp>
        <p:nvSpPr>
          <p:cNvPr id="381" name="Google Shape;381;p28"/>
          <p:cNvSpPr txBox="1"/>
          <p:nvPr/>
        </p:nvSpPr>
        <p:spPr>
          <a:xfrm>
            <a:off x="7447395" y="98710"/>
            <a:ext cx="1440166"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Procedure: Manually move the arm. It will resist motion around a set point.</a:t>
            </a:r>
            <a:endParaRPr b="0" i="0" sz="2400" u="none" cap="none" strike="noStrike">
              <a:solidFill>
                <a:srgbClr val="000000"/>
              </a:solidFill>
              <a:latin typeface="Arial"/>
              <a:ea typeface="Arial"/>
              <a:cs typeface="Arial"/>
              <a:sym typeface="Arial"/>
            </a:endParaRPr>
          </a:p>
        </p:txBody>
      </p:sp>
      <p:pic>
        <p:nvPicPr>
          <p:cNvPr id="382" name="Google Shape;382;p28"/>
          <p:cNvPicPr preferRelativeResize="0"/>
          <p:nvPr/>
        </p:nvPicPr>
        <p:blipFill rotWithShape="1">
          <a:blip r:embed="rId3">
            <a:alphaModFix/>
          </a:blip>
          <a:srcRect b="11525" l="2681" r="699" t="27559"/>
          <a:stretch/>
        </p:blipFill>
        <p:spPr>
          <a:xfrm>
            <a:off x="96491" y="461665"/>
            <a:ext cx="7285211" cy="3503506"/>
          </a:xfrm>
          <a:prstGeom prst="rect">
            <a:avLst/>
          </a:prstGeom>
          <a:noFill/>
          <a:ln>
            <a:noFill/>
          </a:ln>
        </p:spPr>
      </p:pic>
      <p:sp>
        <p:nvSpPr>
          <p:cNvPr id="383" name="Google Shape;383;p28"/>
          <p:cNvSpPr txBox="1"/>
          <p:nvPr/>
        </p:nvSpPr>
        <p:spPr>
          <a:xfrm>
            <a:off x="282633" y="3865314"/>
            <a:ext cx="4572000"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Real‑time PID control using HIL: Simulink computes the control signal, the hardware responds, and the loop stabilizes the arm around the setpoint.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89" name="Google Shape;389;p29"/>
          <p:cNvSpPr txBox="1"/>
          <p:nvPr/>
        </p:nvSpPr>
        <p:spPr>
          <a:xfrm>
            <a:off x="141315" y="2251017"/>
            <a:ext cx="4322618" cy="2462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Left Graph (Moderately Damped Response)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Shows a small overshoot with oscillations that decay smoothly.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Demonstrates a well‑tuned, stable PID response with good damping.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Right Graph (More Oscillatory Response)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Exhibits larger overshoot and slower decay of oscillations.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Indicates gains that are slightly too aggressive, producing a less‑damped response.</a:t>
            </a:r>
            <a:endParaRPr b="0" i="0" sz="1400" u="none" cap="none" strike="noStrike">
              <a:solidFill>
                <a:srgbClr val="000000"/>
              </a:solidFill>
              <a:latin typeface="Arial"/>
              <a:ea typeface="Arial"/>
              <a:cs typeface="Arial"/>
              <a:sym typeface="Arial"/>
            </a:endParaRPr>
          </a:p>
        </p:txBody>
      </p:sp>
      <p:sp>
        <p:nvSpPr>
          <p:cNvPr id="390" name="Google Shape;390;p29"/>
          <p:cNvSpPr txBox="1"/>
          <p:nvPr/>
        </p:nvSpPr>
        <p:spPr>
          <a:xfrm>
            <a:off x="4339244" y="2266831"/>
            <a:ext cx="4572000"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What Both Graphs Confirm</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Volts inverted graph of position graph: expected.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   The motor and encoder feedback behave correctly,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producing a stable, second‑order response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   The PID loop is functioning properly with filtered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derivative action and no noise spikes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   The arm dynamics are well‑behaved and ready for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swing‑up and upright control</a:t>
            </a:r>
            <a:endParaRPr b="0" i="0" sz="1400" u="none" cap="none" strike="noStrike">
              <a:solidFill>
                <a:srgbClr val="000000"/>
              </a:solidFill>
              <a:latin typeface="Arial"/>
              <a:ea typeface="Arial"/>
              <a:cs typeface="Arial"/>
              <a:sym typeface="Arial"/>
            </a:endParaRPr>
          </a:p>
        </p:txBody>
      </p:sp>
      <p:sp>
        <p:nvSpPr>
          <p:cNvPr id="391" name="Google Shape;391;p29"/>
          <p:cNvSpPr txBox="1"/>
          <p:nvPr/>
        </p:nvSpPr>
        <p:spPr>
          <a:xfrm>
            <a:off x="382386" y="471725"/>
            <a:ext cx="236081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PID Graphs and Interpretation</a:t>
            </a:r>
            <a:endParaRPr b="0" i="0" sz="1400" u="none" cap="none" strike="noStrike">
              <a:solidFill>
                <a:srgbClr val="000000"/>
              </a:solidFill>
              <a:latin typeface="Arial"/>
              <a:ea typeface="Arial"/>
              <a:cs typeface="Arial"/>
              <a:sym typeface="Arial"/>
            </a:endParaRPr>
          </a:p>
        </p:txBody>
      </p:sp>
      <p:pic>
        <p:nvPicPr>
          <p:cNvPr id="392" name="Google Shape;392;p29"/>
          <p:cNvPicPr preferRelativeResize="0"/>
          <p:nvPr/>
        </p:nvPicPr>
        <p:blipFill rotWithShape="1">
          <a:blip r:embed="rId3">
            <a:alphaModFix/>
          </a:blip>
          <a:srcRect b="0" l="0" r="0" t="0"/>
          <a:stretch/>
        </p:blipFill>
        <p:spPr>
          <a:xfrm>
            <a:off x="5957412" y="170289"/>
            <a:ext cx="2953832" cy="2096542"/>
          </a:xfrm>
          <a:prstGeom prst="rect">
            <a:avLst/>
          </a:prstGeom>
          <a:noFill/>
          <a:ln>
            <a:noFill/>
          </a:ln>
        </p:spPr>
      </p:pic>
      <p:pic>
        <p:nvPicPr>
          <p:cNvPr id="393" name="Google Shape;393;p29"/>
          <p:cNvPicPr preferRelativeResize="0"/>
          <p:nvPr/>
        </p:nvPicPr>
        <p:blipFill rotWithShape="1">
          <a:blip r:embed="rId4">
            <a:alphaModFix/>
          </a:blip>
          <a:srcRect b="0" l="0" r="0" t="0"/>
          <a:stretch/>
        </p:blipFill>
        <p:spPr>
          <a:xfrm>
            <a:off x="2901694" y="182863"/>
            <a:ext cx="2875099" cy="210703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0"/>
          <p:cNvSpPr txBox="1"/>
          <p:nvPr>
            <p:ph idx="12" type="sldNum"/>
          </p:nvPr>
        </p:nvSpPr>
        <p:spPr>
          <a:xfrm>
            <a:off x="8595306" y="-1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
        <p:nvSpPr>
          <p:cNvPr id="400" name="Google Shape;400;p30"/>
          <p:cNvSpPr txBox="1"/>
          <p:nvPr/>
        </p:nvSpPr>
        <p:spPr>
          <a:xfrm>
            <a:off x="918557" y="105350"/>
            <a:ext cx="7094912"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r>
              <a:rPr b="1" i="0" lang="en-US" sz="2400" u="none" cap="none" strike="noStrike">
                <a:solidFill>
                  <a:schemeClr val="dk1"/>
                </a:solidFill>
                <a:latin typeface="Raleway"/>
                <a:ea typeface="Raleway"/>
                <a:cs typeface="Raleway"/>
                <a:sym typeface="Raleway"/>
              </a:rPr>
              <a:t>Stability</a:t>
            </a:r>
            <a:r>
              <a:rPr b="0" i="0" lang="en-US" sz="2400" u="none" cap="none" strike="noStrike">
                <a:solidFill>
                  <a:schemeClr val="dk1"/>
                </a:solidFill>
                <a:latin typeface="Raleway"/>
                <a:ea typeface="Raleway"/>
                <a:cs typeface="Raleway"/>
                <a:sym typeface="Raleway"/>
              </a:rPr>
              <a:t> Controller for Quanser Qube Servo_2 </a:t>
            </a:r>
            <a:endParaRPr b="0" i="0" sz="1400" u="none" cap="none" strike="noStrike">
              <a:solidFill>
                <a:srgbClr val="000000"/>
              </a:solidFill>
              <a:latin typeface="Arial"/>
              <a:ea typeface="Arial"/>
              <a:cs typeface="Arial"/>
              <a:sym typeface="Arial"/>
            </a:endParaRPr>
          </a:p>
        </p:txBody>
      </p:sp>
      <p:sp>
        <p:nvSpPr>
          <p:cNvPr id="401" name="Google Shape;401;p30"/>
          <p:cNvSpPr txBox="1"/>
          <p:nvPr/>
        </p:nvSpPr>
        <p:spPr>
          <a:xfrm>
            <a:off x="167949" y="474278"/>
            <a:ext cx="7768200" cy="3785700"/>
          </a:xfrm>
          <a:prstGeom prst="rect">
            <a:avLst/>
          </a:prstGeom>
          <a:blipFill rotWithShape="1">
            <a:blip r:embed="rId3">
              <a:alphaModFix/>
            </a:blip>
            <a:stretch>
              <a:fillRect b="-1127" l="-471" r="-314" t="-48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I</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US"/>
              <a:t>Linear State Space Model &amp; Block Diagram</a:t>
            </a:r>
            <a:endParaRPr/>
          </a:p>
        </p:txBody>
      </p:sp>
      <p:sp>
        <p:nvSpPr>
          <p:cNvPr id="407" name="Google Shape;407;p3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408" name="Google Shape;408;p31"/>
          <p:cNvPicPr preferRelativeResize="0"/>
          <p:nvPr/>
        </p:nvPicPr>
        <p:blipFill rotWithShape="1">
          <a:blip r:embed="rId3">
            <a:alphaModFix/>
          </a:blip>
          <a:srcRect b="33737" l="32818" r="36727" t="37495"/>
          <a:stretch/>
        </p:blipFill>
        <p:spPr>
          <a:xfrm>
            <a:off x="496087" y="1531571"/>
            <a:ext cx="3915293" cy="2080366"/>
          </a:xfrm>
          <a:prstGeom prst="rect">
            <a:avLst/>
          </a:prstGeom>
          <a:noFill/>
          <a:ln>
            <a:noFill/>
          </a:ln>
        </p:spPr>
      </p:pic>
      <p:pic>
        <p:nvPicPr>
          <p:cNvPr id="409" name="Google Shape;409;p31"/>
          <p:cNvPicPr preferRelativeResize="0"/>
          <p:nvPr/>
        </p:nvPicPr>
        <p:blipFill rotWithShape="1">
          <a:blip r:embed="rId4">
            <a:alphaModFix/>
          </a:blip>
          <a:srcRect b="31209" l="36722" r="36947" t="39584"/>
          <a:stretch/>
        </p:blipFill>
        <p:spPr>
          <a:xfrm>
            <a:off x="5071594" y="1485115"/>
            <a:ext cx="3903778" cy="2435106"/>
          </a:xfrm>
          <a:prstGeom prst="rect">
            <a:avLst/>
          </a:prstGeom>
          <a:noFill/>
          <a:ln>
            <a:noFill/>
          </a:ln>
        </p:spPr>
      </p:pic>
      <p:sp>
        <p:nvSpPr>
          <p:cNvPr id="410" name="Google Shape;410;p31"/>
          <p:cNvSpPr txBox="1"/>
          <p:nvPr/>
        </p:nvSpPr>
        <p:spPr>
          <a:xfrm>
            <a:off x="117350" y="984350"/>
            <a:ext cx="9144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Expresses a system using </a:t>
            </a:r>
            <a:r>
              <a:rPr b="1" i="0" lang="en-US" sz="1300" u="none" cap="none" strike="noStrike">
                <a:solidFill>
                  <a:srgbClr val="000000"/>
                </a:solidFill>
                <a:latin typeface="Arial"/>
                <a:ea typeface="Arial"/>
                <a:cs typeface="Arial"/>
                <a:sym typeface="Arial"/>
              </a:rPr>
              <a:t>internal variables</a:t>
            </a:r>
            <a:r>
              <a:rPr b="0" i="0" lang="en-US" sz="1300" u="none" cap="none" strike="noStrike">
                <a:solidFill>
                  <a:srgbClr val="000000"/>
                </a:solidFill>
                <a:latin typeface="Arial"/>
                <a:ea typeface="Arial"/>
                <a:cs typeface="Arial"/>
                <a:sym typeface="Arial"/>
              </a:rPr>
              <a:t> (the states) rather than only inputs and outputs. </a:t>
            </a:r>
            <a:endParaRPr b="0" i="0" sz="1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0" i="0" lang="en-US" sz="1300" u="none" cap="none" strike="noStrike">
                <a:solidFill>
                  <a:srgbClr val="000000"/>
                </a:solidFill>
                <a:latin typeface="Arial"/>
                <a:ea typeface="Arial"/>
                <a:cs typeface="Arial"/>
                <a:sym typeface="Arial"/>
              </a:rPr>
              <a:t>Essential for systems like the QUBE, where motion depends on angles and angular velocities, not just the current input.</a:t>
            </a:r>
            <a:endParaRPr b="0" i="0" sz="1600" u="none" cap="none" strike="noStrike">
              <a:solidFill>
                <a:srgbClr val="000000"/>
              </a:solidFill>
              <a:latin typeface="Arial"/>
              <a:ea typeface="Arial"/>
              <a:cs typeface="Arial"/>
              <a:sym typeface="Arial"/>
            </a:endParaRPr>
          </a:p>
        </p:txBody>
      </p:sp>
      <p:sp>
        <p:nvSpPr>
          <p:cNvPr id="411" name="Google Shape;411;p31"/>
          <p:cNvSpPr txBox="1"/>
          <p:nvPr/>
        </p:nvSpPr>
        <p:spPr>
          <a:xfrm>
            <a:off x="371600" y="3676725"/>
            <a:ext cx="30000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θ: rotary arm angle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α: pendulum angle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θ˙,α˙: their angular velocities</a:t>
            </a:r>
            <a:endParaRPr b="0" i="0" sz="1400" u="none" cap="none" strike="noStrike">
              <a:solidFill>
                <a:srgbClr val="000000"/>
              </a:solidFill>
              <a:latin typeface="Arial"/>
              <a:ea typeface="Arial"/>
              <a:cs typeface="Arial"/>
              <a:sym typeface="Arial"/>
            </a:endParaRPr>
          </a:p>
        </p:txBody>
      </p:sp>
      <p:sp>
        <p:nvSpPr>
          <p:cNvPr id="412" name="Google Shape;412;p31"/>
          <p:cNvSpPr txBox="1"/>
          <p:nvPr/>
        </p:nvSpPr>
        <p:spPr>
          <a:xfrm>
            <a:off x="469975" y="2361425"/>
            <a:ext cx="2685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describes how the system </a:t>
            </a:r>
            <a:r>
              <a:rPr b="1" i="0" lang="en-US" sz="1000" u="none" cap="none" strike="noStrike">
                <a:solidFill>
                  <a:srgbClr val="000000"/>
                </a:solidFill>
                <a:latin typeface="Arial"/>
                <a:ea typeface="Arial"/>
                <a:cs typeface="Arial"/>
                <a:sym typeface="Arial"/>
              </a:rPr>
              <a:t>changes over time</a:t>
            </a:r>
            <a:r>
              <a:rPr b="0" i="0" lang="en-US" sz="1000" u="none" cap="none" strike="noStrike">
                <a:solidFill>
                  <a:srgbClr val="000000"/>
                </a:solidFill>
                <a:latin typeface="Arial"/>
                <a:ea typeface="Arial"/>
                <a:cs typeface="Arial"/>
                <a:sym typeface="Arial"/>
              </a:rPr>
              <a:t>.</a:t>
            </a:r>
            <a:endParaRPr b="0" i="0" sz="1300" u="none" cap="none" strike="noStrike">
              <a:solidFill>
                <a:srgbClr val="000000"/>
              </a:solidFill>
              <a:latin typeface="Arial"/>
              <a:ea typeface="Arial"/>
              <a:cs typeface="Arial"/>
              <a:sym typeface="Arial"/>
            </a:endParaRPr>
          </a:p>
        </p:txBody>
      </p:sp>
      <p:sp>
        <p:nvSpPr>
          <p:cNvPr id="413" name="Google Shape;413;p31"/>
          <p:cNvSpPr txBox="1"/>
          <p:nvPr/>
        </p:nvSpPr>
        <p:spPr>
          <a:xfrm>
            <a:off x="496075" y="305802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defines what you can </a:t>
            </a:r>
            <a:r>
              <a:rPr b="1" i="0" lang="en-US" sz="1000" u="none" cap="none" strike="noStrike">
                <a:solidFill>
                  <a:srgbClr val="000000"/>
                </a:solidFill>
                <a:latin typeface="Arial"/>
                <a:ea typeface="Arial"/>
                <a:cs typeface="Arial"/>
                <a:sym typeface="Arial"/>
              </a:rPr>
              <a:t>measure</a:t>
            </a:r>
            <a:r>
              <a:rPr b="0" i="0" lang="en-US" sz="11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414" name="Google Shape;414;p31"/>
          <p:cNvSpPr txBox="1"/>
          <p:nvPr/>
        </p:nvSpPr>
        <p:spPr>
          <a:xfrm>
            <a:off x="496075" y="1664825"/>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collects all variables needed to describe the system’s instantaneous condition</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2"/>
          <p:cNvSpPr txBox="1"/>
          <p:nvPr>
            <p:ph idx="12" type="sldNum"/>
          </p:nvPr>
        </p:nvSpPr>
        <p:spPr>
          <a:xfrm>
            <a:off x="8595306" y="-1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
        <p:nvSpPr>
          <p:cNvPr id="421" name="Google Shape;421;p32"/>
          <p:cNvSpPr txBox="1"/>
          <p:nvPr/>
        </p:nvSpPr>
        <p:spPr>
          <a:xfrm>
            <a:off x="261852" y="196790"/>
            <a:ext cx="6548350"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Stability - Simulink Model</a:t>
            </a:r>
            <a:endParaRPr b="0" i="0" sz="1400" u="none" cap="none" strike="noStrike">
              <a:solidFill>
                <a:srgbClr val="000000"/>
              </a:solidFill>
              <a:latin typeface="Arial"/>
              <a:ea typeface="Arial"/>
              <a:cs typeface="Arial"/>
              <a:sym typeface="Arial"/>
            </a:endParaRPr>
          </a:p>
        </p:txBody>
      </p:sp>
      <p:pic>
        <p:nvPicPr>
          <p:cNvPr id="422" name="Google Shape;422;p32"/>
          <p:cNvPicPr preferRelativeResize="0"/>
          <p:nvPr/>
        </p:nvPicPr>
        <p:blipFill rotWithShape="1">
          <a:blip r:embed="rId3">
            <a:alphaModFix/>
          </a:blip>
          <a:srcRect b="20586" l="13494" r="11699" t="35098"/>
          <a:stretch/>
        </p:blipFill>
        <p:spPr>
          <a:xfrm>
            <a:off x="328353" y="843121"/>
            <a:ext cx="6928658" cy="3720566"/>
          </a:xfrm>
          <a:prstGeom prst="rect">
            <a:avLst/>
          </a:prstGeom>
          <a:noFill/>
          <a:ln>
            <a:noFill/>
          </a:ln>
        </p:spPr>
      </p:pic>
      <p:sp>
        <p:nvSpPr>
          <p:cNvPr id="423" name="Google Shape;423;p32"/>
          <p:cNvSpPr txBox="1"/>
          <p:nvPr/>
        </p:nvSpPr>
        <p:spPr>
          <a:xfrm>
            <a:off x="4297656" y="1145877"/>
            <a:ext cx="457200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HIL stability test: Simulink sends a test signal and the hardware returns the true motion, allowing real‑time assessment of system stability. Demonstrated through sinusoidal oscillations.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429" name="Google Shape;429;p33"/>
          <p:cNvSpPr txBox="1"/>
          <p:nvPr/>
        </p:nvSpPr>
        <p:spPr>
          <a:xfrm>
            <a:off x="1704109" y="247283"/>
            <a:ext cx="5270269"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Stability Graphs and Interpretation</a:t>
            </a:r>
            <a:endParaRPr b="0" i="0" sz="1400" u="none" cap="none" strike="noStrike">
              <a:solidFill>
                <a:srgbClr val="000000"/>
              </a:solidFill>
              <a:latin typeface="Arial"/>
              <a:ea typeface="Arial"/>
              <a:cs typeface="Arial"/>
              <a:sym typeface="Arial"/>
            </a:endParaRPr>
          </a:p>
        </p:txBody>
      </p:sp>
      <p:pic>
        <p:nvPicPr>
          <p:cNvPr id="430" name="Google Shape;430;p33"/>
          <p:cNvPicPr preferRelativeResize="0"/>
          <p:nvPr/>
        </p:nvPicPr>
        <p:blipFill rotWithShape="1">
          <a:blip r:embed="rId3">
            <a:alphaModFix/>
          </a:blip>
          <a:srcRect b="0" l="0" r="0" t="0"/>
          <a:stretch/>
        </p:blipFill>
        <p:spPr>
          <a:xfrm>
            <a:off x="4653940" y="707284"/>
            <a:ext cx="3324436" cy="2351800"/>
          </a:xfrm>
          <a:prstGeom prst="rect">
            <a:avLst/>
          </a:prstGeom>
          <a:noFill/>
          <a:ln>
            <a:noFill/>
          </a:ln>
        </p:spPr>
      </p:pic>
      <p:pic>
        <p:nvPicPr>
          <p:cNvPr id="431" name="Google Shape;431;p33"/>
          <p:cNvPicPr preferRelativeResize="0"/>
          <p:nvPr/>
        </p:nvPicPr>
        <p:blipFill rotWithShape="1">
          <a:blip r:embed="rId4">
            <a:alphaModFix/>
          </a:blip>
          <a:srcRect b="0" l="0" r="0" t="0"/>
          <a:stretch/>
        </p:blipFill>
        <p:spPr>
          <a:xfrm>
            <a:off x="541802" y="669428"/>
            <a:ext cx="3431682" cy="2322262"/>
          </a:xfrm>
          <a:prstGeom prst="rect">
            <a:avLst/>
          </a:prstGeom>
          <a:noFill/>
          <a:ln>
            <a:noFill/>
          </a:ln>
        </p:spPr>
      </p:pic>
      <p:sp>
        <p:nvSpPr>
          <p:cNvPr id="432" name="Google Shape;432;p33"/>
          <p:cNvSpPr txBox="1"/>
          <p:nvPr/>
        </p:nvSpPr>
        <p:spPr>
          <a:xfrm>
            <a:off x="81940" y="2984752"/>
            <a:ext cx="4257303"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Left Graph: Position Response</a:t>
            </a:r>
            <a:br>
              <a:rPr b="0" i="0" lang="en-US" sz="1400" u="none" cap="none" strike="noStrike">
                <a:solidFill>
                  <a:srgbClr val="000000"/>
                </a:solidFill>
                <a:latin typeface="Arial"/>
                <a:ea typeface="Arial"/>
                <a:cs typeface="Arial"/>
                <a:sym typeface="Arial"/>
              </a:rPr>
            </a:br>
            <a:r>
              <a:rPr b="0" i="0" lang="en-US" sz="1400" u="none" cap="none" strike="noStrike">
                <a:solidFill>
                  <a:srgbClr val="000000"/>
                </a:solidFill>
                <a:latin typeface="Arial"/>
                <a:ea typeface="Arial"/>
                <a:cs typeface="Arial"/>
                <a:sym typeface="Arial"/>
              </a:rPr>
              <a:t>Stable, underdamped tracking with small overshoot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and decay</a:t>
            </a:r>
            <a:endParaRPr b="0" i="0" sz="1400" u="none" cap="none" strike="noStrike">
              <a:solidFill>
                <a:srgbClr val="000000"/>
              </a:solidFill>
              <a:latin typeface="Arial"/>
              <a:ea typeface="Arial"/>
              <a:cs typeface="Arial"/>
              <a:sym typeface="Arial"/>
            </a:endParaRPr>
          </a:p>
        </p:txBody>
      </p:sp>
      <p:sp>
        <p:nvSpPr>
          <p:cNvPr id="433" name="Google Shape;433;p33"/>
          <p:cNvSpPr txBox="1"/>
          <p:nvPr/>
        </p:nvSpPr>
        <p:spPr>
          <a:xfrm>
            <a:off x="4433346" y="2984752"/>
            <a:ext cx="457200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Right Graph: Control Input (Motor Voltage)</a:t>
            </a:r>
            <a:br>
              <a:rPr b="0" i="0" lang="en-US" sz="1400" u="none" cap="none" strike="noStrike">
                <a:solidFill>
                  <a:srgbClr val="000000"/>
                </a:solidFill>
                <a:latin typeface="Arial"/>
                <a:ea typeface="Arial"/>
                <a:cs typeface="Arial"/>
                <a:sym typeface="Arial"/>
              </a:rPr>
            </a:br>
            <a:r>
              <a:rPr b="0" i="0" lang="en-US" sz="1400" u="none" cap="none" strike="noStrike">
                <a:solidFill>
                  <a:srgbClr val="000000"/>
                </a:solidFill>
                <a:latin typeface="Arial"/>
                <a:ea typeface="Arial"/>
                <a:cs typeface="Arial"/>
                <a:sym typeface="Arial"/>
              </a:rPr>
              <a:t>Bounded and non-diverging → stable actuator behavior</a:t>
            </a:r>
            <a:endParaRPr b="0" i="0" sz="1400" u="none" cap="none" strike="noStrike">
              <a:solidFill>
                <a:srgbClr val="000000"/>
              </a:solidFill>
              <a:latin typeface="Arial"/>
              <a:ea typeface="Arial"/>
              <a:cs typeface="Arial"/>
              <a:sym typeface="Arial"/>
            </a:endParaRPr>
          </a:p>
        </p:txBody>
      </p:sp>
      <p:sp>
        <p:nvSpPr>
          <p:cNvPr id="434" name="Google Shape;434;p33"/>
          <p:cNvSpPr txBox="1"/>
          <p:nvPr/>
        </p:nvSpPr>
        <p:spPr>
          <a:xfrm>
            <a:off x="0" y="3771805"/>
            <a:ext cx="284295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Key Observations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Stable second-order behavior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Well-damped response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Arial"/>
                <a:ea typeface="Arial"/>
                <a:cs typeface="Arial"/>
                <a:sym typeface="Arial"/>
              </a:rPr>
              <a:t>Control signal remains bounded</a:t>
            </a:r>
            <a:endParaRPr b="0" i="0" sz="1400" u="none" cap="none" strike="noStrike">
              <a:solidFill>
                <a:srgbClr val="000000"/>
              </a:solidFill>
              <a:latin typeface="Arial"/>
              <a:ea typeface="Arial"/>
              <a:cs typeface="Arial"/>
              <a:sym typeface="Arial"/>
            </a:endParaRPr>
          </a:p>
        </p:txBody>
      </p:sp>
      <p:sp>
        <p:nvSpPr>
          <p:cNvPr id="435" name="Google Shape;435;p33"/>
          <p:cNvSpPr txBox="1"/>
          <p:nvPr/>
        </p:nvSpPr>
        <p:spPr>
          <a:xfrm>
            <a:off x="2759826" y="3556361"/>
            <a:ext cx="4572000"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The voltage signal is truncated </a:t>
            </a:r>
            <a:r>
              <a:rPr b="0" i="0" lang="en-US" sz="1400" u="none" cap="none" strike="noStrike">
                <a:solidFill>
                  <a:srgbClr val="000000"/>
                </a:solidFill>
                <a:latin typeface="Arial"/>
                <a:ea typeface="Arial"/>
                <a:cs typeface="Arial"/>
                <a:sym typeface="Arial"/>
              </a:rPr>
              <a:t>at the actuator limits, meaning the controller demand exceeds the allowable range but is clipped to remain within ±Vmax.</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34"/>
          <p:cNvSpPr txBox="1"/>
          <p:nvPr>
            <p:ph type="title"/>
          </p:nvPr>
        </p:nvSpPr>
        <p:spPr>
          <a:xfrm>
            <a:off x="457200" y="206375"/>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000"/>
              <a:buNone/>
            </a:pPr>
            <a:r>
              <a:rPr lang="en-US"/>
              <a:t>Combining all 4 Stages</a:t>
            </a:r>
            <a:endParaRPr/>
          </a:p>
        </p:txBody>
      </p:sp>
      <p:pic>
        <p:nvPicPr>
          <p:cNvPr id="441" name="Google Shape;441;p34"/>
          <p:cNvPicPr preferRelativeResize="0"/>
          <p:nvPr>
            <p:ph idx="1" type="body"/>
          </p:nvPr>
        </p:nvPicPr>
        <p:blipFill rotWithShape="1">
          <a:blip r:embed="rId3">
            <a:alphaModFix/>
          </a:blip>
          <a:srcRect b="31631" l="34099" r="17212" t="28342"/>
          <a:stretch/>
        </p:blipFill>
        <p:spPr>
          <a:xfrm>
            <a:off x="1252808" y="959230"/>
            <a:ext cx="6638383" cy="3069772"/>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5"/>
          <p:cNvSpPr txBox="1"/>
          <p:nvPr/>
        </p:nvSpPr>
        <p:spPr>
          <a:xfrm>
            <a:off x="1039090" y="107962"/>
            <a:ext cx="631767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Swing‑Up Control: Lyapunov Energy Derivation</a:t>
            </a:r>
            <a:endParaRPr b="0" i="0" sz="1400" u="none" cap="none" strike="noStrike">
              <a:solidFill>
                <a:srgbClr val="000000"/>
              </a:solidFill>
              <a:latin typeface="Arial"/>
              <a:ea typeface="Arial"/>
              <a:cs typeface="Arial"/>
              <a:sym typeface="Arial"/>
            </a:endParaRPr>
          </a:p>
        </p:txBody>
      </p:sp>
      <p:pic>
        <p:nvPicPr>
          <p:cNvPr id="447" name="Google Shape;447;p35"/>
          <p:cNvPicPr preferRelativeResize="0"/>
          <p:nvPr/>
        </p:nvPicPr>
        <p:blipFill rotWithShape="1">
          <a:blip r:embed="rId3">
            <a:alphaModFix/>
          </a:blip>
          <a:srcRect b="25052" l="33367" r="37004" t="58556"/>
          <a:stretch/>
        </p:blipFill>
        <p:spPr>
          <a:xfrm>
            <a:off x="4888597" y="2571750"/>
            <a:ext cx="4255403" cy="1388717"/>
          </a:xfrm>
          <a:prstGeom prst="rect">
            <a:avLst/>
          </a:prstGeom>
          <a:noFill/>
          <a:ln>
            <a:noFill/>
          </a:ln>
        </p:spPr>
      </p:pic>
      <p:sp>
        <p:nvSpPr>
          <p:cNvPr id="448" name="Google Shape;448;p35"/>
          <p:cNvSpPr txBox="1"/>
          <p:nvPr/>
        </p:nvSpPr>
        <p:spPr>
          <a:xfrm>
            <a:off x="5454111" y="858970"/>
            <a:ext cx="3074747"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Key Idea</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The slide shows how </a:t>
            </a:r>
            <a:r>
              <a:rPr b="1" i="0" lang="en-US" sz="1200" u="none" cap="none" strike="noStrike">
                <a:solidFill>
                  <a:srgbClr val="000000"/>
                </a:solidFill>
                <a:latin typeface="Arial"/>
                <a:ea typeface="Arial"/>
                <a:cs typeface="Arial"/>
                <a:sym typeface="Arial"/>
              </a:rPr>
              <a:t>physics (nonlinear dynamics)</a:t>
            </a:r>
            <a:r>
              <a:rPr b="0" i="0" lang="en-US" sz="1200" u="none" cap="none" strike="noStrike">
                <a:solidFill>
                  <a:srgbClr val="000000"/>
                </a:solidFill>
                <a:latin typeface="Arial"/>
                <a:ea typeface="Arial"/>
                <a:cs typeface="Arial"/>
                <a:sym typeface="Arial"/>
              </a:rPr>
              <a:t> and </a:t>
            </a:r>
            <a:r>
              <a:rPr b="1" i="0" lang="en-US" sz="1200" u="none" cap="none" strike="noStrike">
                <a:solidFill>
                  <a:srgbClr val="000000"/>
                </a:solidFill>
                <a:latin typeface="Arial"/>
                <a:ea typeface="Arial"/>
                <a:cs typeface="Arial"/>
                <a:sym typeface="Arial"/>
              </a:rPr>
              <a:t>control strategy (energy shaping)</a:t>
            </a:r>
            <a:r>
              <a:rPr b="0" i="0" lang="en-US" sz="1200" u="none" cap="none" strike="noStrike">
                <a:solidFill>
                  <a:srgbClr val="000000"/>
                </a:solidFill>
                <a:latin typeface="Arial"/>
                <a:ea typeface="Arial"/>
                <a:cs typeface="Arial"/>
                <a:sym typeface="Arial"/>
              </a:rPr>
              <a:t> work together to achieve the swing‑up phase before switching to a balancing controller.</a:t>
            </a:r>
            <a:endParaRPr b="0" i="0" sz="1200" u="none" cap="none" strike="noStrike">
              <a:solidFill>
                <a:srgbClr val="000000"/>
              </a:solidFill>
              <a:latin typeface="Arial"/>
              <a:ea typeface="Arial"/>
              <a:cs typeface="Arial"/>
              <a:sym typeface="Arial"/>
            </a:endParaRPr>
          </a:p>
        </p:txBody>
      </p:sp>
      <p:sp>
        <p:nvSpPr>
          <p:cNvPr id="449" name="Google Shape;449;p35"/>
          <p:cNvSpPr txBox="1"/>
          <p:nvPr/>
        </p:nvSpPr>
        <p:spPr>
          <a:xfrm>
            <a:off x="286096" y="3021605"/>
            <a:ext cx="4008120" cy="701040"/>
          </a:xfrm>
          <a:prstGeom prst="rect">
            <a:avLst/>
          </a:prstGeom>
          <a:blipFill rotWithShape="1">
            <a:blip r:embed="rId4">
              <a:alphaModFix/>
            </a:blip>
            <a:stretch>
              <a:fillRect b="-415434" l="-1027" r="-40460" t="-98477"/>
            </a:stretch>
          </a:blip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80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p:txBody>
      </p:sp>
      <p:sp>
        <p:nvSpPr>
          <p:cNvPr id="450" name="Google Shape;450;p35"/>
          <p:cNvSpPr txBox="1"/>
          <p:nvPr/>
        </p:nvSpPr>
        <p:spPr>
          <a:xfrm>
            <a:off x="232757" y="3643673"/>
            <a:ext cx="4580312" cy="11695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This equation is a simple example of force‑balance modeling, illustrating the same principles—driving forces, resisting forces, and resulting acceleration—that underpin the more complex nonlinear dynamics and control laws used in the QUBE pendulum system.</a:t>
            </a:r>
            <a:endParaRPr/>
          </a:p>
        </p:txBody>
      </p:sp>
      <p:pic>
        <p:nvPicPr>
          <p:cNvPr id="451" name="Google Shape;451;p35"/>
          <p:cNvPicPr preferRelativeResize="0"/>
          <p:nvPr>
            <p:ph idx="1" type="body"/>
          </p:nvPr>
        </p:nvPicPr>
        <p:blipFill rotWithShape="1">
          <a:blip r:embed="rId3">
            <a:alphaModFix/>
          </a:blip>
          <a:srcRect b="47108" l="32462" r="29893" t="44123"/>
          <a:stretch/>
        </p:blipFill>
        <p:spPr>
          <a:xfrm>
            <a:off x="91055" y="613989"/>
            <a:ext cx="4722014" cy="747448"/>
          </a:xfrm>
          <a:prstGeom prst="rect">
            <a:avLst/>
          </a:prstGeom>
          <a:noFill/>
          <a:ln>
            <a:noFill/>
          </a:ln>
        </p:spPr>
      </p:pic>
      <p:sp>
        <p:nvSpPr>
          <p:cNvPr id="452" name="Google Shape;452;p35"/>
          <p:cNvSpPr txBox="1"/>
          <p:nvPr/>
        </p:nvSpPr>
        <p:spPr>
          <a:xfrm>
            <a:off x="286096" y="1459135"/>
            <a:ext cx="4580312" cy="1418209"/>
          </a:xfrm>
          <a:prstGeom prst="rect">
            <a:avLst/>
          </a:prstGeom>
          <a:blipFill rotWithShape="1">
            <a:blip r:embed="rId5">
              <a:alphaModFix/>
            </a:blip>
            <a:stretch>
              <a:fillRect b="-2575" l="-399" r="0" t="-4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8"/>
          <p:cNvSpPr txBox="1"/>
          <p:nvPr>
            <p:ph type="title"/>
          </p:nvPr>
        </p:nvSpPr>
        <p:spPr>
          <a:xfrm>
            <a:off x="457200" y="206375"/>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A50000"/>
              </a:buClr>
              <a:buSzPts val="3000"/>
              <a:buNone/>
            </a:pPr>
            <a:r>
              <a:rPr lang="en-US"/>
              <a:t>Why Lyapunov Control Law Important?</a:t>
            </a:r>
            <a:endParaRPr/>
          </a:p>
        </p:txBody>
      </p:sp>
      <p:sp>
        <p:nvSpPr>
          <p:cNvPr id="458" name="Google Shape;458;p58"/>
          <p:cNvSpPr txBox="1"/>
          <p:nvPr>
            <p:ph idx="1" type="body"/>
          </p:nvPr>
        </p:nvSpPr>
        <p:spPr>
          <a:xfrm>
            <a:off x="457200" y="1200150"/>
            <a:ext cx="8229600" cy="33942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360"/>
              </a:spcBef>
              <a:spcAft>
                <a:spcPts val="0"/>
              </a:spcAft>
              <a:buClr>
                <a:schemeClr val="dk1"/>
              </a:buClr>
              <a:buSzPts val="1800"/>
              <a:buChar char="●"/>
            </a:pPr>
            <a:r>
              <a:rPr b="1" lang="en-US"/>
              <a:t>The Lyapunov‑based control law injects energy by choosing the motor input so that the derivative of the pendulum’s total energy becomes positive whenever the pendulum has less than the desired energy, and negative when it has too much.</a:t>
            </a:r>
            <a:endParaRPr/>
          </a:p>
        </p:txBody>
      </p:sp>
      <p:sp>
        <p:nvSpPr>
          <p:cNvPr id="459" name="Google Shape;459;p58"/>
          <p:cNvSpPr txBox="1"/>
          <p:nvPr>
            <p:ph idx="12" type="sldNum"/>
          </p:nvPr>
        </p:nvSpPr>
        <p:spPr>
          <a:xfrm>
            <a:off x="6553200" y="4767262"/>
            <a:ext cx="2133600" cy="274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fld id="{00000000-1234-1234-1234-123412341234}" type="slidenum">
              <a:rPr lang="en-US"/>
              <a:t>‹#›</a:t>
            </a:fld>
            <a:endParaRPr sz="1000">
              <a:solidFill>
                <a:schemeClr val="lt1"/>
              </a:solidFill>
            </a:endParaRPr>
          </a:p>
        </p:txBody>
      </p:sp>
      <p:pic>
        <p:nvPicPr>
          <p:cNvPr id="460" name="Google Shape;460;p58"/>
          <p:cNvPicPr preferRelativeResize="0"/>
          <p:nvPr/>
        </p:nvPicPr>
        <p:blipFill rotWithShape="1">
          <a:blip r:embed="rId3">
            <a:alphaModFix/>
          </a:blip>
          <a:srcRect b="25161" l="30000" r="50247" t="69972"/>
          <a:stretch/>
        </p:blipFill>
        <p:spPr>
          <a:xfrm>
            <a:off x="1382220" y="3080129"/>
            <a:ext cx="5037441" cy="69824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pic>
        <p:nvPicPr>
          <p:cNvPr id="465" name="Google Shape;465;p36"/>
          <p:cNvPicPr preferRelativeResize="0"/>
          <p:nvPr>
            <p:ph idx="1" type="body"/>
          </p:nvPr>
        </p:nvPicPr>
        <p:blipFill rotWithShape="1">
          <a:blip r:embed="rId3">
            <a:alphaModFix/>
          </a:blip>
          <a:srcRect b="44535" l="32462" r="19798" t="44123"/>
          <a:stretch/>
        </p:blipFill>
        <p:spPr>
          <a:xfrm>
            <a:off x="1177841" y="213393"/>
            <a:ext cx="5735698" cy="806333"/>
          </a:xfrm>
          <a:prstGeom prst="rect">
            <a:avLst/>
          </a:prstGeom>
          <a:noFill/>
          <a:ln>
            <a:noFill/>
          </a:ln>
        </p:spPr>
      </p:pic>
      <p:pic>
        <p:nvPicPr>
          <p:cNvPr id="466" name="Google Shape;466;p36"/>
          <p:cNvPicPr preferRelativeResize="0"/>
          <p:nvPr/>
        </p:nvPicPr>
        <p:blipFill rotWithShape="1">
          <a:blip r:embed="rId4">
            <a:alphaModFix/>
          </a:blip>
          <a:srcRect b="41586" l="32553" r="33304" t="25715"/>
          <a:stretch/>
        </p:blipFill>
        <p:spPr>
          <a:xfrm>
            <a:off x="1151320" y="1916290"/>
            <a:ext cx="5301538" cy="2855917"/>
          </a:xfrm>
          <a:prstGeom prst="rect">
            <a:avLst/>
          </a:prstGeom>
          <a:noFill/>
          <a:ln>
            <a:noFill/>
          </a:ln>
        </p:spPr>
      </p:pic>
      <p:pic>
        <p:nvPicPr>
          <p:cNvPr id="467" name="Google Shape;467;p36"/>
          <p:cNvPicPr preferRelativeResize="0"/>
          <p:nvPr/>
        </p:nvPicPr>
        <p:blipFill rotWithShape="1">
          <a:blip r:embed="rId5">
            <a:alphaModFix/>
          </a:blip>
          <a:srcRect b="21333" l="40874" r="40751" t="33834"/>
          <a:stretch/>
        </p:blipFill>
        <p:spPr>
          <a:xfrm>
            <a:off x="6687197" y="221583"/>
            <a:ext cx="2390301" cy="3280566"/>
          </a:xfrm>
          <a:prstGeom prst="rect">
            <a:avLst/>
          </a:prstGeom>
          <a:noFill/>
          <a:ln>
            <a:noFill/>
          </a:ln>
        </p:spPr>
      </p:pic>
      <p:pic>
        <p:nvPicPr>
          <p:cNvPr id="468" name="Google Shape;468;p36"/>
          <p:cNvPicPr preferRelativeResize="0"/>
          <p:nvPr/>
        </p:nvPicPr>
        <p:blipFill rotWithShape="1">
          <a:blip r:embed="rId6">
            <a:alphaModFix/>
          </a:blip>
          <a:srcRect b="25176" l="30000" r="49977" t="69972"/>
          <a:stretch/>
        </p:blipFill>
        <p:spPr>
          <a:xfrm>
            <a:off x="2390878" y="4351919"/>
            <a:ext cx="3083281" cy="420288"/>
          </a:xfrm>
          <a:prstGeom prst="rect">
            <a:avLst/>
          </a:prstGeom>
          <a:noFill/>
          <a:ln>
            <a:noFill/>
          </a:ln>
        </p:spPr>
      </p:pic>
      <p:sp>
        <p:nvSpPr>
          <p:cNvPr id="469" name="Google Shape;469;p36"/>
          <p:cNvSpPr txBox="1"/>
          <p:nvPr/>
        </p:nvSpPr>
        <p:spPr>
          <a:xfrm>
            <a:off x="1646519" y="1177626"/>
            <a:ext cx="4572000" cy="738664"/>
          </a:xfrm>
          <a:prstGeom prst="rect">
            <a:avLst/>
          </a:prstGeom>
          <a:blipFill rotWithShape="1">
            <a:blip r:embed="rId7">
              <a:alphaModFix/>
            </a:blip>
            <a:stretch>
              <a:fillRect b="-8264" l="-400" r="-1200" t="-165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59"/>
          <p:cNvSpPr txBox="1"/>
          <p:nvPr>
            <p:ph type="title"/>
          </p:nvPr>
        </p:nvSpPr>
        <p:spPr>
          <a:xfrm>
            <a:off x="457200" y="206375"/>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A50000"/>
              </a:buClr>
              <a:buSzPts val="3000"/>
              <a:buNone/>
            </a:pPr>
            <a:r>
              <a:rPr lang="en-US"/>
              <a:t>The Motor</a:t>
            </a:r>
            <a:endParaRPr/>
          </a:p>
        </p:txBody>
      </p:sp>
      <p:sp>
        <p:nvSpPr>
          <p:cNvPr id="475" name="Google Shape;475;p59"/>
          <p:cNvSpPr txBox="1"/>
          <p:nvPr>
            <p:ph idx="12" type="sldNum"/>
          </p:nvPr>
        </p:nvSpPr>
        <p:spPr>
          <a:xfrm>
            <a:off x="6553200" y="4767262"/>
            <a:ext cx="2133600" cy="274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fld id="{00000000-1234-1234-1234-123412341234}" type="slidenum">
              <a:rPr lang="en-US"/>
              <a:t>‹#›</a:t>
            </a:fld>
            <a:endParaRPr sz="1000">
              <a:solidFill>
                <a:schemeClr val="lt1"/>
              </a:solidFill>
            </a:endParaRPr>
          </a:p>
        </p:txBody>
      </p:sp>
      <p:sp>
        <p:nvSpPr>
          <p:cNvPr id="476" name="Google Shape;476;p59"/>
          <p:cNvSpPr txBox="1"/>
          <p:nvPr/>
        </p:nvSpPr>
        <p:spPr>
          <a:xfrm>
            <a:off x="457200" y="1181116"/>
            <a:ext cx="3133898" cy="747449"/>
          </a:xfrm>
          <a:prstGeom prst="rect">
            <a:avLst/>
          </a:prstGeom>
          <a:blipFill rotWithShape="1">
            <a:blip r:embed="rId3">
              <a:alphaModFix/>
            </a:blip>
            <a:stretch>
              <a:fillRect b="0" l="-584" r="0" t="-163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477" name="Google Shape;477;p59"/>
          <p:cNvSpPr txBox="1"/>
          <p:nvPr/>
        </p:nvSpPr>
        <p:spPr>
          <a:xfrm>
            <a:off x="457200" y="3031788"/>
            <a:ext cx="5320147" cy="1200329"/>
          </a:xfrm>
          <a:prstGeom prst="rect">
            <a:avLst/>
          </a:prstGeom>
          <a:blipFill rotWithShape="1">
            <a:blip r:embed="rId4">
              <a:alphaModFix/>
            </a:blip>
            <a:stretch>
              <a:fillRect b="-7107" l="-916" r="0" t="-253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478" name="Google Shape;478;p59"/>
          <p:cNvSpPr txBox="1"/>
          <p:nvPr/>
        </p:nvSpPr>
        <p:spPr>
          <a:xfrm>
            <a:off x="4015047" y="1355284"/>
            <a:ext cx="4572000" cy="1384995"/>
          </a:xfrm>
          <a:prstGeom prst="rect">
            <a:avLst/>
          </a:prstGeom>
          <a:blipFill rotWithShape="1">
            <a:blip r:embed="rId5">
              <a:alphaModFix/>
            </a:blip>
            <a:stretch>
              <a:fillRect b="-3509" l="-400" r="0" t="-43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7"/>
          <p:cNvSpPr txBox="1"/>
          <p:nvPr>
            <p:ph idx="12" type="sldNum"/>
          </p:nvPr>
        </p:nvSpPr>
        <p:spPr>
          <a:xfrm>
            <a:off x="8595306" y="-1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pic>
        <p:nvPicPr>
          <p:cNvPr id="485" name="Google Shape;485;p37"/>
          <p:cNvPicPr preferRelativeResize="0"/>
          <p:nvPr/>
        </p:nvPicPr>
        <p:blipFill rotWithShape="1">
          <a:blip r:embed="rId3">
            <a:alphaModFix/>
          </a:blip>
          <a:srcRect b="7730" l="7247" r="5821" t="23203"/>
          <a:stretch/>
        </p:blipFill>
        <p:spPr>
          <a:xfrm>
            <a:off x="416707" y="0"/>
            <a:ext cx="7420040" cy="4782673"/>
          </a:xfrm>
          <a:prstGeom prst="rect">
            <a:avLst/>
          </a:prstGeom>
          <a:noFill/>
          <a:ln>
            <a:noFill/>
          </a:ln>
        </p:spPr>
      </p:pic>
      <p:sp>
        <p:nvSpPr>
          <p:cNvPr id="486" name="Google Shape;486;p37"/>
          <p:cNvSpPr txBox="1"/>
          <p:nvPr/>
        </p:nvSpPr>
        <p:spPr>
          <a:xfrm>
            <a:off x="1446415" y="196790"/>
            <a:ext cx="674162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Swing Up - Simulink Model (has multiple subsystems)</a:t>
            </a:r>
            <a:endParaRPr b="0" i="0" sz="1400" u="none" cap="none" strike="noStrike">
              <a:solidFill>
                <a:srgbClr val="000000"/>
              </a:solidFill>
              <a:latin typeface="Arial"/>
              <a:ea typeface="Arial"/>
              <a:cs typeface="Arial"/>
              <a:sym typeface="Arial"/>
            </a:endParaRPr>
          </a:p>
        </p:txBody>
      </p:sp>
      <p:sp>
        <p:nvSpPr>
          <p:cNvPr id="487" name="Google Shape;487;p37"/>
          <p:cNvSpPr txBox="1"/>
          <p:nvPr/>
        </p:nvSpPr>
        <p:spPr>
          <a:xfrm>
            <a:off x="-1" y="947651"/>
            <a:ext cx="1307253" cy="28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This part of the model implements an energy‑based swing‑up law that drives the pendulum from hanging down to near upright by regulating its total energy.</a:t>
            </a:r>
            <a:endParaRPr/>
          </a:p>
        </p:txBody>
      </p:sp>
      <p:sp>
        <p:nvSpPr>
          <p:cNvPr id="488" name="Google Shape;488;p37"/>
          <p:cNvSpPr txBox="1"/>
          <p:nvPr/>
        </p:nvSpPr>
        <p:spPr>
          <a:xfrm>
            <a:off x="7128200" y="1506976"/>
            <a:ext cx="2015806"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Once the pendulum is near upright, a logical condition enables the balance controller, which uses state feedback to keep it balanced.</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38"/>
          <p:cNvSpPr txBox="1"/>
          <p:nvPr>
            <p:ph type="title"/>
          </p:nvPr>
        </p:nvSpPr>
        <p:spPr>
          <a:xfrm>
            <a:off x="628650" y="273844"/>
            <a:ext cx="7886700" cy="46910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SzPct val="111111"/>
              <a:buNone/>
            </a:pPr>
            <a:r>
              <a:rPr b="1" lang="en-US"/>
              <a:t>Swing Up Plot/Output and Interpretation</a:t>
            </a:r>
            <a:endParaRPr/>
          </a:p>
        </p:txBody>
      </p:sp>
      <p:pic>
        <p:nvPicPr>
          <p:cNvPr id="494" name="Google Shape;494;p38"/>
          <p:cNvPicPr preferRelativeResize="0"/>
          <p:nvPr/>
        </p:nvPicPr>
        <p:blipFill rotWithShape="1">
          <a:blip r:embed="rId3">
            <a:alphaModFix/>
          </a:blip>
          <a:srcRect b="0" l="0" r="0" t="0"/>
          <a:stretch/>
        </p:blipFill>
        <p:spPr>
          <a:xfrm>
            <a:off x="171552" y="742950"/>
            <a:ext cx="4400448" cy="2815763"/>
          </a:xfrm>
          <a:prstGeom prst="rect">
            <a:avLst/>
          </a:prstGeom>
          <a:noFill/>
          <a:ln>
            <a:noFill/>
          </a:ln>
        </p:spPr>
      </p:pic>
      <p:pic>
        <p:nvPicPr>
          <p:cNvPr id="495" name="Google Shape;495;p38"/>
          <p:cNvPicPr preferRelativeResize="0"/>
          <p:nvPr/>
        </p:nvPicPr>
        <p:blipFill rotWithShape="1">
          <a:blip r:embed="rId4">
            <a:alphaModFix/>
          </a:blip>
          <a:srcRect b="0" l="0" r="0" t="0"/>
          <a:stretch/>
        </p:blipFill>
        <p:spPr>
          <a:xfrm>
            <a:off x="4694415" y="742950"/>
            <a:ext cx="4346660" cy="2446431"/>
          </a:xfrm>
          <a:prstGeom prst="rect">
            <a:avLst/>
          </a:prstGeom>
          <a:noFill/>
          <a:ln>
            <a:noFill/>
          </a:ln>
        </p:spPr>
      </p:pic>
      <p:sp>
        <p:nvSpPr>
          <p:cNvPr id="496" name="Google Shape;496;p38"/>
          <p:cNvSpPr txBox="1"/>
          <p:nvPr/>
        </p:nvSpPr>
        <p:spPr>
          <a:xfrm>
            <a:off x="1205345" y="746429"/>
            <a:ext cx="1587731" cy="32791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Pendulum Angle           </a:t>
            </a:r>
            <a:endParaRPr b="0" i="0" sz="1400" u="none" cap="none" strike="noStrike">
              <a:solidFill>
                <a:srgbClr val="000000"/>
              </a:solidFill>
              <a:latin typeface="Arial"/>
              <a:ea typeface="Arial"/>
              <a:cs typeface="Arial"/>
              <a:sym typeface="Arial"/>
            </a:endParaRPr>
          </a:p>
        </p:txBody>
      </p:sp>
      <p:sp>
        <p:nvSpPr>
          <p:cNvPr id="497" name="Google Shape;497;p38"/>
          <p:cNvSpPr txBox="1"/>
          <p:nvPr/>
        </p:nvSpPr>
        <p:spPr>
          <a:xfrm>
            <a:off x="5605793" y="739471"/>
            <a:ext cx="1654233" cy="32791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Rotary Arm Angle</a:t>
            </a:r>
            <a:endParaRPr b="0" i="0" sz="1400" u="none" cap="none" strike="noStrike">
              <a:solidFill>
                <a:srgbClr val="000000"/>
              </a:solidFill>
              <a:latin typeface="Arial"/>
              <a:ea typeface="Arial"/>
              <a:cs typeface="Arial"/>
              <a:sym typeface="Arial"/>
            </a:endParaRPr>
          </a:p>
        </p:txBody>
      </p:sp>
      <p:sp>
        <p:nvSpPr>
          <p:cNvPr id="498" name="Google Shape;498;p38"/>
          <p:cNvSpPr txBox="1"/>
          <p:nvPr/>
        </p:nvSpPr>
        <p:spPr>
          <a:xfrm>
            <a:off x="171552" y="3502125"/>
            <a:ext cx="4317321"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Shows the pendulum swinging with large oscillations during energy injection, then settling near the upright position once balance control takes over. Shows that up is down and down is up in this case.</a:t>
            </a:r>
            <a:endParaRPr b="0" i="0" sz="1400" u="none" cap="none" strike="noStrike">
              <a:solidFill>
                <a:srgbClr val="000000"/>
              </a:solidFill>
              <a:latin typeface="Arial"/>
              <a:ea typeface="Arial"/>
              <a:cs typeface="Arial"/>
              <a:sym typeface="Arial"/>
            </a:endParaRPr>
          </a:p>
        </p:txBody>
      </p:sp>
      <p:sp>
        <p:nvSpPr>
          <p:cNvPr id="499" name="Google Shape;499;p38"/>
          <p:cNvSpPr txBox="1"/>
          <p:nvPr/>
        </p:nvSpPr>
        <p:spPr>
          <a:xfrm>
            <a:off x="4694415" y="3189381"/>
            <a:ext cx="4572000" cy="7386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arm moves aggressively during swing‑up to pump energy into the pendulum, then quiets down once the system transitions to stabilization.</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505" name="Google Shape;505;p60"/>
          <p:cNvPicPr preferRelativeResize="0"/>
          <p:nvPr/>
        </p:nvPicPr>
        <p:blipFill rotWithShape="1">
          <a:blip r:embed="rId3">
            <a:alphaModFix/>
          </a:blip>
          <a:srcRect b="0" l="0" r="0" t="0"/>
          <a:stretch/>
        </p:blipFill>
        <p:spPr>
          <a:xfrm>
            <a:off x="0" y="133933"/>
            <a:ext cx="4272742" cy="2733957"/>
          </a:xfrm>
          <a:prstGeom prst="rect">
            <a:avLst/>
          </a:prstGeom>
          <a:noFill/>
          <a:ln>
            <a:noFill/>
          </a:ln>
        </p:spPr>
      </p:pic>
      <p:pic>
        <p:nvPicPr>
          <p:cNvPr id="506" name="Google Shape;506;p60"/>
          <p:cNvPicPr preferRelativeResize="0"/>
          <p:nvPr/>
        </p:nvPicPr>
        <p:blipFill rotWithShape="1">
          <a:blip r:embed="rId4">
            <a:alphaModFix/>
          </a:blip>
          <a:srcRect b="0" l="0" r="0" t="0"/>
          <a:stretch/>
        </p:blipFill>
        <p:spPr>
          <a:xfrm>
            <a:off x="4383953" y="133934"/>
            <a:ext cx="4076477" cy="2733957"/>
          </a:xfrm>
          <a:prstGeom prst="rect">
            <a:avLst/>
          </a:prstGeom>
          <a:noFill/>
          <a:ln>
            <a:noFill/>
          </a:ln>
        </p:spPr>
      </p:pic>
      <p:sp>
        <p:nvSpPr>
          <p:cNvPr id="507" name="Google Shape;507;p60"/>
          <p:cNvSpPr txBox="1"/>
          <p:nvPr/>
        </p:nvSpPr>
        <p:spPr>
          <a:xfrm>
            <a:off x="806335" y="239213"/>
            <a:ext cx="1968985" cy="32791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Applied Motor Voltage</a:t>
            </a:r>
            <a:endParaRPr b="0" i="0" sz="1400" u="none" cap="none" strike="noStrike">
              <a:solidFill>
                <a:srgbClr val="000000"/>
              </a:solidFill>
              <a:latin typeface="Arial"/>
              <a:ea typeface="Arial"/>
              <a:cs typeface="Arial"/>
              <a:sym typeface="Arial"/>
            </a:endParaRPr>
          </a:p>
        </p:txBody>
      </p:sp>
      <p:sp>
        <p:nvSpPr>
          <p:cNvPr id="508" name="Google Shape;508;p60"/>
          <p:cNvSpPr txBox="1"/>
          <p:nvPr/>
        </p:nvSpPr>
        <p:spPr>
          <a:xfrm>
            <a:off x="5112327" y="407355"/>
            <a:ext cx="2136371" cy="32791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Total Mechanical Energy</a:t>
            </a:r>
            <a:endParaRPr b="0" i="0" sz="1400" u="none" cap="none" strike="noStrike">
              <a:solidFill>
                <a:srgbClr val="000000"/>
              </a:solidFill>
              <a:latin typeface="Arial"/>
              <a:ea typeface="Arial"/>
              <a:cs typeface="Arial"/>
              <a:sym typeface="Arial"/>
            </a:endParaRPr>
          </a:p>
        </p:txBody>
      </p:sp>
      <p:sp>
        <p:nvSpPr>
          <p:cNvPr id="509" name="Google Shape;509;p60"/>
          <p:cNvSpPr txBox="1"/>
          <p:nvPr/>
        </p:nvSpPr>
        <p:spPr>
          <a:xfrm>
            <a:off x="379548" y="2867890"/>
            <a:ext cx="351364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Voltage saturates between ±10 V during swing‑up, reflecting strong control effort, and then drops to small corrections once the pendulum is balanced.</a:t>
            </a:r>
            <a:endParaRPr/>
          </a:p>
        </p:txBody>
      </p:sp>
      <p:sp>
        <p:nvSpPr>
          <p:cNvPr id="510" name="Google Shape;510;p60"/>
          <p:cNvSpPr txBox="1"/>
          <p:nvPr/>
        </p:nvSpPr>
        <p:spPr>
          <a:xfrm>
            <a:off x="4677766" y="2867891"/>
            <a:ext cx="3488849"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Energy rises and oscillates as the controller injects energy, then levels off near the target value before switching to the balancing controller.</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0"/>
          <p:cNvSpPr txBox="1"/>
          <p:nvPr>
            <p:ph type="title"/>
          </p:nvPr>
        </p:nvSpPr>
        <p:spPr>
          <a:xfrm>
            <a:off x="457200" y="206375"/>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000"/>
              <a:buNone/>
            </a:pPr>
            <a:r>
              <a:rPr b="1" lang="en-US"/>
              <a:t>Part 2: Quanser Qube Conclusion</a:t>
            </a:r>
            <a:endParaRPr/>
          </a:p>
        </p:txBody>
      </p:sp>
      <p:sp>
        <p:nvSpPr>
          <p:cNvPr id="516" name="Google Shape;516;p40"/>
          <p:cNvSpPr txBox="1"/>
          <p:nvPr>
            <p:ph idx="1" type="body"/>
          </p:nvPr>
        </p:nvSpPr>
        <p:spPr>
          <a:xfrm>
            <a:off x="457200" y="1200150"/>
            <a:ext cx="8229600" cy="2562712"/>
          </a:xfrm>
          <a:prstGeom prst="rect">
            <a:avLst/>
          </a:prstGeom>
          <a:noFill/>
          <a:ln>
            <a:noFill/>
          </a:ln>
        </p:spPr>
        <p:txBody>
          <a:bodyPr anchorCtr="0" anchor="t" bIns="45700" lIns="91425" spcFirstLastPara="1" rIns="91425" wrap="square" tIns="45700">
            <a:spAutoFit/>
          </a:bodyPr>
          <a:lstStyle/>
          <a:p>
            <a:pPr indent="-285750" lvl="0" marL="285750" rtl="0" algn="l">
              <a:lnSpc>
                <a:spcPct val="115000"/>
              </a:lnSpc>
              <a:spcBef>
                <a:spcPts val="360"/>
              </a:spcBef>
              <a:spcAft>
                <a:spcPts val="0"/>
              </a:spcAft>
              <a:buSzPts val="1800"/>
              <a:buFont typeface="Arial"/>
              <a:buChar char="•"/>
            </a:pPr>
            <a:r>
              <a:rPr lang="en-US" sz="3200"/>
              <a:t>Modeling validated</a:t>
            </a:r>
            <a:endParaRPr/>
          </a:p>
          <a:p>
            <a:pPr indent="-285750" lvl="0" marL="285750" rtl="0" algn="l">
              <a:lnSpc>
                <a:spcPct val="115000"/>
              </a:lnSpc>
              <a:spcBef>
                <a:spcPts val="360"/>
              </a:spcBef>
              <a:spcAft>
                <a:spcPts val="0"/>
              </a:spcAft>
              <a:buSzPts val="1800"/>
              <a:buFont typeface="Arial"/>
              <a:buChar char="•"/>
            </a:pPr>
            <a:r>
              <a:rPr lang="en-US" sz="3200"/>
              <a:t>Controllers implemented</a:t>
            </a:r>
            <a:endParaRPr/>
          </a:p>
          <a:p>
            <a:pPr indent="-285750" lvl="0" marL="285750" rtl="0" algn="l">
              <a:lnSpc>
                <a:spcPct val="115000"/>
              </a:lnSpc>
              <a:spcBef>
                <a:spcPts val="360"/>
              </a:spcBef>
              <a:spcAft>
                <a:spcPts val="0"/>
              </a:spcAft>
              <a:buSzPts val="1800"/>
              <a:buFont typeface="Arial"/>
              <a:buChar char="•"/>
            </a:pPr>
            <a:r>
              <a:rPr lang="en-US" sz="3200"/>
              <a:t>Energy swing-up achieved</a:t>
            </a:r>
            <a:endParaRPr/>
          </a:p>
          <a:p>
            <a:pPr indent="-285750" lvl="0" marL="285750" rtl="0" algn="l">
              <a:lnSpc>
                <a:spcPct val="115000"/>
              </a:lnSpc>
              <a:spcBef>
                <a:spcPts val="360"/>
              </a:spcBef>
              <a:spcAft>
                <a:spcPts val="0"/>
              </a:spcAft>
              <a:buSzPts val="1800"/>
              <a:buFont typeface="Arial"/>
              <a:buChar char="•"/>
            </a:pPr>
            <a:r>
              <a:rPr lang="en-US" sz="3200"/>
              <a:t>System stabilized</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4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522" name="Google Shape;522;p41"/>
          <p:cNvPicPr preferRelativeResize="0"/>
          <p:nvPr/>
        </p:nvPicPr>
        <p:blipFill rotWithShape="1">
          <a:blip r:embed="rId3">
            <a:alphaModFix/>
          </a:blip>
          <a:srcRect b="29051" l="35455" r="39000" t="51022"/>
          <a:stretch/>
        </p:blipFill>
        <p:spPr>
          <a:xfrm>
            <a:off x="897776" y="612475"/>
            <a:ext cx="7689272" cy="3373996"/>
          </a:xfrm>
          <a:prstGeom prst="rect">
            <a:avLst/>
          </a:prstGeom>
          <a:noFill/>
          <a:ln>
            <a:noFill/>
          </a:ln>
        </p:spPr>
      </p:pic>
      <p:sp>
        <p:nvSpPr>
          <p:cNvPr id="523" name="Google Shape;523;p41"/>
          <p:cNvSpPr txBox="1"/>
          <p:nvPr/>
        </p:nvSpPr>
        <p:spPr>
          <a:xfrm>
            <a:off x="3075710" y="-52244"/>
            <a:ext cx="277645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sng" cap="none" strike="noStrike">
                <a:solidFill>
                  <a:srgbClr val="000000"/>
                </a:solidFill>
                <a:latin typeface="Arial"/>
                <a:ea typeface="Arial"/>
                <a:cs typeface="Arial"/>
                <a:sym typeface="Arial"/>
              </a:rPr>
              <a:t>Comparative Discussion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42"/>
          <p:cNvSpPr txBox="1"/>
          <p:nvPr>
            <p:ph type="title"/>
          </p:nvPr>
        </p:nvSpPr>
        <p:spPr>
          <a:xfrm>
            <a:off x="2009588" y="185556"/>
            <a:ext cx="5124824" cy="6078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US"/>
              <a:t>Thank You ……. Any Questions?</a:t>
            </a:r>
            <a:endParaRPr/>
          </a:p>
        </p:txBody>
      </p:sp>
      <p:sp>
        <p:nvSpPr>
          <p:cNvPr id="529" name="Google Shape;529;p4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descr="Qube-Servo 2 - Quanser" id="530" name="Google Shape;530;p42"/>
          <p:cNvPicPr preferRelativeResize="0"/>
          <p:nvPr/>
        </p:nvPicPr>
        <p:blipFill rotWithShape="1">
          <a:blip r:embed="rId3">
            <a:alphaModFix/>
          </a:blip>
          <a:srcRect b="3" l="2794" r="3" t="0"/>
          <a:stretch/>
        </p:blipFill>
        <p:spPr>
          <a:xfrm>
            <a:off x="4692533" y="749608"/>
            <a:ext cx="2441879" cy="3264408"/>
          </a:xfrm>
          <a:prstGeom prst="rect">
            <a:avLst/>
          </a:prstGeom>
          <a:solidFill>
            <a:srgbClr val="FFFFFF"/>
          </a:solidFill>
          <a:ln>
            <a:noFill/>
          </a:ln>
        </p:spPr>
      </p:pic>
      <p:pic>
        <p:nvPicPr>
          <p:cNvPr id="531" name="Google Shape;531;p42"/>
          <p:cNvPicPr preferRelativeResize="0"/>
          <p:nvPr/>
        </p:nvPicPr>
        <p:blipFill rotWithShape="1">
          <a:blip r:embed="rId4">
            <a:alphaModFix/>
          </a:blip>
          <a:srcRect b="0" l="0" r="0" t="0"/>
          <a:stretch/>
        </p:blipFill>
        <p:spPr>
          <a:xfrm>
            <a:off x="860089" y="1392228"/>
            <a:ext cx="3591379" cy="2359043"/>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43"/>
          <p:cNvSpPr txBox="1"/>
          <p:nvPr>
            <p:ph idx="12" type="sldNum"/>
          </p:nvPr>
        </p:nvSpPr>
        <p:spPr>
          <a:xfrm>
            <a:off x="8595306" y="-1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
        <p:nvSpPr>
          <p:cNvPr id="538" name="Google Shape;538;p43"/>
          <p:cNvSpPr txBox="1"/>
          <p:nvPr/>
        </p:nvSpPr>
        <p:spPr>
          <a:xfrm>
            <a:off x="1143000" y="1907412"/>
            <a:ext cx="6548350"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r>
              <a:rPr b="0" i="0" lang="en-US" sz="3600" u="none" cap="none" strike="noStrike">
                <a:solidFill>
                  <a:srgbClr val="000000"/>
                </a:solidFill>
                <a:latin typeface="Arial"/>
                <a:ea typeface="Arial"/>
                <a:cs typeface="Arial"/>
                <a:sym typeface="Arial"/>
              </a:rPr>
              <a:t>After Presentation Slides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22"/>
          <p:cNvSpPr txBox="1"/>
          <p:nvPr>
            <p:ph type="title"/>
          </p:nvPr>
        </p:nvSpPr>
        <p:spPr>
          <a:xfrm>
            <a:off x="1255221" y="196790"/>
            <a:ext cx="5482271" cy="6078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US"/>
              <a:t>TCLab PID Controller Summary</a:t>
            </a:r>
            <a:endParaRPr/>
          </a:p>
        </p:txBody>
      </p:sp>
      <p:sp>
        <p:nvSpPr>
          <p:cNvPr id="545" name="Google Shape;545;p22"/>
          <p:cNvSpPr txBox="1"/>
          <p:nvPr>
            <p:ph idx="12" type="sldNum"/>
          </p:nvPr>
        </p:nvSpPr>
        <p:spPr>
          <a:xfrm>
            <a:off x="8595306" y="-10"/>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US"/>
              <a:t>‹#›</a:t>
            </a:fld>
            <a:endParaRPr/>
          </a:p>
        </p:txBody>
      </p:sp>
      <p:sp>
        <p:nvSpPr>
          <p:cNvPr id="546" name="Google Shape;546;p22"/>
          <p:cNvSpPr txBox="1"/>
          <p:nvPr/>
        </p:nvSpPr>
        <p:spPr>
          <a:xfrm>
            <a:off x="0" y="942770"/>
            <a:ext cx="7432964" cy="2822895"/>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Implemented using a Python program connected to a live temperature control board to evaluate closed-loop performance.  The PID constant values were: kp=10, ki=0.2, kd=10</a:t>
            </a:r>
            <a:endParaRPr b="0" i="0" sz="1200" u="none" cap="none" strike="noStrike">
              <a:solidFill>
                <a:srgbClr val="000000"/>
              </a:solidFill>
              <a:latin typeface="Arial"/>
              <a:ea typeface="Arial"/>
              <a:cs typeface="Arial"/>
              <a:sym typeface="Arial"/>
            </a:endParaRPr>
          </a:p>
          <a:p>
            <a:pPr indent="-209550" lvl="0" marL="28575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The temperature setpoint was stepped from 25 °C to 50 °C, then to 30 °C, and finally to 40 °C while the system response was recorded. The measured temperature closely tracked the setpoint with a fast rise time, minor overshoot near the 50 °C step, and smooth settling during the later transitions, indicating stable controller tuning. </a:t>
            </a:r>
            <a:endParaRPr b="0" i="0" sz="1400" u="none" cap="none" strike="noStrike">
              <a:solidFill>
                <a:srgbClr val="000000"/>
              </a:solidFill>
              <a:latin typeface="Arial"/>
              <a:ea typeface="Arial"/>
              <a:cs typeface="Arial"/>
              <a:sym typeface="Arial"/>
            </a:endParaRPr>
          </a:p>
          <a:p>
            <a:pPr indent="-209550" lvl="0" marL="28575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The heater output plot shows the controller effort required to achieve this behavior, including a brief saturation near 100 % power during the large heating step and a drop to 0 % during cooldown, demonstrating effective integral windup protection.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Model validation via comparing the real temperature response to predictions from an energy balance model and a first-order plus dead-time (FOPDT) model. Both models captured the general system behavior, though small deviations appeared during larger transients. </a:t>
            </a:r>
            <a:endParaRPr b="0" i="0" sz="1400" u="none" cap="none" strike="noStrike">
              <a:solidFill>
                <a:srgbClr val="000000"/>
              </a:solidFill>
              <a:latin typeface="Arial"/>
              <a:ea typeface="Arial"/>
              <a:cs typeface="Arial"/>
              <a:sym typeface="Arial"/>
            </a:endParaRPr>
          </a:p>
          <a:p>
            <a:pPr indent="-209550" lvl="0" marL="28575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Finally, error plots comparing tracking and model prediction errors provided an integrated view of performance over time, showing moderate tracking error growth and highlighting differences in predictive accuracy between the two models.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44"/>
          <p:cNvSpPr txBox="1"/>
          <p:nvPr>
            <p:ph type="title"/>
          </p:nvPr>
        </p:nvSpPr>
        <p:spPr>
          <a:xfrm>
            <a:off x="771525" y="1475450"/>
            <a:ext cx="1971675" cy="1910443"/>
          </a:xfrm>
          <a:prstGeom prst="rect">
            <a:avLst/>
          </a:prstGeom>
          <a:noFill/>
          <a:ln>
            <a:noFill/>
          </a:ln>
        </p:spPr>
        <p:txBody>
          <a:bodyPr anchorCtr="0" anchor="ctr" bIns="34275" lIns="68575" spcFirstLastPara="1" rIns="68575" wrap="square" tIns="34275">
            <a:normAutofit/>
          </a:bodyPr>
          <a:lstStyle/>
          <a:p>
            <a:pPr indent="0" lvl="0" marL="0" rtl="0" algn="ctr">
              <a:lnSpc>
                <a:spcPct val="100000"/>
              </a:lnSpc>
              <a:spcBef>
                <a:spcPts val="0"/>
              </a:spcBef>
              <a:spcAft>
                <a:spcPts val="0"/>
              </a:spcAft>
              <a:buSzPts val="3000"/>
              <a:buNone/>
            </a:pPr>
            <a:r>
              <a:rPr lang="en-US" sz="2700">
                <a:solidFill>
                  <a:srgbClr val="FFFFFF"/>
                </a:solidFill>
                <a:latin typeface="Arial"/>
                <a:ea typeface="Arial"/>
                <a:cs typeface="Arial"/>
                <a:sym typeface="Arial"/>
              </a:rPr>
              <a:t>Interfacing</a:t>
            </a:r>
            <a:endParaRPr/>
          </a:p>
        </p:txBody>
      </p:sp>
      <p:pic>
        <p:nvPicPr>
          <p:cNvPr id="552" name="Google Shape;552;p44"/>
          <p:cNvPicPr preferRelativeResize="0"/>
          <p:nvPr>
            <p:ph idx="1" type="body"/>
          </p:nvPr>
        </p:nvPicPr>
        <p:blipFill rotWithShape="1">
          <a:blip r:embed="rId3">
            <a:alphaModFix/>
          </a:blip>
          <a:srcRect b="16190" l="27857" r="31339" t="33651"/>
          <a:stretch/>
        </p:blipFill>
        <p:spPr>
          <a:xfrm>
            <a:off x="532216" y="122695"/>
            <a:ext cx="6290368" cy="434955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45"/>
          <p:cNvSpPr txBox="1"/>
          <p:nvPr>
            <p:ph type="title"/>
          </p:nvPr>
        </p:nvSpPr>
        <p:spPr>
          <a:xfrm>
            <a:off x="771525" y="1475450"/>
            <a:ext cx="1971675" cy="1910443"/>
          </a:xfrm>
          <a:prstGeom prst="rect">
            <a:avLst/>
          </a:prstGeom>
          <a:noFill/>
          <a:ln>
            <a:noFill/>
          </a:ln>
        </p:spPr>
        <p:txBody>
          <a:bodyPr anchorCtr="0" anchor="ctr" bIns="34275" lIns="68575" spcFirstLastPara="1" rIns="68575" wrap="square" tIns="34275">
            <a:normAutofit/>
          </a:bodyPr>
          <a:lstStyle/>
          <a:p>
            <a:pPr indent="0" lvl="0" marL="0" rtl="0" algn="ctr">
              <a:lnSpc>
                <a:spcPct val="100000"/>
              </a:lnSpc>
              <a:spcBef>
                <a:spcPts val="0"/>
              </a:spcBef>
              <a:spcAft>
                <a:spcPts val="0"/>
              </a:spcAft>
              <a:buSzPts val="3000"/>
              <a:buNone/>
            </a:pPr>
            <a:r>
              <a:rPr lang="en-US" sz="2700">
                <a:solidFill>
                  <a:srgbClr val="FFFFFF"/>
                </a:solidFill>
                <a:latin typeface="Arial"/>
                <a:ea typeface="Arial"/>
                <a:cs typeface="Arial"/>
                <a:sym typeface="Arial"/>
              </a:rPr>
              <a:t>Interfacing Model</a:t>
            </a:r>
            <a:endParaRPr/>
          </a:p>
        </p:txBody>
      </p:sp>
      <p:pic>
        <p:nvPicPr>
          <p:cNvPr id="558" name="Google Shape;558;p45"/>
          <p:cNvPicPr preferRelativeResize="0"/>
          <p:nvPr>
            <p:ph idx="1" type="body"/>
          </p:nvPr>
        </p:nvPicPr>
        <p:blipFill rotWithShape="1">
          <a:blip r:embed="rId3">
            <a:alphaModFix/>
          </a:blip>
          <a:srcRect b="8586" l="29401" r="31106" t="34334"/>
          <a:stretch/>
        </p:blipFill>
        <p:spPr>
          <a:xfrm>
            <a:off x="712438" y="145227"/>
            <a:ext cx="5621860" cy="4570617"/>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46"/>
          <p:cNvSpPr txBox="1"/>
          <p:nvPr>
            <p:ph type="title"/>
          </p:nvPr>
        </p:nvSpPr>
        <p:spPr>
          <a:xfrm>
            <a:off x="771525" y="1475450"/>
            <a:ext cx="1971675" cy="1910443"/>
          </a:xfrm>
          <a:prstGeom prst="rect">
            <a:avLst/>
          </a:prstGeom>
          <a:noFill/>
          <a:ln>
            <a:noFill/>
          </a:ln>
        </p:spPr>
        <p:txBody>
          <a:bodyPr anchorCtr="0" anchor="ctr" bIns="34275" lIns="68575" spcFirstLastPara="1" rIns="68575" wrap="square" tIns="34275">
            <a:normAutofit fontScale="90000"/>
          </a:bodyPr>
          <a:lstStyle/>
          <a:p>
            <a:pPr indent="0" lvl="0" marL="0" rtl="0" algn="ctr">
              <a:lnSpc>
                <a:spcPct val="100000"/>
              </a:lnSpc>
              <a:spcBef>
                <a:spcPts val="0"/>
              </a:spcBef>
              <a:spcAft>
                <a:spcPts val="0"/>
              </a:spcAft>
              <a:buSzPct val="134680"/>
              <a:buNone/>
            </a:pPr>
            <a:r>
              <a:rPr lang="en-US" sz="2475">
                <a:solidFill>
                  <a:srgbClr val="FFFFFF"/>
                </a:solidFill>
                <a:latin typeface="Arial"/>
                <a:ea typeface="Arial"/>
                <a:cs typeface="Arial"/>
                <a:sym typeface="Arial"/>
              </a:rPr>
              <a:t>Interfacing Plot/Output and Interpretation</a:t>
            </a:r>
            <a:endParaRPr/>
          </a:p>
        </p:txBody>
      </p:sp>
      <p:pic>
        <p:nvPicPr>
          <p:cNvPr id="564" name="Google Shape;564;p46"/>
          <p:cNvPicPr preferRelativeResize="0"/>
          <p:nvPr>
            <p:ph idx="1" type="body"/>
          </p:nvPr>
        </p:nvPicPr>
        <p:blipFill rotWithShape="1">
          <a:blip r:embed="rId3">
            <a:alphaModFix/>
          </a:blip>
          <a:srcRect b="10367" l="33114" r="34380" t="30093"/>
          <a:stretch/>
        </p:blipFill>
        <p:spPr>
          <a:xfrm>
            <a:off x="277878" y="470591"/>
            <a:ext cx="7010609" cy="3943467"/>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7"/>
          <p:cNvSpPr txBox="1"/>
          <p:nvPr>
            <p:ph type="title"/>
          </p:nvPr>
        </p:nvSpPr>
        <p:spPr>
          <a:xfrm>
            <a:off x="628650" y="273844"/>
            <a:ext cx="7886700" cy="558914"/>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000"/>
              <a:buNone/>
            </a:pPr>
            <a:r>
              <a:rPr b="1" lang="en-US"/>
              <a:t>Filtering</a:t>
            </a:r>
            <a:endParaRPr/>
          </a:p>
        </p:txBody>
      </p:sp>
      <p:pic>
        <p:nvPicPr>
          <p:cNvPr id="570" name="Google Shape;570;p47"/>
          <p:cNvPicPr preferRelativeResize="0"/>
          <p:nvPr>
            <p:ph idx="1" type="body"/>
          </p:nvPr>
        </p:nvPicPr>
        <p:blipFill rotWithShape="1">
          <a:blip r:embed="rId3">
            <a:alphaModFix/>
          </a:blip>
          <a:srcRect b="18929" l="33215" r="35951" t="48691"/>
          <a:stretch/>
        </p:blipFill>
        <p:spPr>
          <a:xfrm>
            <a:off x="147550" y="857782"/>
            <a:ext cx="6519257" cy="374984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48"/>
          <p:cNvSpPr txBox="1"/>
          <p:nvPr>
            <p:ph type="title"/>
          </p:nvPr>
        </p:nvSpPr>
        <p:spPr>
          <a:xfrm>
            <a:off x="771525" y="1475450"/>
            <a:ext cx="1971675" cy="1910443"/>
          </a:xfrm>
          <a:prstGeom prst="rect">
            <a:avLst/>
          </a:prstGeom>
          <a:noFill/>
          <a:ln>
            <a:noFill/>
          </a:ln>
        </p:spPr>
        <p:txBody>
          <a:bodyPr anchorCtr="0" anchor="ctr" bIns="34275" lIns="68575" spcFirstLastPara="1" rIns="68575" wrap="square" tIns="34275">
            <a:normAutofit/>
          </a:bodyPr>
          <a:lstStyle/>
          <a:p>
            <a:pPr indent="0" lvl="0" marL="0" rtl="0" algn="ctr">
              <a:lnSpc>
                <a:spcPct val="100000"/>
              </a:lnSpc>
              <a:spcBef>
                <a:spcPts val="0"/>
              </a:spcBef>
              <a:spcAft>
                <a:spcPts val="0"/>
              </a:spcAft>
              <a:buSzPts val="3000"/>
              <a:buNone/>
            </a:pPr>
            <a:r>
              <a:rPr b="1" lang="en-US" sz="2700">
                <a:solidFill>
                  <a:srgbClr val="FFFFFF"/>
                </a:solidFill>
                <a:latin typeface="Arial"/>
                <a:ea typeface="Arial"/>
                <a:cs typeface="Arial"/>
                <a:sym typeface="Arial"/>
              </a:rPr>
              <a:t>Filtering Model</a:t>
            </a:r>
            <a:endParaRPr/>
          </a:p>
        </p:txBody>
      </p:sp>
      <p:pic>
        <p:nvPicPr>
          <p:cNvPr id="576" name="Google Shape;576;p48"/>
          <p:cNvPicPr preferRelativeResize="0"/>
          <p:nvPr>
            <p:ph idx="1" type="body"/>
          </p:nvPr>
        </p:nvPicPr>
        <p:blipFill rotWithShape="1">
          <a:blip r:embed="rId3">
            <a:alphaModFix/>
          </a:blip>
          <a:srcRect b="18581" l="32671" r="36631" t="40707"/>
          <a:stretch/>
        </p:blipFill>
        <p:spPr>
          <a:xfrm>
            <a:off x="157941" y="97819"/>
            <a:ext cx="6949441" cy="4312258"/>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49"/>
          <p:cNvSpPr txBox="1"/>
          <p:nvPr>
            <p:ph type="title"/>
          </p:nvPr>
        </p:nvSpPr>
        <p:spPr>
          <a:xfrm>
            <a:off x="457200" y="206375"/>
            <a:ext cx="8229600" cy="857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000"/>
              <a:buNone/>
            </a:pPr>
            <a:r>
              <a:rPr b="1" lang="en-US"/>
              <a:t>Filtering Plot/Output and Interpretation</a:t>
            </a:r>
            <a:endParaRPr/>
          </a:p>
        </p:txBody>
      </p:sp>
      <p:pic>
        <p:nvPicPr>
          <p:cNvPr id="582" name="Google Shape;582;p49"/>
          <p:cNvPicPr preferRelativeResize="0"/>
          <p:nvPr>
            <p:ph idx="1" type="body"/>
          </p:nvPr>
        </p:nvPicPr>
        <p:blipFill rotWithShape="1">
          <a:blip r:embed="rId3">
            <a:alphaModFix/>
          </a:blip>
          <a:srcRect b="17621" l="32973" r="35506" t="32595"/>
          <a:stretch/>
        </p:blipFill>
        <p:spPr>
          <a:xfrm>
            <a:off x="1036864" y="1159328"/>
            <a:ext cx="3795449" cy="3371850"/>
          </a:xfrm>
          <a:prstGeom prst="rect">
            <a:avLst/>
          </a:prstGeom>
          <a:noFill/>
          <a:ln>
            <a:noFill/>
          </a:ln>
        </p:spPr>
      </p:pic>
      <p:pic>
        <p:nvPicPr>
          <p:cNvPr id="583" name="Google Shape;583;p49"/>
          <p:cNvPicPr preferRelativeResize="0"/>
          <p:nvPr/>
        </p:nvPicPr>
        <p:blipFill rotWithShape="1">
          <a:blip r:embed="rId4">
            <a:alphaModFix/>
          </a:blip>
          <a:srcRect b="17778" l="32946" r="36071" t="41868"/>
          <a:stretch/>
        </p:blipFill>
        <p:spPr>
          <a:xfrm>
            <a:off x="4832313" y="1252282"/>
            <a:ext cx="4348525" cy="3185942"/>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50"/>
          <p:cNvSpPr txBox="1"/>
          <p:nvPr>
            <p:ph type="title"/>
          </p:nvPr>
        </p:nvSpPr>
        <p:spPr>
          <a:xfrm>
            <a:off x="771525" y="1475450"/>
            <a:ext cx="1971675" cy="1910443"/>
          </a:xfrm>
          <a:prstGeom prst="rect">
            <a:avLst/>
          </a:prstGeom>
          <a:noFill/>
          <a:ln>
            <a:noFill/>
          </a:ln>
        </p:spPr>
        <p:txBody>
          <a:bodyPr anchorCtr="0" anchor="ctr" bIns="34275" lIns="68575" spcFirstLastPara="1" rIns="68575" wrap="square" tIns="34275">
            <a:normAutofit/>
          </a:bodyPr>
          <a:lstStyle/>
          <a:p>
            <a:pPr indent="0" lvl="0" marL="0" rtl="0" algn="ctr">
              <a:lnSpc>
                <a:spcPct val="100000"/>
              </a:lnSpc>
              <a:spcBef>
                <a:spcPts val="0"/>
              </a:spcBef>
              <a:spcAft>
                <a:spcPts val="0"/>
              </a:spcAft>
              <a:buSzPts val="3000"/>
              <a:buNone/>
            </a:pPr>
            <a:r>
              <a:rPr b="1" lang="en-US" sz="2700">
                <a:solidFill>
                  <a:srgbClr val="FFFFFF"/>
                </a:solidFill>
                <a:latin typeface="Arial"/>
                <a:ea typeface="Arial"/>
                <a:cs typeface="Arial"/>
                <a:sym typeface="Arial"/>
              </a:rPr>
              <a:t>Stability</a:t>
            </a:r>
            <a:endParaRPr/>
          </a:p>
        </p:txBody>
      </p:sp>
      <p:pic>
        <p:nvPicPr>
          <p:cNvPr id="589" name="Google Shape;589;p50"/>
          <p:cNvPicPr preferRelativeResize="0"/>
          <p:nvPr>
            <p:ph idx="1" type="body"/>
          </p:nvPr>
        </p:nvPicPr>
        <p:blipFill rotWithShape="1">
          <a:blip r:embed="rId3">
            <a:alphaModFix/>
          </a:blip>
          <a:srcRect b="28400" l="33007" r="34909" t="30407"/>
          <a:stretch/>
        </p:blipFill>
        <p:spPr>
          <a:xfrm>
            <a:off x="3201101" y="204295"/>
            <a:ext cx="6052125" cy="493920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51"/>
          <p:cNvSpPr txBox="1"/>
          <p:nvPr>
            <p:ph type="title"/>
          </p:nvPr>
        </p:nvSpPr>
        <p:spPr>
          <a:xfrm>
            <a:off x="628650" y="273844"/>
            <a:ext cx="7886700" cy="53442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000"/>
              <a:buNone/>
            </a:pPr>
            <a:r>
              <a:rPr b="1" lang="en-US"/>
              <a:t>Stability Model</a:t>
            </a:r>
            <a:endParaRPr/>
          </a:p>
        </p:txBody>
      </p:sp>
      <p:pic>
        <p:nvPicPr>
          <p:cNvPr id="595" name="Google Shape;595;p51"/>
          <p:cNvPicPr preferRelativeResize="0"/>
          <p:nvPr>
            <p:ph idx="1" type="body"/>
          </p:nvPr>
        </p:nvPicPr>
        <p:blipFill rotWithShape="1">
          <a:blip r:embed="rId3">
            <a:alphaModFix/>
          </a:blip>
          <a:srcRect b="17172" l="13494" r="8450" t="33726"/>
          <a:stretch/>
        </p:blipFill>
        <p:spPr>
          <a:xfrm>
            <a:off x="-1198729" y="808265"/>
            <a:ext cx="5901358" cy="3983041"/>
          </a:xfrm>
          <a:prstGeom prst="rect">
            <a:avLst/>
          </a:prstGeom>
          <a:noFill/>
          <a:ln>
            <a:noFill/>
          </a:ln>
        </p:spPr>
      </p:pic>
      <p:sp>
        <p:nvSpPr>
          <p:cNvPr id="596" name="Google Shape;596;p51"/>
          <p:cNvSpPr txBox="1"/>
          <p:nvPr/>
        </p:nvSpPr>
        <p:spPr>
          <a:xfrm>
            <a:off x="4988379" y="963385"/>
            <a:ext cx="5510893" cy="2331407"/>
          </a:xfrm>
          <a:prstGeom prst="rect">
            <a:avLst/>
          </a:prstGeom>
          <a:noFill/>
          <a:ln>
            <a:noFill/>
          </a:ln>
        </p:spPr>
        <p:txBody>
          <a:bodyPr anchorCtr="0" anchor="t" bIns="45700" lIns="91425" spcFirstLastPara="1" rIns="91425" wrap="square" tIns="45700">
            <a:spAutoFit/>
          </a:bodyPr>
          <a:lstStyle/>
          <a:p>
            <a:pPr indent="0" lvl="0" marL="171450" marR="0" rtl="0" algn="l">
              <a:lnSpc>
                <a:spcPct val="100000"/>
              </a:lnSpc>
              <a:spcBef>
                <a:spcPts val="0"/>
              </a:spcBef>
              <a:spcAft>
                <a:spcPts val="0"/>
              </a:spcAft>
              <a:buClr>
                <a:srgbClr val="000000"/>
              </a:buClr>
              <a:buSzPts val="1350"/>
              <a:buFont typeface="Arial"/>
              <a:buNone/>
            </a:pPr>
            <a:r>
              <a:rPr b="0" i="0" lang="en-US" sz="1350" u="none" cap="none" strike="noStrike">
                <a:solidFill>
                  <a:srgbClr val="000000"/>
                </a:solidFill>
                <a:latin typeface="Arial"/>
                <a:ea typeface="Arial"/>
                <a:cs typeface="Arial"/>
                <a:sym typeface="Arial"/>
              </a:rPr>
              <a:t>Your stability-model screenshots capture the exact moment in your workflow where you moved from “controlling the motor” to “understanding and shaping the </a:t>
            </a:r>
            <a:r>
              <a:rPr b="0" i="1" lang="en-US" sz="1350" u="none" cap="none" strike="noStrike">
                <a:solidFill>
                  <a:srgbClr val="000000"/>
                </a:solidFill>
                <a:latin typeface="Arial"/>
                <a:ea typeface="Arial"/>
                <a:cs typeface="Arial"/>
                <a:sym typeface="Arial"/>
              </a:rPr>
              <a:t>closed-loop dynamics</a:t>
            </a:r>
            <a:r>
              <a:rPr b="0" i="0" lang="en-US" sz="1350" u="none" cap="none" strike="noStrike">
                <a:solidFill>
                  <a:srgbClr val="000000"/>
                </a:solidFill>
                <a:latin typeface="Arial"/>
                <a:ea typeface="Arial"/>
                <a:cs typeface="Arial"/>
                <a:sym typeface="Arial"/>
              </a:rPr>
              <a:t>.” The two images together show (1) the structure of the stability experiment and (2) the motor’s voltage response as the system tracks a sinusoidal reference. Here’s the full interpretation in context.</a:t>
            </a:r>
            <a:endParaRPr b="0" i="0" sz="1050" u="none" cap="none" strike="noStrike">
              <a:solidFill>
                <a:srgbClr val="000000"/>
              </a:solidFill>
              <a:latin typeface="Arial"/>
              <a:ea typeface="Arial"/>
              <a:cs typeface="Arial"/>
              <a:sym typeface="Arial"/>
            </a:endParaRPr>
          </a:p>
          <a:p>
            <a:pPr indent="0" lvl="0" marL="171450" marR="0" rtl="0" algn="l">
              <a:lnSpc>
                <a:spcPct val="100000"/>
              </a:lnSpc>
              <a:spcBef>
                <a:spcPts val="0"/>
              </a:spcBef>
              <a:spcAft>
                <a:spcPts val="0"/>
              </a:spcAft>
              <a:buClr>
                <a:srgbClr val="000000"/>
              </a:buClr>
              <a:buSzPts val="1350"/>
              <a:buFont typeface="Arial"/>
              <a:buNone/>
            </a:pPr>
            <a:r>
              <a:rPr b="1" i="0" lang="en-US" sz="1350" u="none" cap="none" strike="noStrike">
                <a:solidFill>
                  <a:srgbClr val="000000"/>
                </a:solidFill>
                <a:latin typeface="Quattrocento Sans"/>
                <a:ea typeface="Quattrocento Sans"/>
                <a:cs typeface="Quattrocento Sans"/>
                <a:sym typeface="Quattrocento Sans"/>
              </a:rPr>
              <a:t>🧩</a:t>
            </a:r>
            <a:r>
              <a:rPr b="1" i="0" lang="en-US" sz="1350" u="none" cap="none" strike="noStrike">
                <a:solidFill>
                  <a:srgbClr val="000000"/>
                </a:solidFill>
                <a:latin typeface="Arial"/>
                <a:ea typeface="Arial"/>
                <a:cs typeface="Arial"/>
                <a:sym typeface="Arial"/>
              </a:rPr>
              <a:t> What the stability Simulink model is doing</a:t>
            </a:r>
            <a:endParaRPr b="0" i="0" sz="1050" u="none" cap="none" strike="noStrike">
              <a:solidFill>
                <a:srgbClr val="000000"/>
              </a:solidFill>
              <a:latin typeface="Arial"/>
              <a:ea typeface="Arial"/>
              <a:cs typeface="Arial"/>
              <a:sym typeface="Arial"/>
            </a:endParaRPr>
          </a:p>
          <a:p>
            <a:pPr indent="0" lvl="0" marL="171450" marR="0" rtl="0" algn="l">
              <a:lnSpc>
                <a:spcPct val="100000"/>
              </a:lnSpc>
              <a:spcBef>
                <a:spcPts val="0"/>
              </a:spcBef>
              <a:spcAft>
                <a:spcPts val="0"/>
              </a:spcAft>
              <a:buClr>
                <a:srgbClr val="000000"/>
              </a:buClr>
              <a:buSzPts val="1350"/>
              <a:buFont typeface="Arial"/>
              <a:buNone/>
            </a:pPr>
            <a:r>
              <a:rPr b="0" i="0" lang="en-US" sz="1350" u="none" cap="none" strike="noStrike">
                <a:solidFill>
                  <a:srgbClr val="000000"/>
                </a:solidFill>
                <a:latin typeface="Arial"/>
                <a:ea typeface="Arial"/>
                <a:cs typeface="Arial"/>
                <a:sym typeface="Arial"/>
              </a:rPr>
              <a:t>This model is designed to test </a:t>
            </a:r>
            <a:r>
              <a:rPr b="1" i="0" lang="en-US" sz="1350" u="none" cap="none" strike="noStrike">
                <a:solidFill>
                  <a:srgbClr val="000000"/>
                </a:solidFill>
                <a:latin typeface="Arial"/>
                <a:ea typeface="Arial"/>
                <a:cs typeface="Arial"/>
                <a:sym typeface="Arial"/>
              </a:rPr>
              <a:t>closed-loop stability</a:t>
            </a:r>
            <a:r>
              <a:rPr b="0" i="0" lang="en-US" sz="1350" u="none" cap="none" strike="noStrike">
                <a:solidFill>
                  <a:srgbClr val="000000"/>
                </a:solidFill>
                <a:latin typeface="Arial"/>
                <a:ea typeface="Arial"/>
                <a:cs typeface="Arial"/>
                <a:sym typeface="Arial"/>
              </a:rPr>
              <a:t> of the rotary arm under a reference-tracking controller. It’s not yet the pendulum—this is the arm behaving as a controlled subsystem.</a:t>
            </a:r>
            <a:endParaRPr b="0" i="0" sz="1050" u="none" cap="none" strike="noStrike">
              <a:solidFill>
                <a:srgbClr val="000000"/>
              </a:solidFill>
              <a:latin typeface="Arial"/>
              <a:ea typeface="Arial"/>
              <a:cs typeface="Arial"/>
              <a:sym typeface="Arial"/>
            </a:endParaRPr>
          </a:p>
          <a:p>
            <a:pPr indent="0" lvl="0" marL="17145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52"/>
          <p:cNvSpPr txBox="1"/>
          <p:nvPr>
            <p:ph type="title"/>
          </p:nvPr>
        </p:nvSpPr>
        <p:spPr>
          <a:xfrm>
            <a:off x="628650" y="273844"/>
            <a:ext cx="7886700" cy="54258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000"/>
              <a:buNone/>
            </a:pPr>
            <a:r>
              <a:rPr b="1" lang="en-US"/>
              <a:t>Stability Plot/Output and Interpretation</a:t>
            </a:r>
            <a:endParaRPr/>
          </a:p>
        </p:txBody>
      </p:sp>
      <p:pic>
        <p:nvPicPr>
          <p:cNvPr id="602" name="Google Shape;602;p52"/>
          <p:cNvPicPr preferRelativeResize="0"/>
          <p:nvPr>
            <p:ph idx="1" type="body"/>
          </p:nvPr>
        </p:nvPicPr>
        <p:blipFill rotWithShape="1">
          <a:blip r:embed="rId3">
            <a:alphaModFix/>
          </a:blip>
          <a:srcRect b="28122" l="34355" r="34836" t="39786"/>
          <a:stretch/>
        </p:blipFill>
        <p:spPr>
          <a:xfrm>
            <a:off x="449035" y="907681"/>
            <a:ext cx="4219451" cy="3264270"/>
          </a:xfrm>
          <a:prstGeom prst="rect">
            <a:avLst/>
          </a:prstGeom>
          <a:noFill/>
          <a:ln>
            <a:noFill/>
          </a:ln>
        </p:spPr>
      </p:pic>
      <p:pic>
        <p:nvPicPr>
          <p:cNvPr id="603" name="Google Shape;603;p52"/>
          <p:cNvPicPr preferRelativeResize="0"/>
          <p:nvPr/>
        </p:nvPicPr>
        <p:blipFill rotWithShape="1">
          <a:blip r:embed="rId4">
            <a:alphaModFix/>
          </a:blip>
          <a:srcRect b="7143" l="33750" r="35625" t="30000"/>
          <a:stretch/>
        </p:blipFill>
        <p:spPr>
          <a:xfrm>
            <a:off x="4751614" y="816429"/>
            <a:ext cx="3608615" cy="416621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53"/>
          <p:cNvSpPr txBox="1"/>
          <p:nvPr>
            <p:ph type="title"/>
          </p:nvPr>
        </p:nvSpPr>
        <p:spPr>
          <a:xfrm>
            <a:off x="1208722" y="3875564"/>
            <a:ext cx="6712268" cy="526698"/>
          </a:xfrm>
          <a:prstGeom prst="rect">
            <a:avLst/>
          </a:prstGeom>
          <a:noFill/>
          <a:ln>
            <a:noFill/>
          </a:ln>
        </p:spPr>
        <p:txBody>
          <a:bodyPr anchorCtr="0" anchor="b" bIns="34275" lIns="68575" spcFirstLastPara="1" rIns="68575" wrap="square" tIns="34275">
            <a:normAutofit/>
          </a:bodyPr>
          <a:lstStyle/>
          <a:p>
            <a:pPr indent="0" lvl="0" marL="0" rtl="0" algn="ctr">
              <a:lnSpc>
                <a:spcPct val="100000"/>
              </a:lnSpc>
              <a:spcBef>
                <a:spcPts val="0"/>
              </a:spcBef>
              <a:spcAft>
                <a:spcPts val="0"/>
              </a:spcAft>
              <a:buSzPts val="3000"/>
              <a:buNone/>
            </a:pPr>
            <a:r>
              <a:rPr b="1" lang="en-US" sz="2700">
                <a:solidFill>
                  <a:srgbClr val="FFFFFF"/>
                </a:solidFill>
              </a:rPr>
              <a:t>Swing Up</a:t>
            </a:r>
            <a:endParaRPr/>
          </a:p>
        </p:txBody>
      </p:sp>
      <p:pic>
        <p:nvPicPr>
          <p:cNvPr id="609" name="Google Shape;609;p53"/>
          <p:cNvPicPr preferRelativeResize="0"/>
          <p:nvPr>
            <p:ph idx="1" type="body"/>
          </p:nvPr>
        </p:nvPicPr>
        <p:blipFill rotWithShape="1">
          <a:blip r:embed="rId3">
            <a:alphaModFix/>
          </a:blip>
          <a:srcRect b="25877" l="33254" r="35787" t="33346"/>
          <a:stretch/>
        </p:blipFill>
        <p:spPr>
          <a:xfrm>
            <a:off x="0" y="-76504"/>
            <a:ext cx="4767943" cy="3532499"/>
          </a:xfrm>
          <a:prstGeom prst="rect">
            <a:avLst/>
          </a:prstGeom>
          <a:noFill/>
          <a:ln>
            <a:noFill/>
          </a:ln>
        </p:spPr>
      </p:pic>
      <p:pic>
        <p:nvPicPr>
          <p:cNvPr id="610" name="Google Shape;610;p53"/>
          <p:cNvPicPr preferRelativeResize="0"/>
          <p:nvPr/>
        </p:nvPicPr>
        <p:blipFill rotWithShape="1">
          <a:blip r:embed="rId3">
            <a:alphaModFix/>
          </a:blip>
          <a:srcRect b="6508" l="32768" r="33661" t="72698"/>
          <a:stretch/>
        </p:blipFill>
        <p:spPr>
          <a:xfrm>
            <a:off x="4767943" y="-76510"/>
            <a:ext cx="4376057" cy="2461532"/>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54"/>
          <p:cNvSpPr txBox="1"/>
          <p:nvPr>
            <p:ph type="title"/>
          </p:nvPr>
        </p:nvSpPr>
        <p:spPr>
          <a:xfrm>
            <a:off x="771525" y="1475450"/>
            <a:ext cx="1971675" cy="1910443"/>
          </a:xfrm>
          <a:prstGeom prst="rect">
            <a:avLst/>
          </a:prstGeom>
          <a:noFill/>
          <a:ln>
            <a:noFill/>
          </a:ln>
        </p:spPr>
        <p:txBody>
          <a:bodyPr anchorCtr="0" anchor="ctr" bIns="34275" lIns="68575" spcFirstLastPara="1" rIns="68575" wrap="square" tIns="34275">
            <a:normAutofit fontScale="90000"/>
          </a:bodyPr>
          <a:lstStyle/>
          <a:p>
            <a:pPr indent="0" lvl="0" marL="0" rtl="0" algn="ctr">
              <a:lnSpc>
                <a:spcPct val="100000"/>
              </a:lnSpc>
              <a:spcBef>
                <a:spcPts val="0"/>
              </a:spcBef>
              <a:spcAft>
                <a:spcPts val="0"/>
              </a:spcAft>
              <a:buSzPct val="123457"/>
              <a:buNone/>
            </a:pPr>
            <a:r>
              <a:rPr b="1" lang="en-US" sz="2700">
                <a:solidFill>
                  <a:srgbClr val="FFFFFF"/>
                </a:solidFill>
                <a:latin typeface="Arial"/>
                <a:ea typeface="Arial"/>
                <a:cs typeface="Arial"/>
                <a:sym typeface="Arial"/>
              </a:rPr>
              <a:t>Swing Up Model: Lyapunov Stability Derivation</a:t>
            </a:r>
            <a:endParaRPr/>
          </a:p>
        </p:txBody>
      </p:sp>
      <p:pic>
        <p:nvPicPr>
          <p:cNvPr id="616" name="Google Shape;616;p54"/>
          <p:cNvPicPr preferRelativeResize="0"/>
          <p:nvPr>
            <p:ph idx="1" type="body"/>
          </p:nvPr>
        </p:nvPicPr>
        <p:blipFill rotWithShape="1">
          <a:blip r:embed="rId3">
            <a:alphaModFix/>
          </a:blip>
          <a:srcRect b="73587" l="28088" r="33989" t="20900"/>
          <a:stretch/>
        </p:blipFill>
        <p:spPr>
          <a:xfrm>
            <a:off x="2743200" y="85236"/>
            <a:ext cx="7728232" cy="631874"/>
          </a:xfrm>
          <a:prstGeom prst="rect">
            <a:avLst/>
          </a:prstGeom>
          <a:noFill/>
          <a:ln>
            <a:noFill/>
          </a:ln>
        </p:spPr>
      </p:pic>
      <p:pic>
        <p:nvPicPr>
          <p:cNvPr id="617" name="Google Shape;617;p54"/>
          <p:cNvPicPr preferRelativeResize="0"/>
          <p:nvPr/>
        </p:nvPicPr>
        <p:blipFill rotWithShape="1">
          <a:blip r:embed="rId4">
            <a:alphaModFix/>
          </a:blip>
          <a:srcRect b="61167" l="27937" r="44407" t="27059"/>
          <a:stretch/>
        </p:blipFill>
        <p:spPr>
          <a:xfrm>
            <a:off x="5032057" y="826006"/>
            <a:ext cx="4111943" cy="984701"/>
          </a:xfrm>
          <a:prstGeom prst="rect">
            <a:avLst/>
          </a:prstGeom>
          <a:noFill/>
          <a:ln>
            <a:noFill/>
          </a:ln>
        </p:spPr>
      </p:pic>
      <p:pic>
        <p:nvPicPr>
          <p:cNvPr id="618" name="Google Shape;618;p54"/>
          <p:cNvPicPr preferRelativeResize="0"/>
          <p:nvPr/>
        </p:nvPicPr>
        <p:blipFill rotWithShape="1">
          <a:blip r:embed="rId4">
            <a:alphaModFix/>
          </a:blip>
          <a:srcRect b="11667" l="28125" r="40469" t="60333"/>
          <a:stretch/>
        </p:blipFill>
        <p:spPr>
          <a:xfrm>
            <a:off x="5232368" y="1743500"/>
            <a:ext cx="4291680" cy="2152245"/>
          </a:xfrm>
          <a:prstGeom prst="rect">
            <a:avLst/>
          </a:prstGeom>
          <a:noFill/>
          <a:ln>
            <a:noFill/>
          </a:ln>
        </p:spPr>
      </p:pic>
      <p:pic>
        <p:nvPicPr>
          <p:cNvPr id="619" name="Google Shape;619;p54"/>
          <p:cNvPicPr preferRelativeResize="0"/>
          <p:nvPr/>
        </p:nvPicPr>
        <p:blipFill rotWithShape="1">
          <a:blip r:embed="rId5">
            <a:alphaModFix/>
          </a:blip>
          <a:srcRect b="72941" l="44968" r="44313" t="22952"/>
          <a:stretch/>
        </p:blipFill>
        <p:spPr>
          <a:xfrm>
            <a:off x="538067" y="3902028"/>
            <a:ext cx="2247179" cy="484407"/>
          </a:xfrm>
          <a:prstGeom prst="rect">
            <a:avLst/>
          </a:prstGeom>
          <a:noFill/>
          <a:ln>
            <a:noFill/>
          </a:ln>
        </p:spPr>
      </p:pic>
      <p:pic>
        <p:nvPicPr>
          <p:cNvPr id="620" name="Google Shape;620;p54"/>
          <p:cNvPicPr preferRelativeResize="0"/>
          <p:nvPr/>
        </p:nvPicPr>
        <p:blipFill rotWithShape="1">
          <a:blip r:embed="rId5">
            <a:alphaModFix/>
          </a:blip>
          <a:srcRect b="54333" l="42778" r="42063" t="41347"/>
          <a:stretch/>
        </p:blipFill>
        <p:spPr>
          <a:xfrm>
            <a:off x="2672701" y="3902028"/>
            <a:ext cx="2591591" cy="415466"/>
          </a:xfrm>
          <a:prstGeom prst="rect">
            <a:avLst/>
          </a:prstGeom>
          <a:noFill/>
          <a:ln>
            <a:noFill/>
          </a:ln>
        </p:spPr>
      </p:pic>
      <p:pic>
        <p:nvPicPr>
          <p:cNvPr id="621" name="Google Shape;621;p54"/>
          <p:cNvPicPr preferRelativeResize="0"/>
          <p:nvPr/>
        </p:nvPicPr>
        <p:blipFill rotWithShape="1">
          <a:blip r:embed="rId6">
            <a:alphaModFix/>
          </a:blip>
          <a:srcRect b="39000" l="45469" r="46187" t="54602"/>
          <a:stretch/>
        </p:blipFill>
        <p:spPr>
          <a:xfrm>
            <a:off x="5409247" y="3755604"/>
            <a:ext cx="1462438" cy="630832"/>
          </a:xfrm>
          <a:prstGeom prst="rect">
            <a:avLst/>
          </a:prstGeom>
          <a:noFill/>
          <a:ln>
            <a:noFill/>
          </a:ln>
        </p:spPr>
      </p:pic>
      <p:pic>
        <p:nvPicPr>
          <p:cNvPr id="622" name="Google Shape;622;p54"/>
          <p:cNvPicPr preferRelativeResize="0"/>
          <p:nvPr/>
        </p:nvPicPr>
        <p:blipFill rotWithShape="1">
          <a:blip r:embed="rId6">
            <a:alphaModFix/>
          </a:blip>
          <a:srcRect b="25477" l="42778" r="43200" t="70000"/>
          <a:stretch/>
        </p:blipFill>
        <p:spPr>
          <a:xfrm>
            <a:off x="5715884" y="4511624"/>
            <a:ext cx="3324647" cy="603228"/>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55"/>
          <p:cNvSpPr txBox="1"/>
          <p:nvPr>
            <p:ph type="title"/>
          </p:nvPr>
        </p:nvSpPr>
        <p:spPr>
          <a:xfrm>
            <a:off x="771525" y="1475450"/>
            <a:ext cx="1971675" cy="1910443"/>
          </a:xfrm>
          <a:prstGeom prst="rect">
            <a:avLst/>
          </a:prstGeom>
          <a:noFill/>
          <a:ln>
            <a:noFill/>
          </a:ln>
        </p:spPr>
        <p:txBody>
          <a:bodyPr anchorCtr="0" anchor="ctr" bIns="34275" lIns="68575" spcFirstLastPara="1" rIns="68575" wrap="square" tIns="34275">
            <a:normAutofit/>
          </a:bodyPr>
          <a:lstStyle/>
          <a:p>
            <a:pPr indent="0" lvl="0" marL="0" rtl="0" algn="ctr">
              <a:lnSpc>
                <a:spcPct val="100000"/>
              </a:lnSpc>
              <a:spcBef>
                <a:spcPts val="0"/>
              </a:spcBef>
              <a:spcAft>
                <a:spcPts val="0"/>
              </a:spcAft>
              <a:buSzPts val="3000"/>
              <a:buNone/>
            </a:pPr>
            <a:r>
              <a:rPr b="1" lang="en-US" sz="2700">
                <a:solidFill>
                  <a:srgbClr val="FFFFFF"/>
                </a:solidFill>
                <a:latin typeface="Arial"/>
                <a:ea typeface="Arial"/>
                <a:cs typeface="Arial"/>
                <a:sym typeface="Arial"/>
              </a:rPr>
              <a:t>Swing Up Model: Theory</a:t>
            </a:r>
            <a:endParaRPr/>
          </a:p>
        </p:txBody>
      </p:sp>
      <p:pic>
        <p:nvPicPr>
          <p:cNvPr id="628" name="Google Shape;628;p55"/>
          <p:cNvPicPr preferRelativeResize="0"/>
          <p:nvPr>
            <p:ph idx="1" type="body"/>
          </p:nvPr>
        </p:nvPicPr>
        <p:blipFill rotWithShape="1">
          <a:blip r:embed="rId3">
            <a:alphaModFix/>
          </a:blip>
          <a:srcRect b="20682" l="32462" r="17999" t="44123"/>
          <a:stretch/>
        </p:blipFill>
        <p:spPr>
          <a:xfrm>
            <a:off x="3442413" y="-312918"/>
            <a:ext cx="4930063" cy="1970267"/>
          </a:xfrm>
          <a:prstGeom prst="rect">
            <a:avLst/>
          </a:prstGeom>
          <a:noFill/>
          <a:ln>
            <a:noFill/>
          </a:ln>
        </p:spPr>
      </p:pic>
      <p:pic>
        <p:nvPicPr>
          <p:cNvPr id="629" name="Google Shape;629;p55"/>
          <p:cNvPicPr preferRelativeResize="0"/>
          <p:nvPr/>
        </p:nvPicPr>
        <p:blipFill rotWithShape="1">
          <a:blip r:embed="rId4">
            <a:alphaModFix/>
          </a:blip>
          <a:srcRect b="41586" l="32553" r="33304" t="25715"/>
          <a:stretch/>
        </p:blipFill>
        <p:spPr>
          <a:xfrm>
            <a:off x="3330838" y="1957934"/>
            <a:ext cx="5301538" cy="2855917"/>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56"/>
          <p:cNvSpPr txBox="1"/>
          <p:nvPr>
            <p:ph type="title"/>
          </p:nvPr>
        </p:nvSpPr>
        <p:spPr>
          <a:xfrm>
            <a:off x="771525" y="1475450"/>
            <a:ext cx="1971675" cy="1910443"/>
          </a:xfrm>
          <a:prstGeom prst="rect">
            <a:avLst/>
          </a:prstGeom>
          <a:noFill/>
          <a:ln>
            <a:noFill/>
          </a:ln>
        </p:spPr>
        <p:txBody>
          <a:bodyPr anchorCtr="0" anchor="ctr" bIns="34275" lIns="68575" spcFirstLastPara="1" rIns="68575" wrap="square" tIns="34275">
            <a:normAutofit/>
          </a:bodyPr>
          <a:lstStyle/>
          <a:p>
            <a:pPr indent="0" lvl="0" marL="0" rtl="0" algn="ctr">
              <a:lnSpc>
                <a:spcPct val="100000"/>
              </a:lnSpc>
              <a:spcBef>
                <a:spcPts val="0"/>
              </a:spcBef>
              <a:spcAft>
                <a:spcPts val="0"/>
              </a:spcAft>
              <a:buSzPts val="3000"/>
              <a:buNone/>
            </a:pPr>
            <a:r>
              <a:rPr b="1" lang="en-US" sz="2700">
                <a:solidFill>
                  <a:srgbClr val="FFFFFF"/>
                </a:solidFill>
                <a:latin typeface="Arial"/>
                <a:ea typeface="Arial"/>
                <a:cs typeface="Arial"/>
                <a:sym typeface="Arial"/>
              </a:rPr>
              <a:t>Swing Up Model</a:t>
            </a:r>
            <a:endParaRPr/>
          </a:p>
        </p:txBody>
      </p:sp>
      <p:pic>
        <p:nvPicPr>
          <p:cNvPr id="635" name="Google Shape;635;p56"/>
          <p:cNvPicPr preferRelativeResize="0"/>
          <p:nvPr>
            <p:ph idx="1" type="body"/>
          </p:nvPr>
        </p:nvPicPr>
        <p:blipFill rotWithShape="1">
          <a:blip r:embed="rId3">
            <a:alphaModFix/>
          </a:blip>
          <a:srcRect b="7730" l="7247" r="5821" t="23203"/>
          <a:stretch/>
        </p:blipFill>
        <p:spPr>
          <a:xfrm>
            <a:off x="3395853" y="179974"/>
            <a:ext cx="5527222" cy="4501394"/>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57"/>
          <p:cNvSpPr txBox="1"/>
          <p:nvPr>
            <p:ph type="title"/>
          </p:nvPr>
        </p:nvSpPr>
        <p:spPr>
          <a:xfrm>
            <a:off x="628650" y="273844"/>
            <a:ext cx="7886700" cy="46910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SzPct val="111111"/>
              <a:buNone/>
            </a:pPr>
            <a:r>
              <a:rPr b="1" lang="en-US"/>
              <a:t>Swing Up Plot/Output and Interpretation</a:t>
            </a:r>
            <a:endParaRPr/>
          </a:p>
        </p:txBody>
      </p:sp>
      <p:pic>
        <p:nvPicPr>
          <p:cNvPr id="641" name="Google Shape;641;p57"/>
          <p:cNvPicPr preferRelativeResize="0"/>
          <p:nvPr>
            <p:ph idx="1" type="body"/>
          </p:nvPr>
        </p:nvPicPr>
        <p:blipFill rotWithShape="1">
          <a:blip r:embed="rId3">
            <a:alphaModFix/>
          </a:blip>
          <a:srcRect b="10587" l="33235" r="35360" t="36311"/>
          <a:stretch/>
        </p:blipFill>
        <p:spPr>
          <a:xfrm>
            <a:off x="285750" y="669471"/>
            <a:ext cx="4575161" cy="4351564"/>
          </a:xfrm>
          <a:prstGeom prst="rect">
            <a:avLst/>
          </a:prstGeom>
          <a:noFill/>
          <a:ln>
            <a:noFill/>
          </a:ln>
        </p:spPr>
      </p:pic>
      <p:pic>
        <p:nvPicPr>
          <p:cNvPr id="642" name="Google Shape;642;p57"/>
          <p:cNvPicPr preferRelativeResize="0"/>
          <p:nvPr/>
        </p:nvPicPr>
        <p:blipFill rotWithShape="1">
          <a:blip r:embed="rId4">
            <a:alphaModFix/>
          </a:blip>
          <a:srcRect b="10951" l="32768" r="36250" t="33969"/>
          <a:stretch/>
        </p:blipFill>
        <p:spPr>
          <a:xfrm>
            <a:off x="4740948" y="755195"/>
            <a:ext cx="4253594" cy="425359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A50000"/>
      </a:dk1>
      <a:lt1>
        <a:srgbClr val="FFFFFF"/>
      </a:lt1>
      <a:dk2>
        <a:srgbClr val="434343"/>
      </a:dk2>
      <a:lt2>
        <a:srgbClr val="999999"/>
      </a:lt2>
      <a:accent1>
        <a:srgbClr val="CE202F"/>
      </a:accent1>
      <a:accent2>
        <a:srgbClr val="F32321"/>
      </a:accent2>
      <a:accent3>
        <a:srgbClr val="8C8985"/>
      </a:accent3>
      <a:accent4>
        <a:srgbClr val="C0B8B0"/>
      </a:accent4>
      <a:accent5>
        <a:srgbClr val="E1E1E1"/>
      </a:accent5>
      <a:accent6>
        <a:srgbClr val="898989"/>
      </a:accent6>
      <a:hlink>
        <a:srgbClr val="F32321"/>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luke voellerf</dc:creator>
</cp:coreProperties>
</file>