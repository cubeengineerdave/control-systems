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442" r:id="rId5"/>
    <p:sldId id="449" r:id="rId6"/>
    <p:sldId id="451" r:id="rId7"/>
    <p:sldId id="448" r:id="rId8"/>
    <p:sldId id="454" r:id="rId9"/>
    <p:sldId id="447" r:id="rId10"/>
    <p:sldId id="452" r:id="rId11"/>
    <p:sldId id="443" r:id="rId12"/>
    <p:sldId id="444" r:id="rId13"/>
    <p:sldId id="446" r:id="rId14"/>
    <p:sldId id="445" r:id="rId15"/>
    <p:sldId id="45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CFC"/>
    <a:srgbClr val="09090C"/>
    <a:srgbClr val="FFFFFF"/>
    <a:srgbClr val="000000"/>
    <a:srgbClr val="9B8C69"/>
    <a:srgbClr val="79958B"/>
    <a:srgbClr val="476262"/>
    <a:srgbClr val="272D2B"/>
    <a:srgbClr val="647E6B"/>
    <a:srgbClr val="A2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90" y="11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90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B6240-78DA-093E-542D-EA8232A52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1978-CD08-4DE4-0B35-D8E00EB9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042AC-E7EB-4533-80AB-C3850196CED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651-3489-31BD-ED31-0609855FB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A6A1-1395-B89B-42E0-2208966D9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1E2F7-14E3-4821-A409-B7BC1E27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6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63BC9-3C98-4AB2-8802-02853E289FB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5B5A-C175-4C17-879C-A25F50F47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8/28/2026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4DCA2E-F5BA-CBDD-E52E-1A579669C1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71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37373">
                    <a:alpha val="50000"/>
                  </a:srgbClr>
                </a:solidFill>
                <a:latin typeface="Aptos" panose="020B0004020202020204" pitchFamily="34" charset="0"/>
              </a:rPr>
              <a:t>Caterpillar: Confidential Green</a:t>
            </a:r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youtube.com/shorts/SxaPog4d3mc?si=bGdqS_M4bg5FTxAh" TargetMode="Externa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EA4D2C-4D5C-AC28-D8CC-859AFF9DB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7941" y="1077917"/>
            <a:ext cx="9374635" cy="81534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</a:rPr>
              <a:t>The HIL → CAN/J1939 Connection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B102265-8990-D1BC-A9F2-66CA9D922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1689" y="5295508"/>
            <a:ext cx="3068621" cy="815345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/>
              <a:t>David C. Johnson</a:t>
            </a:r>
          </a:p>
          <a:p>
            <a:r>
              <a:rPr lang="en-US" sz="2800" dirty="0"/>
              <a:t>M.S. Bradley University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F97AC-6888-F710-75BD-78EE8DC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9EB35-43E8-35FF-8405-8398719282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/>
          <a:p>
            <a:fld id="{21359139-99F8-4B6E-8834-95F2B9D91EE4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62CF-5CE0-476A-DBD6-C8A0D85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8BD18-75BB-CCD6-688A-E22432B3F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0" t="16907" r="1597" b="30859"/>
          <a:stretch>
            <a:fillRect/>
          </a:stretch>
        </p:blipFill>
        <p:spPr>
          <a:xfrm>
            <a:off x="2154695" y="2186788"/>
            <a:ext cx="6989305" cy="281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4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EF08D-EBC1-29D2-E6CA-7D6BFB3DB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6E0F-42A5-451E-8A36-26756F7C34E0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5B3DB-4F24-0C90-84A0-90788F6B9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546B57-7FDF-51CA-B599-E5608F70C565}"/>
              </a:ext>
            </a:extLst>
          </p:cNvPr>
          <p:cNvSpPr txBox="1"/>
          <p:nvPr/>
        </p:nvSpPr>
        <p:spPr>
          <a:xfrm>
            <a:off x="798226" y="818000"/>
            <a:ext cx="950234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FF00"/>
                </a:solidFill>
              </a:rPr>
              <a:t>CAN (Controller Area Network) </a:t>
            </a:r>
          </a:p>
          <a:p>
            <a:pPr>
              <a:buNone/>
            </a:pPr>
            <a:r>
              <a:rPr lang="en-US" sz="2800" b="1" dirty="0">
                <a:solidFill>
                  <a:srgbClr val="FFFF00"/>
                </a:solidFill>
              </a:rPr>
              <a:t>                           — Physical + Data‑Link Layer</a:t>
            </a:r>
          </a:p>
          <a:p>
            <a:pPr>
              <a:buNone/>
            </a:pPr>
            <a:r>
              <a:rPr lang="en-US" sz="2800" b="1" dirty="0"/>
              <a:t>M</a:t>
            </a:r>
            <a:r>
              <a:rPr lang="en-US" sz="2800" dirty="0">
                <a:effectLst/>
              </a:rPr>
              <a:t>ulti‑master serial communication bus </a:t>
            </a:r>
          </a:p>
          <a:p>
            <a:pPr>
              <a:buNone/>
            </a:pPr>
            <a:r>
              <a:rPr lang="en-US" sz="2800" dirty="0"/>
              <a:t>        </a:t>
            </a:r>
            <a:r>
              <a:rPr lang="en-US" sz="2800" dirty="0">
                <a:effectLst/>
              </a:rPr>
              <a:t>used in vehicles/heavy equipment. It defines: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Electrical signaling</a:t>
            </a:r>
            <a:r>
              <a:rPr lang="en-US" sz="2800" dirty="0">
                <a:effectLst/>
              </a:rPr>
              <a:t> 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Bit timing</a:t>
            </a:r>
            <a:r>
              <a:rPr lang="en-US" sz="2800" dirty="0">
                <a:effectLst/>
              </a:rPr>
              <a:t> and arbitration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Error detection</a:t>
            </a:r>
            <a:r>
              <a:rPr lang="en-US" sz="2800" dirty="0">
                <a:effectLst/>
              </a:rPr>
              <a:t> 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Message frames</a:t>
            </a:r>
            <a:r>
              <a:rPr lang="en-US" sz="2800" dirty="0">
                <a:effectLst/>
              </a:rPr>
              <a:t> </a:t>
            </a:r>
            <a:endParaRPr lang="en-US" sz="28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Bus/Network topology</a:t>
            </a:r>
            <a:r>
              <a:rPr lang="en-US" sz="2800" dirty="0">
                <a:effectLst/>
              </a:rPr>
              <a:t> </a:t>
            </a:r>
            <a:endParaRPr lang="en-US" sz="2800" dirty="0"/>
          </a:p>
          <a:p>
            <a:pPr>
              <a:buNone/>
            </a:pPr>
            <a:r>
              <a:rPr lang="en-US" sz="2800" dirty="0">
                <a:effectLst/>
              </a:rPr>
              <a:t>CAN does </a:t>
            </a:r>
            <a:r>
              <a:rPr lang="en-US" sz="2800" b="1" dirty="0">
                <a:effectLst/>
              </a:rPr>
              <a:t>not</a:t>
            </a:r>
            <a:r>
              <a:rPr lang="en-US" sz="2800" dirty="0">
                <a:effectLst/>
              </a:rPr>
              <a:t> define what the data </a:t>
            </a:r>
            <a:r>
              <a:rPr lang="en-US" sz="2800" i="1" dirty="0">
                <a:effectLst/>
              </a:rPr>
              <a:t>means</a:t>
            </a:r>
            <a:r>
              <a:rPr lang="en-US" sz="2800" dirty="0">
                <a:effectLst/>
              </a:rPr>
              <a:t>. </a:t>
            </a:r>
            <a:endParaRPr lang="en-US" sz="2800" dirty="0"/>
          </a:p>
          <a:p>
            <a:pPr>
              <a:buNone/>
            </a:pPr>
            <a:r>
              <a:rPr lang="en-US" sz="2800" b="1" dirty="0">
                <a:effectLst/>
              </a:rPr>
              <a:t>                           </a:t>
            </a:r>
            <a:r>
              <a:rPr lang="en-US" sz="2800" b="1" i="1" dirty="0">
                <a:effectLst/>
              </a:rPr>
              <a:t> but </a:t>
            </a:r>
            <a:r>
              <a:rPr lang="en-US" sz="2800" b="1" dirty="0">
                <a:effectLst/>
              </a:rPr>
              <a:t>… how bits move across the wire</a:t>
            </a:r>
            <a:r>
              <a:rPr lang="en-US" sz="2800" dirty="0">
                <a:effectLst/>
              </a:rPr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34243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63099-D402-6F69-2EF7-F7FA0B5C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06E0F-42A5-451E-8A36-26756F7C34E0}" type="datetime1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2AE73-E60D-40C1-D70C-E0594FF5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1DC424-7D73-CD6D-3309-CCCCB139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01" t="25831" r="45357" b="71816"/>
          <a:stretch>
            <a:fillRect/>
          </a:stretch>
        </p:blipFill>
        <p:spPr>
          <a:xfrm>
            <a:off x="3397358" y="1158690"/>
            <a:ext cx="5182702" cy="5623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D60BE4-1CD0-027D-5BB6-F3836ECDEA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61" t="32581" r="22266" b="55073"/>
          <a:stretch>
            <a:fillRect/>
          </a:stretch>
        </p:blipFill>
        <p:spPr>
          <a:xfrm>
            <a:off x="1209675" y="3650839"/>
            <a:ext cx="9725973" cy="246715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91834D8-3E26-DC0B-8311-5564BFC4A79B}"/>
              </a:ext>
            </a:extLst>
          </p:cNvPr>
          <p:cNvSpPr/>
          <p:nvPr/>
        </p:nvSpPr>
        <p:spPr>
          <a:xfrm>
            <a:off x="2641076" y="2216631"/>
            <a:ext cx="6399229" cy="443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(PGN) Parameter Group Number/type of message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D06151-2442-F701-2E82-84E568BE03D0}"/>
              </a:ext>
            </a:extLst>
          </p:cNvPr>
          <p:cNvSpPr/>
          <p:nvPr/>
        </p:nvSpPr>
        <p:spPr>
          <a:xfrm>
            <a:off x="2641076" y="2884330"/>
            <a:ext cx="6399229" cy="4430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Suspect Parameter Number/specific param. In PGN</a:t>
            </a:r>
          </a:p>
        </p:txBody>
      </p:sp>
    </p:spTree>
    <p:extLst>
      <p:ext uri="{BB962C8B-B14F-4D97-AF65-F5344CB8AC3E}">
        <p14:creationId xmlns:p14="http://schemas.microsoft.com/office/powerpoint/2010/main" val="903746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E9BD8-7796-6547-62E2-A891C14D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82B908-7975-24BC-406E-D6DD07CCA8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24" t="37256" r="20942" b="38045"/>
          <a:stretch>
            <a:fillRect/>
          </a:stretch>
        </p:blipFill>
        <p:spPr>
          <a:xfrm>
            <a:off x="492510" y="1762076"/>
            <a:ext cx="11019985" cy="333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57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901016-D84F-CD4D-728E-6DACD6F1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25095-78C9-17D0-567E-731DD15A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F33B6-097E-F7EF-1C8A-B23236BC7B23}"/>
              </a:ext>
            </a:extLst>
          </p:cNvPr>
          <p:cNvSpPr txBox="1"/>
          <p:nvPr/>
        </p:nvSpPr>
        <p:spPr>
          <a:xfrm>
            <a:off x="2934094" y="55783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https://youtube.com/shorts/SxaPog4d3mc?si=bGdqS_M4bg5FTxAh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F74DD5-2AB8-D4EC-8646-1F17F664FA17}"/>
              </a:ext>
            </a:extLst>
          </p:cNvPr>
          <p:cNvSpPr txBox="1"/>
          <p:nvPr/>
        </p:nvSpPr>
        <p:spPr>
          <a:xfrm>
            <a:off x="3319024" y="1034293"/>
            <a:ext cx="48822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FFFF00"/>
                </a:solidFill>
              </a:rPr>
              <a:t>Quanser</a:t>
            </a:r>
            <a:r>
              <a:rPr lang="en-US" sz="3200" dirty="0">
                <a:solidFill>
                  <a:srgbClr val="FFFF00"/>
                </a:solidFill>
              </a:rPr>
              <a:t> QUBE Servo2 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45B952-F151-69E0-86F9-67D90C16CF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609" t="43986" r="32151" b="18488"/>
          <a:stretch>
            <a:fillRect/>
          </a:stretch>
        </p:blipFill>
        <p:spPr>
          <a:xfrm>
            <a:off x="3055074" y="2620650"/>
            <a:ext cx="2479250" cy="25735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3A931A-BD05-7340-354C-9D7885ECA1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024" t="24605" r="31737" b="22474"/>
          <a:stretch>
            <a:fillRect/>
          </a:stretch>
        </p:blipFill>
        <p:spPr>
          <a:xfrm>
            <a:off x="6183983" y="1564848"/>
            <a:ext cx="2479250" cy="36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B5DBF-5753-45E0-0DAB-D3591209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F4B2E-F868-48E9-9355-A1AA601AAA8B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54FA9-F9C3-3586-4D9D-048334EA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8996D8-F001-DD33-DEE0-3FC42767DF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6" t="33953" r="22106" b="40343"/>
          <a:stretch>
            <a:fillRect/>
          </a:stretch>
        </p:blipFill>
        <p:spPr>
          <a:xfrm>
            <a:off x="1263191" y="293409"/>
            <a:ext cx="9104164" cy="4410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165729-3C15-BE6D-110B-7F99DD8171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67" t="63643" r="26558" b="28539"/>
          <a:stretch>
            <a:fillRect/>
          </a:stretch>
        </p:blipFill>
        <p:spPr>
          <a:xfrm>
            <a:off x="1263190" y="4788815"/>
            <a:ext cx="9104163" cy="157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99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A9605-23C9-7DE1-CB8B-EE420DCC5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1008A-7314-B123-D5B3-133C0BC9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C6FFC-A962-CD18-EBFF-A5FDB341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08DEDF-1DF8-7428-9B06-24BF6E99A5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51" t="27660" r="20573" b="39574"/>
          <a:stretch>
            <a:fillRect/>
          </a:stretch>
        </p:blipFill>
        <p:spPr>
          <a:xfrm>
            <a:off x="1215956" y="768486"/>
            <a:ext cx="9251005" cy="549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05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8C45-C902-4A8D-D8EB-951B990F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933" y="863773"/>
            <a:ext cx="9260536" cy="47962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>
                <a:solidFill>
                  <a:srgbClr val="FFFF00"/>
                </a:solidFill>
              </a:rPr>
              <a:t>My </a:t>
            </a:r>
            <a:r>
              <a:rPr lang="en-US" sz="3200" dirty="0" err="1">
                <a:solidFill>
                  <a:srgbClr val="FFFF00"/>
                </a:solidFill>
              </a:rPr>
              <a:t>Quanser</a:t>
            </a:r>
            <a:r>
              <a:rPr lang="en-US" sz="3200" dirty="0">
                <a:solidFill>
                  <a:srgbClr val="FFFF00"/>
                </a:solidFill>
              </a:rPr>
              <a:t> QUBE‑Servo2/Fault Handling &amp; Diagnostics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7DA63-8DCC-C59D-4252-A953FB3B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6BC6C-22C8-A1E5-DB0A-E97D9F3A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AEDFF-355A-9BEF-6000-F256E678B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470581"/>
            <a:ext cx="9942409" cy="496831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Built: real‑time control system in MATLAB/Simulink    Behaved like a J1939‑based ECU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HIL environment </a:t>
            </a:r>
            <a:r>
              <a:rPr lang="en-US" sz="2800" dirty="0">
                <a:solidFill>
                  <a:srgbClr val="00B0F0"/>
                </a:solidFill>
              </a:rPr>
              <a:t>incorporated:</a:t>
            </a:r>
          </a:p>
          <a:p>
            <a:r>
              <a:rPr lang="en-US" sz="2800" dirty="0">
                <a:solidFill>
                  <a:srgbClr val="00B0F0"/>
                </a:solidFill>
              </a:rPr>
              <a:t>       Fault detection/Saturation limits/Diagnostic responses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B0F0"/>
                </a:solidFill>
              </a:rPr>
              <a:t>        /State-Safe Transitions/Timing Constraints</a:t>
            </a:r>
            <a:endParaRPr lang="en-US" sz="2800" dirty="0"/>
          </a:p>
          <a:p>
            <a:endParaRPr lang="en-US" sz="2800" dirty="0"/>
          </a:p>
          <a:p>
            <a:pPr algn="ctr"/>
            <a:r>
              <a:rPr lang="en-US" sz="2800" dirty="0"/>
              <a:t>Same architecture Caterpillar uses in its engine, transmission, and hydraulic controllers.</a:t>
            </a:r>
          </a:p>
        </p:txBody>
      </p:sp>
    </p:spTree>
    <p:extLst>
      <p:ext uri="{BB962C8B-B14F-4D97-AF65-F5344CB8AC3E}">
        <p14:creationId xmlns:p14="http://schemas.microsoft.com/office/powerpoint/2010/main" val="3865767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C8B9-147D-14E1-963A-E351A8DC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908" y="605708"/>
            <a:ext cx="7196067" cy="671387"/>
          </a:xfrm>
        </p:spPr>
        <p:txBody>
          <a:bodyPr/>
          <a:lstStyle/>
          <a:p>
            <a:r>
              <a:rPr lang="en-US" sz="4400" dirty="0">
                <a:solidFill>
                  <a:srgbClr val="FFFF00"/>
                </a:solidFill>
              </a:rPr>
              <a:t>Simulink Subsystems model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FE94F-4331-0EC6-C23E-3E0751A03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793" y="1344706"/>
            <a:ext cx="10936037" cy="5086696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chemeClr val="bg2"/>
                </a:solidFill>
                <a:highlight>
                  <a:srgbClr val="00FF00"/>
                </a:highlight>
              </a:rPr>
              <a:t>Structured Data Exchange</a:t>
            </a:r>
          </a:p>
          <a:p>
            <a:r>
              <a:rPr lang="en-US" sz="2800" dirty="0"/>
              <a:t>Functioned like PGNs and SPNs… </a:t>
            </a:r>
          </a:p>
          <a:p>
            <a:r>
              <a:rPr lang="en-US" sz="2800" dirty="0"/>
              <a:t>Pendulum angle/Angular velocity/Control output/Stability flags were all parameters exchanged at fixed rates. </a:t>
            </a:r>
          </a:p>
          <a:p>
            <a:r>
              <a:rPr lang="en-US" sz="2800" dirty="0"/>
              <a:t>…. like J1939 messages such as EEC1 or ETC1. </a:t>
            </a:r>
          </a:p>
          <a:p>
            <a:r>
              <a:rPr lang="en-US" sz="2800" dirty="0"/>
              <a:t>Injected energy to swing the arm upright/stabilized it! Implementing torque‑control logic a J1939 engine controller uses — Parameters exchanged at fixed intervals.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1C1CE-89BC-C4FF-B70A-BA4D5AB0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4B5F2-7C96-7959-C2A5-2021374B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1B083-687B-8A95-08B2-3CCB8FCD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113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9E30-101A-CD36-B932-37581E2D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FFFF00"/>
                </a:solidFill>
              </a:rPr>
              <a:t>My HIL model…..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3C57D-FF5D-DBB1-B8B5-6E29615FF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490" y="1171894"/>
            <a:ext cx="11299794" cy="5259508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Included fault handling, saturation limits, and safe‑state transitions, which</a:t>
            </a:r>
          </a:p>
          <a:p>
            <a:r>
              <a:rPr lang="en-US" sz="3600" dirty="0"/>
              <a:t>map directly to J1939 diagnostics like DM1 and DM2. </a:t>
            </a:r>
          </a:p>
          <a:p>
            <a:r>
              <a:rPr lang="en-US" sz="3600" dirty="0"/>
              <a:t>System ran on a fixed‑step solver it had to maintain strict timing discipline, similar to the 10‑ms and 50‑ms broadcast rates used in heavy‑equipment networks.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2C781-662A-F9AA-FA31-B7C4CF24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E40F-2425-08C1-1274-131C9D8D5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3809A-C1E0-D8B6-E0E8-94052A52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04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0A6D-020B-2609-6CA7-453457697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While not </a:t>
            </a:r>
            <a:r>
              <a:rPr lang="en-US" dirty="0"/>
              <a:t>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B30F12-3F73-B170-9C9F-BDEBF6759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11076171" cy="5259508"/>
          </a:xfrm>
        </p:spPr>
        <p:txBody>
          <a:bodyPr>
            <a:noAutofit/>
          </a:bodyPr>
          <a:lstStyle/>
          <a:p>
            <a:r>
              <a:rPr lang="en-US" sz="3600" dirty="0"/>
              <a:t>….explicitly decoding PGNs or SPNs</a:t>
            </a:r>
          </a:p>
          <a:p>
            <a:r>
              <a:rPr lang="en-US" sz="3600" dirty="0"/>
              <a:t>project required thinking and operating exactly like an embedded engineer working with J1939: ….structured data exchange, deterministic timing, real‑time control loops, and robust diagnostic behavior. That’s why transitioning into CAN/J1939‑based embedded or validation work is my DEFINITE NEXT STEP!!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A3591-7A92-2CFA-59CB-4A6534551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B8CB9-7786-D88C-DAAF-EB5E0DAA0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F7A5-01BF-4366-9757-1F523CD5236A}" type="datetime1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C8A32-C98B-F74C-483B-05681ED6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95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FBE0-1160-AE6D-D683-C92367AF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277" y="568238"/>
            <a:ext cx="8715394" cy="671387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My HIL Experience developed skills: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1935F-1547-0DA5-B952-59DBF46A7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781" y="1852129"/>
            <a:ext cx="9175401" cy="4256440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B050"/>
                </a:solidFill>
              </a:rPr>
              <a:t>Deterministic Control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B050"/>
                </a:solidFill>
              </a:rPr>
              <a:t>Diagnostics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B050"/>
                </a:solidFill>
              </a:rPr>
              <a:t>Structured data exchange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00B050"/>
                </a:solidFill>
              </a:rPr>
              <a:t>Real-Time system validation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</a:rPr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2B2FA-8952-40F9-0AE4-55C55D62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62180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  <SharedWithUsers xmlns="16c05727-aa75-4e4a-9b5f-8a80a1165891">
      <UserInfo>
        <DisplayName/>
        <AccountId xsi:nil="true"/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0BF7B2-4A2B-4CA7-8150-68B962AD6E62}">
  <ds:schemaRefs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B53938E-C8DA-4DDE-A937-0EA87B476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7E2546-C5EB-442C-BCA8-1B0D17D614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{E2B536C2-0093-4501-A3EB-5C1F0FE1AF64}8c0b1f87-4275-4951-9b7a-c6e8100032df-TF2c2d73c7-1e66-48c6-b368-6842552e8d0e08a9caeb_win32</Template>
  <TotalTime>392</TotalTime>
  <Words>430</Words>
  <Application>Microsoft Office PowerPoint</Application>
  <PresentationFormat>Widescreen</PresentationFormat>
  <Paragraphs>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Neue Haas Grotesk Text Pro</vt:lpstr>
      <vt:lpstr>Wingdings</vt:lpstr>
      <vt:lpstr>Film Burn</vt:lpstr>
      <vt:lpstr>The HIL → CAN/J1939 Connection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My Quanser QUBE‑Servo2/Fault Handling &amp; Diagnostics</vt:lpstr>
      <vt:lpstr>Simulink Subsystems model</vt:lpstr>
      <vt:lpstr>My HIL model…..</vt:lpstr>
      <vt:lpstr>While not …</vt:lpstr>
      <vt:lpstr>My HIL Experience developed skills: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Johnson</dc:creator>
  <cp:lastModifiedBy>David Johnson</cp:lastModifiedBy>
  <cp:revision>7</cp:revision>
  <dcterms:created xsi:type="dcterms:W3CDTF">2026-08-27T23:32:08Z</dcterms:created>
  <dcterms:modified xsi:type="dcterms:W3CDTF">2026-08-28T18:32:41Z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SIP_Label_fb5e2db6-eecf-4aa2-8fc3-174bf94bce19_Enabled">
    <vt:lpwstr>true</vt:lpwstr>
  </property>
  <property fmtid="{D5CDD505-2E9C-101B-9397-08002B2CF9AE}" pid="12" name="MSIP_Label_fb5e2db6-eecf-4aa2-8fc3-174bf94bce19_SetDate">
    <vt:lpwstr>2026-08-28T13:45:15Z</vt:lpwstr>
  </property>
  <property fmtid="{D5CDD505-2E9C-101B-9397-08002B2CF9AE}" pid="13" name="MSIP_Label_fb5e2db6-eecf-4aa2-8fc3-174bf94bce19_Method">
    <vt:lpwstr>Standard</vt:lpwstr>
  </property>
  <property fmtid="{D5CDD505-2E9C-101B-9397-08002B2CF9AE}" pid="14" name="MSIP_Label_fb5e2db6-eecf-4aa2-8fc3-174bf94bce19_Name">
    <vt:lpwstr>fb5e2db6-eecf-4aa2-8fc3-174bf94bce19</vt:lpwstr>
  </property>
  <property fmtid="{D5CDD505-2E9C-101B-9397-08002B2CF9AE}" pid="15" name="MSIP_Label_fb5e2db6-eecf-4aa2-8fc3-174bf94bce19_SiteId">
    <vt:lpwstr>ceb177bf-013b-49ab-8a9c-4abce32afc1e</vt:lpwstr>
  </property>
  <property fmtid="{D5CDD505-2E9C-101B-9397-08002B2CF9AE}" pid="16" name="MSIP_Label_fb5e2db6-eecf-4aa2-8fc3-174bf94bce19_ActionId">
    <vt:lpwstr>1bd381f3-d6db-498f-ba71-ab89a3c48d53</vt:lpwstr>
  </property>
  <property fmtid="{D5CDD505-2E9C-101B-9397-08002B2CF9AE}" pid="17" name="MSIP_Label_fb5e2db6-eecf-4aa2-8fc3-174bf94bce19_ContentBits">
    <vt:lpwstr>2</vt:lpwstr>
  </property>
  <property fmtid="{D5CDD505-2E9C-101B-9397-08002B2CF9AE}" pid="18" name="MSIP_Label_fb5e2db6-eecf-4aa2-8fc3-174bf94bce19_Tag">
    <vt:lpwstr>10, 3, 0, 1</vt:lpwstr>
  </property>
  <property fmtid="{D5CDD505-2E9C-101B-9397-08002B2CF9AE}" pid="19" name="ClassificationContentMarkingFooterLocations">
    <vt:lpwstr>Film Burn:8</vt:lpwstr>
  </property>
  <property fmtid="{D5CDD505-2E9C-101B-9397-08002B2CF9AE}" pid="20" name="ClassificationContentMarkingFooterText">
    <vt:lpwstr>Caterpillar: Confidential Green</vt:lpwstr>
  </property>
</Properties>
</file>